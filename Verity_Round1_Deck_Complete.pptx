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BraKet and our leader Ishan. Verity checks brand content before it is published, and every flag points to the rule or source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cases are documented in news reports and both are claims that reached the public with no source check. That is the gap Verity closes. Sources are listed at the bottom of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a college fest team, a startup marketing team, or an agency that serves several clients. Each role feels the problem differently, and Verity answers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Step 2 captures what the creator meant before we suggest any change. Step 5 is always a person, so nothing is changed or published automatically. The value: errors caught before they are public, each with its proof and a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tile maps to a capability in the problem statement: import guidelines, review multiple formats, detect issues, explain with fixes, keep humans in control, and protect confidential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three named improvements for Rounds 2 and 3. Intent Lock preserves the creator’s purpose, Claim Ledger catches outdated or unsupported claims, and Health Radar shows where guidelines are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we build first. It shows a flagged sentence, the rule that caught it, a fix that keeps the creator’s intent, and three human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handles what must be exact: terms, contrast, alt text. AI handles judgement: tone, messaging, claims. Nothing leaves the organisation without passing the privacy gateway. Slack, Canva and CMS integrations are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Round 1 is this plan. Round 2 delivers one polished end-to-end path. Round 3 adds document formats and the two novel features that need more data. Targets are goals we will measure, not results. Role names are areas of responsibility; add each member’s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judges. Repeat the promise: brand errors are caught before they are public. AI suggests, humans decide. Keep the AI disclosure line, since the rules ask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BE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rtlCol="0"/>
          <a:lstStyle>
            <a:lvl1pPr algn="l" indent="0" marL="0">
              <a:buNone/>
              <a:defRPr lang="en-US" sz="2800" b="1" dirty="0">
                <a:solidFill>
                  <a:srgbClr val="111111"/>
                </a:solidFill>
                <a:latin typeface="Georgia" pitchFamily="34" charset="0"/>
                <a:ea typeface="Georgia" pitchFamily="34" charset="-122"/>
                <a:cs typeface="Georgia" pitchFamily="34" charset="-120"/>
              </a:defRPr>
            </a:lvl1pPr>
          </a:lstStyle>
          <a:p>
            <a:pPr algn="l" indent="0" marL="0">
              <a:buNone/>
            </a:pPr>
            <a:endParaRPr lang="en-US" sz="2800" dirty="0"/>
          </a:p>
        </p:txBody>
      </p:sp>
      <p:sp>
        <p:nvSpPr>
          <p:cNvPr id="3" name="Shape 0"/>
          <p:cNvSpPr/>
          <p:nvPr/>
        </p:nvSpPr>
        <p:spPr>
          <a:xfrm>
            <a:off x="548640" y="4754880"/>
            <a:ext cx="8046720" cy="0"/>
          </a:xfrm>
          <a:prstGeom prst="line">
            <a:avLst/>
          </a:prstGeom>
          <a:noFill/>
          <a:ln w="12700">
            <a:solidFill>
              <a:srgbClr val="111111"/>
            </a:solidFill>
            <a:prstDash val="solid"/>
          </a:ln>
        </p:spPr>
      </p:sp>
      <p:sp>
        <p:nvSpPr>
          <p:cNvPr id="4" name="Text 1"/>
          <p:cNvSpPr/>
          <p:nvPr/>
        </p:nvSpPr>
        <p:spPr>
          <a:xfrm>
            <a:off x="548640" y="4818888"/>
            <a:ext cx="3657600" cy="201168"/>
          </a:xfrm>
          <a:prstGeom prst="rect">
            <a:avLst/>
          </a:prstGeom>
          <a:noFill/>
          <a:ln/>
        </p:spPr>
        <p:txBody>
          <a:bodyPr wrap="square" rtlCol="0" anchor="ctr"/>
          <a:lstStyle/>
          <a:p>
            <a:pPr indent="0" marL="0">
              <a:buNone/>
            </a:pPr>
            <a:r>
              <a:rPr lang="en-US" sz="800" b="1" dirty="0">
                <a:solidFill>
                  <a:srgbClr val="111111"/>
                </a:solidFill>
                <a:latin typeface="Courier New" pitchFamily="34" charset="0"/>
                <a:ea typeface="Courier New" pitchFamily="34" charset="-122"/>
                <a:cs typeface="Courier New" pitchFamily="34" charset="-120"/>
              </a:rPr>
              <a:t>TEAM BRAKET  /  VERITY</a:t>
            </a:r>
            <a:endParaRPr lang="en-US" sz="8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1111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rtlCol="0"/>
          <a:lstStyle>
            <a:lvl1pPr algn="l" indent="0" marL="0">
              <a:buNone/>
              <a:defRPr lang="en-US" sz="2800" b="1" dirty="0">
                <a:solidFill>
                  <a:srgbClr val="FFFFFF"/>
                </a:solidFill>
                <a:latin typeface="Georgia" pitchFamily="34" charset="0"/>
                <a:ea typeface="Georgia" pitchFamily="34" charset="-122"/>
                <a:cs typeface="Georgia" pitchFamily="34" charset="-120"/>
              </a:defRPr>
            </a:lvl1pPr>
          </a:lstStyle>
          <a:p>
            <a:pPr algn="l" indent="0" marL="0">
              <a:buNone/>
            </a:pPr>
            <a:endParaRPr lang="en-US" sz="2800" dirty="0"/>
          </a:p>
        </p:txBody>
      </p:sp>
      <p:sp>
        <p:nvSpPr>
          <p:cNvPr id="3" name="Shape 0"/>
          <p:cNvSpPr/>
          <p:nvPr/>
        </p:nvSpPr>
        <p:spPr>
          <a:xfrm>
            <a:off x="548640" y="4754880"/>
            <a:ext cx="8046720" cy="0"/>
          </a:xfrm>
          <a:prstGeom prst="line">
            <a:avLst/>
          </a:prstGeom>
          <a:noFill/>
          <a:ln w="12700">
            <a:solidFill>
              <a:srgbClr val="FFFFFF"/>
            </a:solidFill>
            <a:prstDash val="solid"/>
          </a:ln>
        </p:spPr>
      </p:sp>
      <p:sp>
        <p:nvSpPr>
          <p:cNvPr id="4" name="Text 1"/>
          <p:cNvSpPr/>
          <p:nvPr/>
        </p:nvSpPr>
        <p:spPr>
          <a:xfrm>
            <a:off x="548640" y="4818888"/>
            <a:ext cx="3657600" cy="201168"/>
          </a:xfrm>
          <a:prstGeom prst="rect">
            <a:avLst/>
          </a:prstGeom>
          <a:noFill/>
          <a:ln/>
        </p:spPr>
        <p:txBody>
          <a:bodyPr wrap="square" rtlCol="0" anchor="ctr"/>
          <a:lstStyle/>
          <a:p>
            <a:pPr indent="0" marL="0">
              <a:buNone/>
            </a:pPr>
            <a:r>
              <a:rPr lang="en-US" sz="800" b="1" dirty="0">
                <a:solidFill>
                  <a:srgbClr val="FFFFFF"/>
                </a:solidFill>
                <a:latin typeface="Courier New" pitchFamily="34" charset="0"/>
                <a:ea typeface="Courier New" pitchFamily="34" charset="-122"/>
                <a:cs typeface="Courier New" pitchFamily="34" charset="-120"/>
              </a:rPr>
              <a:t>TEAM BRAKET  /  VERITY</a:t>
            </a:r>
            <a:endParaRPr lang="en-US" sz="8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D93D"/>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D">
    <p:bg>
      <p:bgPr>
        <a:solidFill>
          <a:srgbClr val="FF9ED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675120" y="3383280"/>
            <a:ext cx="3108960" cy="3108960"/>
          </a:xfrm>
          <a:prstGeom prst="ellipse">
            <a:avLst/>
          </a:prstGeom>
          <a:solidFill>
            <a:srgbClr val="FF9EDB"/>
          </a:solidFill>
          <a:ln w="31750">
            <a:solidFill>
              <a:srgbClr val="111111"/>
            </a:solidFill>
            <a:prstDash val="solid"/>
          </a:ln>
        </p:spPr>
      </p:sp>
      <p:sp>
        <p:nvSpPr>
          <p:cNvPr id="4" name="Text 1"/>
          <p:cNvSpPr txBox="1"/>
          <p:nvPr/>
        </p:nvSpPr>
        <p:spPr>
          <a:xfrm>
            <a:off x="548640" y="640080"/>
            <a:ext cx="4572000" cy="1463040"/>
          </a:xfrm>
          <a:prstGeom prst="rect">
            <a:avLst/>
          </a:prstGeom>
          <a:noFill/>
          <a:ln/>
        </p:spPr>
        <p:txBody>
          <a:bodyPr wrap="square" lIns="0" tIns="0" rIns="0" bIns="0" rtlCol="0" anchor="t"/>
          <a:lstStyle/>
          <a:p>
            <a:pPr algn="l" indent="0" marL="0">
              <a:buNone/>
            </a:pPr>
            <a:r>
              <a:rPr lang="en-US" sz="8800" b="1" dirty="0">
                <a:solidFill>
                  <a:srgbClr val="111111"/>
                </a:solidFill>
                <a:latin typeface="Georgia" pitchFamily="34" charset="0"/>
                <a:ea typeface="Georgia" pitchFamily="34" charset="-122"/>
                <a:cs typeface="Georgia" pitchFamily="34" charset="-120"/>
              </a:rPr>
              <a:t>Verity</a:t>
            </a:r>
            <a:endParaRPr lang="en-US" sz="8800" dirty="0"/>
          </a:p>
        </p:txBody>
      </p:sp>
      <p:sp>
        <p:nvSpPr>
          <p:cNvPr id="5" name="Text 2"/>
          <p:cNvSpPr txBox="1"/>
          <p:nvPr/>
        </p:nvSpPr>
        <p:spPr>
          <a:xfrm>
            <a:off x="594360" y="2194560"/>
            <a:ext cx="4023360" cy="822960"/>
          </a:xfrm>
          <a:prstGeom prst="rect">
            <a:avLst/>
          </a:prstGeom>
          <a:noFill/>
          <a:ln/>
        </p:spPr>
        <p:txBody>
          <a:bodyPr wrap="square" lIns="0" tIns="0" rIns="0" bIns="0" rtlCol="0" anchor="t"/>
          <a:lstStyle/>
          <a:p>
            <a:pPr algn="l" indent="0" marL="0">
              <a:buNone/>
            </a:pPr>
            <a:r>
              <a:rPr lang="en-US" sz="2100" i="1" dirty="0">
                <a:solidFill>
                  <a:srgbClr val="111111"/>
                </a:solidFill>
                <a:latin typeface="Georgia" pitchFamily="34" charset="0"/>
                <a:ea typeface="Georgia" pitchFamily="34" charset="-122"/>
                <a:cs typeface="Georgia" pitchFamily="34" charset="-120"/>
              </a:rPr>
              <a:t>Brand governance that cites before it flags.</a:t>
            </a:r>
            <a:endParaRPr lang="en-US" sz="2100" dirty="0"/>
          </a:p>
        </p:txBody>
      </p:sp>
      <p:sp>
        <p:nvSpPr>
          <p:cNvPr id="6" name="Text 3"/>
          <p:cNvSpPr txBox="1"/>
          <p:nvPr/>
        </p:nvSpPr>
        <p:spPr>
          <a:xfrm>
            <a:off x="594360" y="3017520"/>
            <a:ext cx="3840480" cy="54864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Catch wrong claims, old facts and off-brand content before anything goes public.</a:t>
            </a:r>
            <a:endParaRPr lang="en-US" sz="1150" dirty="0"/>
          </a:p>
        </p:txBody>
      </p:sp>
      <p:sp>
        <p:nvSpPr>
          <p:cNvPr id="7" name="Text 4"/>
          <p:cNvSpPr txBox="1"/>
          <p:nvPr/>
        </p:nvSpPr>
        <p:spPr>
          <a:xfrm>
            <a:off x="594360" y="3749040"/>
            <a:ext cx="3657600" cy="228600"/>
          </a:xfrm>
          <a:prstGeom prst="rect">
            <a:avLst/>
          </a:prstGeom>
          <a:noFill/>
          <a:ln/>
        </p:spPr>
        <p:txBody>
          <a:bodyPr wrap="square" lIns="0" tIns="0" rIns="0" bIns="0" rtlCol="0" anchor="t"/>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TEAM BRAKET</a:t>
            </a:r>
            <a:endParaRPr lang="en-US" sz="1200" dirty="0"/>
          </a:p>
        </p:txBody>
      </p:sp>
      <p:sp>
        <p:nvSpPr>
          <p:cNvPr id="8" name="Text 5"/>
          <p:cNvSpPr txBox="1"/>
          <p:nvPr/>
        </p:nvSpPr>
        <p:spPr>
          <a:xfrm>
            <a:off x="594360" y="4023360"/>
            <a:ext cx="3657600" cy="274320"/>
          </a:xfrm>
          <a:prstGeom prst="rect">
            <a:avLst/>
          </a:prstGeom>
          <a:noFill/>
          <a:ln/>
        </p:spPr>
        <p:txBody>
          <a:bodyPr wrap="square" lIns="0" tIns="0" rIns="0" bIns="0" rtlCol="0" anchor="t"/>
          <a:lstStyle/>
          <a:p>
            <a:pPr algn="l" indent="0" marL="0">
              <a:buNone/>
            </a:pPr>
            <a:r>
              <a:rPr lang="en-US" sz="1300" dirty="0">
                <a:solidFill>
                  <a:srgbClr val="111111"/>
                </a:solidFill>
                <a:latin typeface="Arial" pitchFamily="34" charset="0"/>
                <a:ea typeface="Arial" pitchFamily="34" charset="-122"/>
                <a:cs typeface="Arial" pitchFamily="34" charset="-120"/>
              </a:rPr>
              <a:t>Led by Ishan Narayan Shukla</a:t>
            </a:r>
            <a:endParaRPr lang="en-US" sz="1300" dirty="0"/>
          </a:p>
        </p:txBody>
      </p:sp>
      <p:sp>
        <p:nvSpPr>
          <p:cNvPr id="9" name="Text 6"/>
          <p:cNvSpPr txBox="1"/>
          <p:nvPr/>
        </p:nvSpPr>
        <p:spPr>
          <a:xfrm>
            <a:off x="594360" y="4434840"/>
            <a:ext cx="5486400" cy="228600"/>
          </a:xfrm>
          <a:prstGeom prst="rect">
            <a:avLst/>
          </a:prstGeom>
          <a:noFill/>
          <a:ln/>
        </p:spPr>
        <p:txBody>
          <a:bodyPr wrap="square" lIns="0" tIns="0" rIns="0" bIns="0" rtlCol="0" anchor="t"/>
          <a:lstStyle/>
          <a:p>
            <a:pPr algn="l" indent="0" marL="0">
              <a:buNone/>
            </a:pPr>
            <a:r>
              <a:rPr sz="950">
                <a:solidFill>
                  <a:srgbClr val="111111"/>
                </a:solidFill>
                <a:latin typeface="Arial"/>
              </a:rPr>
              <a:t>Round 3: Product Completion (Top 100) | Live: cosmicboom.xyz &amp; verity-brand-governance.vercel.app</a:t>
            </a:r>
            <a:endParaRPr lang="en-US" sz="950" dirty="0"/>
          </a:p>
        </p:txBody>
      </p:sp>
      <p:sp>
        <p:nvSpPr>
          <p:cNvPr id="10" name="Shape 7"/>
          <p:cNvSpPr/>
          <p:nvPr/>
        </p:nvSpPr>
        <p:spPr>
          <a:xfrm>
            <a:off x="5029200" y="868680"/>
            <a:ext cx="3657600" cy="1645920"/>
          </a:xfrm>
          <a:prstGeom prst="rect">
            <a:avLst/>
          </a:prstGeom>
          <a:solidFill>
            <a:srgbClr val="111111"/>
          </a:solidFill>
          <a:ln w="6350">
            <a:solidFill>
              <a:srgbClr val="111111"/>
            </a:solidFill>
            <a:prstDash val="solid"/>
          </a:ln>
        </p:spPr>
      </p:sp>
      <p:sp>
        <p:nvSpPr>
          <p:cNvPr id="11" name="Shape 8"/>
          <p:cNvSpPr/>
          <p:nvPr/>
        </p:nvSpPr>
        <p:spPr>
          <a:xfrm>
            <a:off x="4937760" y="777240"/>
            <a:ext cx="3657600" cy="1645920"/>
          </a:xfrm>
          <a:prstGeom prst="rect">
            <a:avLst/>
          </a:prstGeom>
          <a:solidFill>
            <a:srgbClr val="FFFFFF"/>
          </a:solidFill>
          <a:ln w="31750">
            <a:solidFill>
              <a:srgbClr val="111111"/>
            </a:solidFill>
            <a:prstDash val="solid"/>
          </a:ln>
        </p:spPr>
      </p:sp>
      <p:sp>
        <p:nvSpPr>
          <p:cNvPr id="12" name="Text 9"/>
          <p:cNvSpPr txBox="1"/>
          <p:nvPr/>
        </p:nvSpPr>
        <p:spPr>
          <a:xfrm>
            <a:off x="5120640" y="914400"/>
            <a:ext cx="2743200" cy="182880"/>
          </a:xfrm>
          <a:prstGeom prst="rect">
            <a:avLst/>
          </a:prstGeom>
          <a:noFill/>
          <a:ln/>
        </p:spPr>
        <p:txBody>
          <a:bodyPr wrap="square" lIns="0" tIns="0" rIns="0" bIns="0" rtlCol="0" anchor="t"/>
          <a:lstStyle/>
          <a:p>
            <a:pPr algn="l" indent="0" marL="0">
              <a:buNone/>
            </a:pPr>
            <a:r>
              <a:rPr lang="en-US" sz="850" b="1" dirty="0">
                <a:solidFill>
                  <a:srgbClr val="555555"/>
                </a:solidFill>
                <a:latin typeface="Courier New" pitchFamily="34" charset="0"/>
                <a:ea typeface="Courier New" pitchFamily="34" charset="-122"/>
                <a:cs typeface="Courier New" pitchFamily="34" charset="-120"/>
              </a:rPr>
              <a:t>DRAFT CAPTION</a:t>
            </a:r>
            <a:endParaRPr lang="en-US" sz="850" dirty="0"/>
          </a:p>
        </p:txBody>
      </p:sp>
      <p:sp>
        <p:nvSpPr>
          <p:cNvPr id="13" name="Text 10"/>
          <p:cNvSpPr txBox="1"/>
          <p:nvPr/>
        </p:nvSpPr>
        <p:spPr>
          <a:xfrm>
            <a:off x="5120640" y="1234440"/>
            <a:ext cx="3337560" cy="109728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Our app is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rated #1 in India</a:t>
            </a:r>
            <a:pPr indent="0" marL="0">
              <a:buNone/>
            </a:pPr>
            <a:r>
              <a:rPr lang="en-US" sz="1800" dirty="0">
                <a:solidFill>
                  <a:srgbClr val="111111"/>
                </a:solidFill>
                <a:latin typeface="Arial" pitchFamily="34" charset="0"/>
                <a:ea typeface="Arial" pitchFamily="34" charset="-122"/>
                <a:cs typeface="Arial" pitchFamily="34" charset="-120"/>
              </a:rPr>
              <a:t> and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50% faster</a:t>
            </a:r>
            <a:pPr indent="0" marL="0">
              <a:buNone/>
            </a:pPr>
            <a:r>
              <a:rPr lang="en-US" sz="1800" dirty="0">
                <a:solidFill>
                  <a:srgbClr val="111111"/>
                </a:solidFill>
                <a:latin typeface="Arial" pitchFamily="34" charset="0"/>
                <a:ea typeface="Arial" pitchFamily="34" charset="-122"/>
                <a:cs typeface="Arial" pitchFamily="34" charset="-120"/>
              </a:rPr>
              <a:t>. Register now!</a:t>
            </a:r>
            <a:endParaRPr lang="en-US" sz="1800" dirty="0"/>
          </a:p>
        </p:txBody>
      </p:sp>
      <p:sp>
        <p:nvSpPr>
          <p:cNvPr id="14" name="Shape 11"/>
          <p:cNvSpPr/>
          <p:nvPr/>
        </p:nvSpPr>
        <p:spPr>
          <a:xfrm rot="-180000">
            <a:off x="5742432" y="2770632"/>
            <a:ext cx="2834640" cy="566928"/>
          </a:xfrm>
          <a:prstGeom prst="rect">
            <a:avLst/>
          </a:prstGeom>
          <a:solidFill>
            <a:srgbClr val="111111"/>
          </a:solidFill>
          <a:ln w="6350">
            <a:solidFill>
              <a:srgbClr val="111111"/>
            </a:solidFill>
            <a:prstDash val="solid"/>
          </a:ln>
        </p:spPr>
      </p:sp>
      <p:sp>
        <p:nvSpPr>
          <p:cNvPr id="15" name="Shape 12"/>
          <p:cNvSpPr/>
          <p:nvPr/>
        </p:nvSpPr>
        <p:spPr>
          <a:xfrm rot="-180000">
            <a:off x="5669280" y="2697480"/>
            <a:ext cx="2834640" cy="566928"/>
          </a:xfrm>
          <a:prstGeom prst="rect">
            <a:avLst/>
          </a:prstGeom>
          <a:solidFill>
            <a:srgbClr val="6EE7B7"/>
          </a:solidFill>
          <a:ln w="25400">
            <a:solidFill>
              <a:srgbClr val="111111"/>
            </a:solidFill>
            <a:prstDash val="solid"/>
          </a:ln>
        </p:spPr>
      </p:sp>
      <p:sp>
        <p:nvSpPr>
          <p:cNvPr id="16" name="Text 13"/>
          <p:cNvSpPr txBox="1"/>
          <p:nvPr/>
        </p:nvSpPr>
        <p:spPr>
          <a:xfrm rot="-180000">
            <a:off x="5669280" y="2697480"/>
            <a:ext cx="2834640" cy="566928"/>
          </a:xfrm>
          <a:prstGeom prst="rect">
            <a:avLst/>
          </a:prstGeom>
          <a:noFill/>
          <a:ln/>
        </p:spPr>
        <p:txBody>
          <a:bodyPr wrap="square" lIns="0" tIns="0" rIns="0" bIns="0" rtlCol="0" anchor="ctr"/>
          <a:lstStyle/>
          <a:p>
            <a:pPr algn="ctr" indent="0" marL="0">
              <a:buNone/>
            </a:pPr>
            <a:r>
              <a:rPr sz="1150" b="1">
                <a:solidFill>
                  <a:srgbClr val="111111"/>
                </a:solidFill>
                <a:latin typeface="Arial"/>
              </a:rPr>
              <a:t>Rule C-12: no approved source (Brand Book pg. 14)</a:t>
            </a:r>
            <a:endParaRPr lang="en-US" sz="1150" dirty="0"/>
          </a:p>
        </p:txBody>
      </p:sp>
      <p:sp>
        <p:nvSpPr>
          <p:cNvPr id="17" name="Shape 14"/>
          <p:cNvSpPr/>
          <p:nvPr/>
        </p:nvSpPr>
        <p:spPr>
          <a:xfrm rot="120000">
            <a:off x="5029200" y="3611880"/>
            <a:ext cx="2743200" cy="457200"/>
          </a:xfrm>
          <a:prstGeom prst="rect">
            <a:avLst/>
          </a:prstGeom>
          <a:solidFill>
            <a:srgbClr val="111111"/>
          </a:solidFill>
          <a:ln w="25400">
            <a:solidFill>
              <a:srgbClr val="111111"/>
            </a:solidFill>
            <a:prstDash val="solid"/>
          </a:ln>
        </p:spPr>
      </p:sp>
      <p:sp>
        <p:nvSpPr>
          <p:cNvPr id="18" name="Text 15"/>
          <p:cNvSpPr txBox="1"/>
          <p:nvPr/>
        </p:nvSpPr>
        <p:spPr>
          <a:xfrm rot="120000">
            <a:off x="5029200" y="3611880"/>
            <a:ext cx="2743200" cy="457200"/>
          </a:xfrm>
          <a:prstGeom prst="rect">
            <a:avLst/>
          </a:prstGeom>
          <a:noFill/>
          <a:ln/>
        </p:spPr>
        <p:txBody>
          <a:bodyPr wrap="square" lIns="0" tIns="0" rIns="0" bIns="0" rtlCol="0" anchor="ctr"/>
          <a:lstStyle/>
          <a:p>
            <a:pPr algn="ctr" indent="0" marL="0">
              <a:buNone/>
            </a:pPr>
            <a:r>
              <a:rPr lang="en-US" sz="1100" b="1" dirty="0">
                <a:solidFill>
                  <a:srgbClr val="FFD93D"/>
                </a:solidFill>
                <a:latin typeface="Arial" pitchFamily="34" charset="0"/>
                <a:ea typeface="Arial" pitchFamily="34" charset="-122"/>
                <a:cs typeface="Arial" pitchFamily="34" charset="-120"/>
              </a:rPr>
              <a:t>AI suggests. Humans decide.</a:t>
            </a:r>
            <a:endParaRPr lang="en-US" sz="1100" dirty="0"/>
          </a:p>
        </p:txBody>
      </p:sp>
      <p:sp>
        <p:nvSpPr>
          <p:cNvPr id="19" name="Shape 16"/>
          <p:cNvSpPr/>
          <p:nvPr/>
        </p:nvSpPr>
        <p:spPr>
          <a:xfrm>
            <a:off x="0" y="4869180"/>
            <a:ext cx="269016" cy="274320"/>
          </a:xfrm>
          <a:prstGeom prst="rect">
            <a:avLst/>
          </a:prstGeom>
          <a:solidFill>
            <a:srgbClr val="111111"/>
          </a:solidFill>
          <a:ln w="12700">
            <a:solidFill>
              <a:srgbClr val="111111"/>
            </a:solidFill>
            <a:prstDash val="solid"/>
          </a:ln>
        </p:spPr>
      </p:sp>
      <p:sp>
        <p:nvSpPr>
          <p:cNvPr id="20" name="Shape 17"/>
          <p:cNvSpPr/>
          <p:nvPr/>
        </p:nvSpPr>
        <p:spPr>
          <a:xfrm>
            <a:off x="538033" y="4869180"/>
            <a:ext cx="269016" cy="274320"/>
          </a:xfrm>
          <a:prstGeom prst="rect">
            <a:avLst/>
          </a:prstGeom>
          <a:solidFill>
            <a:srgbClr val="111111"/>
          </a:solidFill>
          <a:ln w="12700">
            <a:solidFill>
              <a:srgbClr val="111111"/>
            </a:solidFill>
            <a:prstDash val="solid"/>
          </a:ln>
        </p:spPr>
      </p:sp>
      <p:sp>
        <p:nvSpPr>
          <p:cNvPr id="21" name="Shape 18"/>
          <p:cNvSpPr/>
          <p:nvPr/>
        </p:nvSpPr>
        <p:spPr>
          <a:xfrm>
            <a:off x="1076066" y="4869180"/>
            <a:ext cx="269016" cy="274320"/>
          </a:xfrm>
          <a:prstGeom prst="rect">
            <a:avLst/>
          </a:prstGeom>
          <a:solidFill>
            <a:srgbClr val="111111"/>
          </a:solidFill>
          <a:ln w="12700">
            <a:solidFill>
              <a:srgbClr val="111111"/>
            </a:solidFill>
            <a:prstDash val="solid"/>
          </a:ln>
        </p:spPr>
      </p:sp>
      <p:sp>
        <p:nvSpPr>
          <p:cNvPr id="22" name="Shape 19"/>
          <p:cNvSpPr/>
          <p:nvPr/>
        </p:nvSpPr>
        <p:spPr>
          <a:xfrm>
            <a:off x="1614099" y="4869180"/>
            <a:ext cx="269016" cy="274320"/>
          </a:xfrm>
          <a:prstGeom prst="rect">
            <a:avLst/>
          </a:prstGeom>
          <a:solidFill>
            <a:srgbClr val="111111"/>
          </a:solidFill>
          <a:ln w="12700">
            <a:solidFill>
              <a:srgbClr val="111111"/>
            </a:solidFill>
            <a:prstDash val="solid"/>
          </a:ln>
        </p:spPr>
      </p:sp>
      <p:sp>
        <p:nvSpPr>
          <p:cNvPr id="23" name="Shape 20"/>
          <p:cNvSpPr/>
          <p:nvPr/>
        </p:nvSpPr>
        <p:spPr>
          <a:xfrm>
            <a:off x="2152132" y="4869180"/>
            <a:ext cx="269016" cy="274320"/>
          </a:xfrm>
          <a:prstGeom prst="rect">
            <a:avLst/>
          </a:prstGeom>
          <a:solidFill>
            <a:srgbClr val="111111"/>
          </a:solidFill>
          <a:ln w="12700">
            <a:solidFill>
              <a:srgbClr val="111111"/>
            </a:solidFill>
            <a:prstDash val="solid"/>
          </a:ln>
        </p:spPr>
      </p:sp>
      <p:sp>
        <p:nvSpPr>
          <p:cNvPr id="24" name="Shape 21"/>
          <p:cNvSpPr/>
          <p:nvPr/>
        </p:nvSpPr>
        <p:spPr>
          <a:xfrm>
            <a:off x="2690165" y="4869180"/>
            <a:ext cx="269016" cy="274320"/>
          </a:xfrm>
          <a:prstGeom prst="rect">
            <a:avLst/>
          </a:prstGeom>
          <a:solidFill>
            <a:srgbClr val="111111"/>
          </a:solidFill>
          <a:ln w="12700">
            <a:solidFill>
              <a:srgbClr val="111111"/>
            </a:solidFill>
            <a:prstDash val="solid"/>
          </a:ln>
        </p:spPr>
      </p:sp>
      <p:sp>
        <p:nvSpPr>
          <p:cNvPr id="25" name="Shape 22"/>
          <p:cNvSpPr/>
          <p:nvPr/>
        </p:nvSpPr>
        <p:spPr>
          <a:xfrm>
            <a:off x="3228198" y="4869180"/>
            <a:ext cx="269016" cy="274320"/>
          </a:xfrm>
          <a:prstGeom prst="rect">
            <a:avLst/>
          </a:prstGeom>
          <a:solidFill>
            <a:srgbClr val="111111"/>
          </a:solidFill>
          <a:ln w="12700">
            <a:solidFill>
              <a:srgbClr val="111111"/>
            </a:solidFill>
            <a:prstDash val="solid"/>
          </a:ln>
        </p:spPr>
      </p:sp>
      <p:sp>
        <p:nvSpPr>
          <p:cNvPr id="26" name="Shape 23"/>
          <p:cNvSpPr/>
          <p:nvPr/>
        </p:nvSpPr>
        <p:spPr>
          <a:xfrm>
            <a:off x="3766231" y="4869180"/>
            <a:ext cx="269016" cy="274320"/>
          </a:xfrm>
          <a:prstGeom prst="rect">
            <a:avLst/>
          </a:prstGeom>
          <a:solidFill>
            <a:srgbClr val="111111"/>
          </a:solidFill>
          <a:ln w="12700">
            <a:solidFill>
              <a:srgbClr val="111111"/>
            </a:solidFill>
            <a:prstDash val="solid"/>
          </a:ln>
        </p:spPr>
      </p:sp>
      <p:sp>
        <p:nvSpPr>
          <p:cNvPr id="27" name="Shape 24"/>
          <p:cNvSpPr/>
          <p:nvPr/>
        </p:nvSpPr>
        <p:spPr>
          <a:xfrm>
            <a:off x="4304264" y="4869180"/>
            <a:ext cx="269016" cy="274320"/>
          </a:xfrm>
          <a:prstGeom prst="rect">
            <a:avLst/>
          </a:prstGeom>
          <a:solidFill>
            <a:srgbClr val="111111"/>
          </a:solidFill>
          <a:ln w="12700">
            <a:solidFill>
              <a:srgbClr val="111111"/>
            </a:solidFill>
            <a:prstDash val="solid"/>
          </a:ln>
        </p:spPr>
      </p:sp>
      <p:sp>
        <p:nvSpPr>
          <p:cNvPr id="28" name="Shape 25"/>
          <p:cNvSpPr/>
          <p:nvPr/>
        </p:nvSpPr>
        <p:spPr>
          <a:xfrm>
            <a:off x="4842297" y="4869180"/>
            <a:ext cx="269016" cy="274320"/>
          </a:xfrm>
          <a:prstGeom prst="rect">
            <a:avLst/>
          </a:prstGeom>
          <a:solidFill>
            <a:srgbClr val="111111"/>
          </a:solidFill>
          <a:ln w="12700">
            <a:solidFill>
              <a:srgbClr val="111111"/>
            </a:solidFill>
            <a:prstDash val="solid"/>
          </a:ln>
        </p:spPr>
      </p:sp>
      <p:sp>
        <p:nvSpPr>
          <p:cNvPr id="29" name="Shape 26"/>
          <p:cNvSpPr/>
          <p:nvPr/>
        </p:nvSpPr>
        <p:spPr>
          <a:xfrm>
            <a:off x="5380330" y="4869180"/>
            <a:ext cx="269016" cy="274320"/>
          </a:xfrm>
          <a:prstGeom prst="rect">
            <a:avLst/>
          </a:prstGeom>
          <a:solidFill>
            <a:srgbClr val="111111"/>
          </a:solidFill>
          <a:ln w="12700">
            <a:solidFill>
              <a:srgbClr val="111111"/>
            </a:solidFill>
            <a:prstDash val="solid"/>
          </a:ln>
        </p:spPr>
      </p:sp>
      <p:sp>
        <p:nvSpPr>
          <p:cNvPr id="30" name="Shape 27"/>
          <p:cNvSpPr/>
          <p:nvPr/>
        </p:nvSpPr>
        <p:spPr>
          <a:xfrm>
            <a:off x="5918363" y="4869180"/>
            <a:ext cx="269016" cy="274320"/>
          </a:xfrm>
          <a:prstGeom prst="rect">
            <a:avLst/>
          </a:prstGeom>
          <a:solidFill>
            <a:srgbClr val="111111"/>
          </a:solidFill>
          <a:ln w="12700">
            <a:solidFill>
              <a:srgbClr val="111111"/>
            </a:solidFill>
            <a:prstDash val="solid"/>
          </a:ln>
        </p:spPr>
      </p:sp>
      <p:sp>
        <p:nvSpPr>
          <p:cNvPr id="31" name="Shape 28"/>
          <p:cNvSpPr/>
          <p:nvPr/>
        </p:nvSpPr>
        <p:spPr>
          <a:xfrm>
            <a:off x="6456396" y="4869180"/>
            <a:ext cx="269016" cy="274320"/>
          </a:xfrm>
          <a:prstGeom prst="rect">
            <a:avLst/>
          </a:prstGeom>
          <a:solidFill>
            <a:srgbClr val="111111"/>
          </a:solidFill>
          <a:ln w="12700">
            <a:solidFill>
              <a:srgbClr val="111111"/>
            </a:solidFill>
            <a:prstDash val="solid"/>
          </a:ln>
        </p:spPr>
      </p:sp>
      <p:sp>
        <p:nvSpPr>
          <p:cNvPr id="32" name="Shape 29"/>
          <p:cNvSpPr/>
          <p:nvPr/>
        </p:nvSpPr>
        <p:spPr>
          <a:xfrm>
            <a:off x="6994428" y="4869180"/>
            <a:ext cx="269016" cy="274320"/>
          </a:xfrm>
          <a:prstGeom prst="rect">
            <a:avLst/>
          </a:prstGeom>
          <a:solidFill>
            <a:srgbClr val="111111"/>
          </a:solidFill>
          <a:ln w="12700">
            <a:solidFill>
              <a:srgbClr val="111111"/>
            </a:solidFill>
            <a:prstDash val="solid"/>
          </a:ln>
        </p:spPr>
      </p:sp>
      <p:sp>
        <p:nvSpPr>
          <p:cNvPr id="33" name="Shape 30"/>
          <p:cNvSpPr/>
          <p:nvPr/>
        </p:nvSpPr>
        <p:spPr>
          <a:xfrm>
            <a:off x="7532461" y="4869180"/>
            <a:ext cx="269016" cy="274320"/>
          </a:xfrm>
          <a:prstGeom prst="rect">
            <a:avLst/>
          </a:prstGeom>
          <a:solidFill>
            <a:srgbClr val="111111"/>
          </a:solidFill>
          <a:ln w="12700">
            <a:solidFill>
              <a:srgbClr val="111111"/>
            </a:solidFill>
            <a:prstDash val="solid"/>
          </a:ln>
        </p:spPr>
      </p:sp>
      <p:sp>
        <p:nvSpPr>
          <p:cNvPr id="34" name="Shape 31"/>
          <p:cNvSpPr/>
          <p:nvPr/>
        </p:nvSpPr>
        <p:spPr>
          <a:xfrm>
            <a:off x="8070494" y="4869180"/>
            <a:ext cx="269016" cy="274320"/>
          </a:xfrm>
          <a:prstGeom prst="rect">
            <a:avLst/>
          </a:prstGeom>
          <a:solidFill>
            <a:srgbClr val="111111"/>
          </a:solidFill>
          <a:ln w="12700">
            <a:solidFill>
              <a:srgbClr val="111111"/>
            </a:solidFill>
            <a:prstDash val="solid"/>
          </a:ln>
        </p:spPr>
      </p:sp>
      <p:sp>
        <p:nvSpPr>
          <p:cNvPr id="35" name="Shape 32"/>
          <p:cNvSpPr/>
          <p:nvPr/>
        </p:nvSpPr>
        <p:spPr>
          <a:xfrm>
            <a:off x="8608527" y="4869180"/>
            <a:ext cx="269016" cy="274320"/>
          </a:xfrm>
          <a:prstGeom prst="rect">
            <a:avLst/>
          </a:prstGeom>
          <a:solidFill>
            <a:srgbClr val="111111"/>
          </a:solidFill>
          <a:ln w="12700">
            <a:solidFill>
              <a:srgbClr val="11111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A wrong claim goes public unchecked</a:t>
            </a:r>
            <a:endParaRPr lang="en-US" sz="2800" dirty="0"/>
          </a:p>
        </p:txBody>
      </p:sp>
      <p:sp>
        <p:nvSpPr>
          <p:cNvPr id="4" name="Text 1"/>
          <p:cNvSpPr txBox="1"/>
          <p:nvPr/>
        </p:nvSpPr>
        <p:spPr>
          <a:xfrm>
            <a:off x="548640" y="1371600"/>
            <a:ext cx="2926080" cy="1188720"/>
          </a:xfrm>
          <a:prstGeom prst="rect">
            <a:avLst/>
          </a:prstGeom>
          <a:noFill/>
          <a:ln/>
        </p:spPr>
        <p:txBody>
          <a:bodyPr wrap="square" lIns="0" tIns="0" rIns="0" bIns="0" rtlCol="0" anchor="t"/>
          <a:lstStyle/>
          <a:p>
            <a:pPr algn="l" indent="0" marL="0">
              <a:buNone/>
            </a:pPr>
            <a:r>
              <a:rPr lang="en-US" sz="1500" dirty="0">
                <a:solidFill>
                  <a:srgbClr val="111111"/>
                </a:solidFill>
                <a:latin typeface="Georgia" pitchFamily="34" charset="0"/>
                <a:ea typeface="Georgia" pitchFamily="34" charset="-122"/>
                <a:cs typeface="Georgia" pitchFamily="34" charset="-120"/>
              </a:rPr>
              <a:t>Employees, agencies and AI tools now publish for a brand all day. Review still happens by hand, after the fact.</a:t>
            </a:r>
            <a:endParaRPr lang="en-US" sz="1500" dirty="0"/>
          </a:p>
        </p:txBody>
      </p:sp>
      <p:sp>
        <p:nvSpPr>
          <p:cNvPr id="5" name="Text 2"/>
          <p:cNvSpPr txBox="1"/>
          <p:nvPr/>
        </p:nvSpPr>
        <p:spPr>
          <a:xfrm>
            <a:off x="548640" y="2743200"/>
            <a:ext cx="27432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WHAT SLIPS THROUGH</a:t>
            </a:r>
            <a:endParaRPr lang="en-US" sz="850" dirty="0"/>
          </a:p>
        </p:txBody>
      </p:sp>
      <p:sp>
        <p:nvSpPr>
          <p:cNvPr id="6" name="Shape 3"/>
          <p:cNvSpPr/>
          <p:nvPr/>
        </p:nvSpPr>
        <p:spPr>
          <a:xfrm>
            <a:off x="548640" y="3017520"/>
            <a:ext cx="2926080" cy="0"/>
          </a:xfrm>
          <a:prstGeom prst="line">
            <a:avLst/>
          </a:prstGeom>
          <a:noFill/>
          <a:ln w="12700">
            <a:solidFill>
              <a:srgbClr val="111111"/>
            </a:solidFill>
            <a:prstDash val="solid"/>
          </a:ln>
        </p:spPr>
      </p:sp>
      <p:sp>
        <p:nvSpPr>
          <p:cNvPr id="7" name="Shape 4"/>
          <p:cNvSpPr/>
          <p:nvPr/>
        </p:nvSpPr>
        <p:spPr>
          <a:xfrm>
            <a:off x="548640" y="3108960"/>
            <a:ext cx="146304" cy="146304"/>
          </a:xfrm>
          <a:prstGeom prst="rect">
            <a:avLst/>
          </a:prstGeom>
          <a:solidFill>
            <a:srgbClr val="FFD93D"/>
          </a:solidFill>
          <a:ln w="15875">
            <a:solidFill>
              <a:srgbClr val="111111"/>
            </a:solidFill>
            <a:prstDash val="solid"/>
          </a:ln>
        </p:spPr>
      </p:sp>
      <p:sp>
        <p:nvSpPr>
          <p:cNvPr id="8" name="Text 5"/>
          <p:cNvSpPr txBox="1"/>
          <p:nvPr/>
        </p:nvSpPr>
        <p:spPr>
          <a:xfrm>
            <a:off x="804672" y="3081528"/>
            <a:ext cx="2651760" cy="27432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Claims with no proof behind them</a:t>
            </a:r>
            <a:endParaRPr lang="en-US" sz="1150" dirty="0"/>
          </a:p>
        </p:txBody>
      </p:sp>
      <p:sp>
        <p:nvSpPr>
          <p:cNvPr id="9" name="Shape 6"/>
          <p:cNvSpPr/>
          <p:nvPr/>
        </p:nvSpPr>
        <p:spPr>
          <a:xfrm>
            <a:off x="548640" y="3401568"/>
            <a:ext cx="2926080" cy="0"/>
          </a:xfrm>
          <a:prstGeom prst="line">
            <a:avLst/>
          </a:prstGeom>
          <a:noFill/>
          <a:ln w="12700">
            <a:solidFill>
              <a:srgbClr val="111111"/>
            </a:solidFill>
            <a:prstDash val="solid"/>
          </a:ln>
        </p:spPr>
      </p:sp>
      <p:sp>
        <p:nvSpPr>
          <p:cNvPr id="10" name="Shape 7"/>
          <p:cNvSpPr/>
          <p:nvPr/>
        </p:nvSpPr>
        <p:spPr>
          <a:xfrm>
            <a:off x="548640" y="3493008"/>
            <a:ext cx="146304" cy="146304"/>
          </a:xfrm>
          <a:prstGeom prst="rect">
            <a:avLst/>
          </a:prstGeom>
          <a:solidFill>
            <a:srgbClr val="FF9EDB"/>
          </a:solidFill>
          <a:ln w="15875">
            <a:solidFill>
              <a:srgbClr val="111111"/>
            </a:solidFill>
            <a:prstDash val="solid"/>
          </a:ln>
        </p:spPr>
      </p:sp>
      <p:sp>
        <p:nvSpPr>
          <p:cNvPr id="11" name="Text 8"/>
          <p:cNvSpPr txBox="1"/>
          <p:nvPr/>
        </p:nvSpPr>
        <p:spPr>
          <a:xfrm>
            <a:off x="804672" y="3465576"/>
            <a:ext cx="2651760" cy="27432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Prices and dates from last year</a:t>
            </a:r>
            <a:endParaRPr lang="en-US" sz="1150" dirty="0"/>
          </a:p>
        </p:txBody>
      </p:sp>
      <p:sp>
        <p:nvSpPr>
          <p:cNvPr id="12" name="Shape 9"/>
          <p:cNvSpPr/>
          <p:nvPr/>
        </p:nvSpPr>
        <p:spPr>
          <a:xfrm>
            <a:off x="548640" y="3785616"/>
            <a:ext cx="2926080" cy="0"/>
          </a:xfrm>
          <a:prstGeom prst="line">
            <a:avLst/>
          </a:prstGeom>
          <a:noFill/>
          <a:ln w="12700">
            <a:solidFill>
              <a:srgbClr val="111111"/>
            </a:solidFill>
            <a:prstDash val="solid"/>
          </a:ln>
        </p:spPr>
      </p:sp>
      <p:sp>
        <p:nvSpPr>
          <p:cNvPr id="13" name="Shape 10"/>
          <p:cNvSpPr/>
          <p:nvPr/>
        </p:nvSpPr>
        <p:spPr>
          <a:xfrm>
            <a:off x="548640" y="3877056"/>
            <a:ext cx="146304" cy="146304"/>
          </a:xfrm>
          <a:prstGeom prst="rect">
            <a:avLst/>
          </a:prstGeom>
          <a:solidFill>
            <a:srgbClr val="6EE7B7"/>
          </a:solidFill>
          <a:ln w="15875">
            <a:solidFill>
              <a:srgbClr val="111111"/>
            </a:solidFill>
            <a:prstDash val="solid"/>
          </a:ln>
        </p:spPr>
      </p:sp>
      <p:sp>
        <p:nvSpPr>
          <p:cNvPr id="14" name="Text 11"/>
          <p:cNvSpPr txBox="1"/>
          <p:nvPr/>
        </p:nvSpPr>
        <p:spPr>
          <a:xfrm>
            <a:off x="804672" y="3849624"/>
            <a:ext cx="2651760" cy="27432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Logos and colours that are off-brand</a:t>
            </a:r>
            <a:endParaRPr lang="en-US" sz="1150" dirty="0"/>
          </a:p>
        </p:txBody>
      </p:sp>
      <p:sp>
        <p:nvSpPr>
          <p:cNvPr id="15" name="Shape 12"/>
          <p:cNvSpPr/>
          <p:nvPr/>
        </p:nvSpPr>
        <p:spPr>
          <a:xfrm>
            <a:off x="548640" y="4169664"/>
            <a:ext cx="2926080" cy="0"/>
          </a:xfrm>
          <a:prstGeom prst="line">
            <a:avLst/>
          </a:prstGeom>
          <a:noFill/>
          <a:ln w="12700">
            <a:solidFill>
              <a:srgbClr val="111111"/>
            </a:solidFill>
            <a:prstDash val="solid"/>
          </a:ln>
        </p:spPr>
      </p:sp>
      <p:sp>
        <p:nvSpPr>
          <p:cNvPr id="16" name="Shape 13"/>
          <p:cNvSpPr/>
          <p:nvPr/>
        </p:nvSpPr>
        <p:spPr>
          <a:xfrm>
            <a:off x="3858768" y="1344168"/>
            <a:ext cx="2331720" cy="2286000"/>
          </a:xfrm>
          <a:prstGeom prst="rect">
            <a:avLst/>
          </a:prstGeom>
          <a:solidFill>
            <a:srgbClr val="111111"/>
          </a:solidFill>
          <a:ln w="6350">
            <a:solidFill>
              <a:srgbClr val="111111"/>
            </a:solidFill>
            <a:prstDash val="solid"/>
          </a:ln>
        </p:spPr>
      </p:sp>
      <p:sp>
        <p:nvSpPr>
          <p:cNvPr id="17" name="Shape 14"/>
          <p:cNvSpPr/>
          <p:nvPr/>
        </p:nvSpPr>
        <p:spPr>
          <a:xfrm>
            <a:off x="3794760" y="1280160"/>
            <a:ext cx="2331720" cy="2286000"/>
          </a:xfrm>
          <a:prstGeom prst="rect">
            <a:avLst/>
          </a:prstGeom>
          <a:solidFill>
            <a:srgbClr val="FFD93D"/>
          </a:solidFill>
          <a:ln w="25400">
            <a:solidFill>
              <a:srgbClr val="111111"/>
            </a:solidFill>
            <a:prstDash val="solid"/>
          </a:ln>
        </p:spPr>
      </p:sp>
      <p:sp>
        <p:nvSpPr>
          <p:cNvPr id="18" name="Shape 15"/>
          <p:cNvSpPr/>
          <p:nvPr/>
        </p:nvSpPr>
        <p:spPr>
          <a:xfrm>
            <a:off x="3959352" y="1417320"/>
            <a:ext cx="1371600" cy="237744"/>
          </a:xfrm>
          <a:prstGeom prst="rect">
            <a:avLst/>
          </a:prstGeom>
          <a:solidFill>
            <a:srgbClr val="111111"/>
          </a:solidFill>
          <a:ln w="6350">
            <a:solidFill>
              <a:srgbClr val="111111"/>
            </a:solidFill>
            <a:prstDash val="solid"/>
          </a:ln>
        </p:spPr>
      </p:sp>
      <p:sp>
        <p:nvSpPr>
          <p:cNvPr id="19" name="Shape 16"/>
          <p:cNvSpPr/>
          <p:nvPr/>
        </p:nvSpPr>
        <p:spPr>
          <a:xfrm>
            <a:off x="3931920" y="1389888"/>
            <a:ext cx="1371600" cy="237744"/>
          </a:xfrm>
          <a:prstGeom prst="rect">
            <a:avLst/>
          </a:prstGeom>
          <a:solidFill>
            <a:srgbClr val="FFFFFF"/>
          </a:solidFill>
          <a:ln w="15875">
            <a:solidFill>
              <a:srgbClr val="111111"/>
            </a:solidFill>
            <a:prstDash val="solid"/>
          </a:ln>
        </p:spPr>
      </p:sp>
      <p:sp>
        <p:nvSpPr>
          <p:cNvPr id="20" name="Text 17"/>
          <p:cNvSpPr txBox="1"/>
          <p:nvPr/>
        </p:nvSpPr>
        <p:spPr>
          <a:xfrm>
            <a:off x="3931920" y="1389888"/>
            <a:ext cx="1371600" cy="237744"/>
          </a:xfrm>
          <a:prstGeom prst="rect">
            <a:avLst/>
          </a:prstGeom>
          <a:noFill/>
          <a:ln/>
        </p:spPr>
        <p:txBody>
          <a:bodyPr wrap="square" lIns="0" tIns="0" rIns="0" bIns="0" rtlCol="0" anchor="ctr"/>
          <a:lstStyle/>
          <a:p>
            <a:pPr algn="ctr" indent="0" marL="0">
              <a:buNone/>
            </a:pPr>
            <a:r>
              <a:rPr lang="en-US" sz="850" b="1" dirty="0">
                <a:solidFill>
                  <a:srgbClr val="111111"/>
                </a:solidFill>
                <a:latin typeface="Courier New" pitchFamily="34" charset="0"/>
                <a:ea typeface="Courier New" pitchFamily="34" charset="-122"/>
                <a:cs typeface="Courier New" pitchFamily="34" charset="-120"/>
              </a:rPr>
              <a:t>FEBRUARY 2023</a:t>
            </a:r>
            <a:endParaRPr lang="en-US" sz="850" dirty="0"/>
          </a:p>
        </p:txBody>
      </p:sp>
      <p:sp>
        <p:nvSpPr>
          <p:cNvPr id="21" name="Text 18"/>
          <p:cNvSpPr txBox="1"/>
          <p:nvPr/>
        </p:nvSpPr>
        <p:spPr>
          <a:xfrm>
            <a:off x="3931920" y="1755648"/>
            <a:ext cx="2103120" cy="822960"/>
          </a:xfrm>
          <a:prstGeom prst="rect">
            <a:avLst/>
          </a:prstGeom>
          <a:noFill/>
          <a:ln/>
        </p:spPr>
        <p:txBody>
          <a:bodyPr wrap="square" lIns="0" tIns="0" rIns="0" bIns="0" rtlCol="0" anchor="t"/>
          <a:lstStyle/>
          <a:p>
            <a:pPr algn="l" indent="0" marL="0">
              <a:buNone/>
            </a:pPr>
            <a:r>
              <a:rPr lang="en-US" sz="4200" b="1" dirty="0">
                <a:solidFill>
                  <a:srgbClr val="111111"/>
                </a:solidFill>
                <a:latin typeface="Georgia" pitchFamily="34" charset="0"/>
                <a:ea typeface="Georgia" pitchFamily="34" charset="-122"/>
                <a:cs typeface="Georgia" pitchFamily="34" charset="-120"/>
              </a:rPr>
              <a:t>$100B</a:t>
            </a:r>
            <a:endParaRPr lang="en-US" sz="4200" dirty="0"/>
          </a:p>
        </p:txBody>
      </p:sp>
      <p:sp>
        <p:nvSpPr>
          <p:cNvPr id="22" name="Text 19"/>
          <p:cNvSpPr txBox="1"/>
          <p:nvPr/>
        </p:nvSpPr>
        <p:spPr>
          <a:xfrm>
            <a:off x="3931920" y="2606040"/>
            <a:ext cx="2057400" cy="914400"/>
          </a:xfrm>
          <a:prstGeom prst="rect">
            <a:avLst/>
          </a:prstGeom>
          <a:noFill/>
          <a:ln/>
        </p:spPr>
        <p:txBody>
          <a:bodyPr wrap="square" lIns="0" tIns="0" rIns="0" bIns="0" rtlCol="0" anchor="t"/>
          <a:lstStyle/>
          <a:p>
            <a:pPr algn="l" indent="0" marL="0">
              <a:buNone/>
            </a:pPr>
            <a:r>
              <a:rPr lang="en-US" sz="1100" dirty="0">
                <a:solidFill>
                  <a:srgbClr val="111111"/>
                </a:solidFill>
                <a:latin typeface="Arial" pitchFamily="34" charset="0"/>
                <a:ea typeface="Arial" pitchFamily="34" charset="-122"/>
                <a:cs typeface="Arial" pitchFamily="34" charset="-120"/>
              </a:rPr>
              <a:t>Market value Alphabet lost in a day after its AI demo ad stated a wrong fact.</a:t>
            </a:r>
            <a:endParaRPr lang="en-US" sz="1100" dirty="0"/>
          </a:p>
        </p:txBody>
      </p:sp>
      <p:sp>
        <p:nvSpPr>
          <p:cNvPr id="23" name="Shape 20"/>
          <p:cNvSpPr/>
          <p:nvPr/>
        </p:nvSpPr>
        <p:spPr>
          <a:xfrm>
            <a:off x="6373368" y="1344168"/>
            <a:ext cx="2331720" cy="2286000"/>
          </a:xfrm>
          <a:prstGeom prst="rect">
            <a:avLst/>
          </a:prstGeom>
          <a:solidFill>
            <a:srgbClr val="111111"/>
          </a:solidFill>
          <a:ln w="6350">
            <a:solidFill>
              <a:srgbClr val="111111"/>
            </a:solidFill>
            <a:prstDash val="solid"/>
          </a:ln>
        </p:spPr>
      </p:sp>
      <p:sp>
        <p:nvSpPr>
          <p:cNvPr id="24" name="Shape 21"/>
          <p:cNvSpPr/>
          <p:nvPr/>
        </p:nvSpPr>
        <p:spPr>
          <a:xfrm>
            <a:off x="6309360" y="1280160"/>
            <a:ext cx="2331720" cy="2286000"/>
          </a:xfrm>
          <a:prstGeom prst="rect">
            <a:avLst/>
          </a:prstGeom>
          <a:solidFill>
            <a:srgbClr val="FF9EDB"/>
          </a:solidFill>
          <a:ln w="25400">
            <a:solidFill>
              <a:srgbClr val="111111"/>
            </a:solidFill>
            <a:prstDash val="solid"/>
          </a:ln>
        </p:spPr>
      </p:sp>
      <p:sp>
        <p:nvSpPr>
          <p:cNvPr id="25" name="Shape 22"/>
          <p:cNvSpPr/>
          <p:nvPr/>
        </p:nvSpPr>
        <p:spPr>
          <a:xfrm>
            <a:off x="6473952" y="1417320"/>
            <a:ext cx="1371600" cy="237744"/>
          </a:xfrm>
          <a:prstGeom prst="rect">
            <a:avLst/>
          </a:prstGeom>
          <a:solidFill>
            <a:srgbClr val="111111"/>
          </a:solidFill>
          <a:ln w="6350">
            <a:solidFill>
              <a:srgbClr val="111111"/>
            </a:solidFill>
            <a:prstDash val="solid"/>
          </a:ln>
        </p:spPr>
      </p:sp>
      <p:sp>
        <p:nvSpPr>
          <p:cNvPr id="26" name="Shape 23"/>
          <p:cNvSpPr/>
          <p:nvPr/>
        </p:nvSpPr>
        <p:spPr>
          <a:xfrm>
            <a:off x="6446520" y="1389888"/>
            <a:ext cx="1371600" cy="237744"/>
          </a:xfrm>
          <a:prstGeom prst="rect">
            <a:avLst/>
          </a:prstGeom>
          <a:solidFill>
            <a:srgbClr val="FFFFFF"/>
          </a:solidFill>
          <a:ln w="15875">
            <a:solidFill>
              <a:srgbClr val="111111"/>
            </a:solidFill>
            <a:prstDash val="solid"/>
          </a:ln>
        </p:spPr>
      </p:sp>
      <p:sp>
        <p:nvSpPr>
          <p:cNvPr id="27" name="Text 24"/>
          <p:cNvSpPr txBox="1"/>
          <p:nvPr/>
        </p:nvSpPr>
        <p:spPr>
          <a:xfrm>
            <a:off x="6446520" y="1389888"/>
            <a:ext cx="1371600" cy="237744"/>
          </a:xfrm>
          <a:prstGeom prst="rect">
            <a:avLst/>
          </a:prstGeom>
          <a:noFill/>
          <a:ln/>
        </p:spPr>
        <p:txBody>
          <a:bodyPr wrap="square" lIns="0" tIns="0" rIns="0" bIns="0" rtlCol="0" anchor="ctr"/>
          <a:lstStyle/>
          <a:p>
            <a:pPr algn="ctr" indent="0" marL="0">
              <a:buNone/>
            </a:pPr>
            <a:r>
              <a:rPr lang="en-US" sz="850" b="1" dirty="0">
                <a:solidFill>
                  <a:srgbClr val="111111"/>
                </a:solidFill>
                <a:latin typeface="Courier New" pitchFamily="34" charset="0"/>
                <a:ea typeface="Courier New" pitchFamily="34" charset="-122"/>
                <a:cs typeface="Courier New" pitchFamily="34" charset="-120"/>
              </a:rPr>
              <a:t>FEBRUARY 2024</a:t>
            </a:r>
            <a:endParaRPr lang="en-US" sz="850" dirty="0"/>
          </a:p>
        </p:txBody>
      </p:sp>
      <p:sp>
        <p:nvSpPr>
          <p:cNvPr id="28" name="Text 25"/>
          <p:cNvSpPr txBox="1"/>
          <p:nvPr/>
        </p:nvSpPr>
        <p:spPr>
          <a:xfrm>
            <a:off x="6446520" y="1755648"/>
            <a:ext cx="2103120" cy="822960"/>
          </a:xfrm>
          <a:prstGeom prst="rect">
            <a:avLst/>
          </a:prstGeom>
          <a:noFill/>
          <a:ln/>
        </p:spPr>
        <p:txBody>
          <a:bodyPr wrap="square" lIns="0" tIns="0" rIns="0" bIns="0" rtlCol="0" anchor="t"/>
          <a:lstStyle/>
          <a:p>
            <a:pPr algn="l" indent="0" marL="0">
              <a:buNone/>
            </a:pPr>
            <a:r>
              <a:rPr lang="en-US" sz="4200" b="1" dirty="0">
                <a:solidFill>
                  <a:srgbClr val="111111"/>
                </a:solidFill>
                <a:latin typeface="Georgia" pitchFamily="34" charset="0"/>
                <a:ea typeface="Georgia" pitchFamily="34" charset="-122"/>
                <a:cs typeface="Georgia" pitchFamily="34" charset="-120"/>
              </a:rPr>
              <a:t>$812</a:t>
            </a:r>
            <a:endParaRPr lang="en-US" sz="4200" dirty="0"/>
          </a:p>
        </p:txBody>
      </p:sp>
      <p:sp>
        <p:nvSpPr>
          <p:cNvPr id="29" name="Text 26"/>
          <p:cNvSpPr txBox="1"/>
          <p:nvPr/>
        </p:nvSpPr>
        <p:spPr>
          <a:xfrm>
            <a:off x="6446520" y="2606040"/>
            <a:ext cx="2057400" cy="914400"/>
          </a:xfrm>
          <a:prstGeom prst="rect">
            <a:avLst/>
          </a:prstGeom>
          <a:noFill/>
          <a:ln/>
        </p:spPr>
        <p:txBody>
          <a:bodyPr wrap="square" lIns="0" tIns="0" rIns="0" bIns="0" rtlCol="0" anchor="t"/>
          <a:lstStyle/>
          <a:p>
            <a:pPr algn="l" indent="0" marL="0">
              <a:buNone/>
            </a:pPr>
            <a:r>
              <a:rPr lang="en-US" sz="1100" dirty="0">
                <a:solidFill>
                  <a:srgbClr val="111111"/>
                </a:solidFill>
                <a:latin typeface="Arial" pitchFamily="34" charset="0"/>
                <a:ea typeface="Arial" pitchFamily="34" charset="-122"/>
                <a:cs typeface="Arial" pitchFamily="34" charset="-120"/>
              </a:rPr>
              <a:t>Air Canada was ordered to pay after its chatbot gave a refund policy that did not exist.</a:t>
            </a:r>
            <a:endParaRPr lang="en-US" sz="1100" dirty="0"/>
          </a:p>
        </p:txBody>
      </p:sp>
      <p:sp>
        <p:nvSpPr>
          <p:cNvPr id="30" name="Text 27"/>
          <p:cNvSpPr txBox="1"/>
          <p:nvPr/>
        </p:nvSpPr>
        <p:spPr>
          <a:xfrm>
            <a:off x="3794760" y="3703320"/>
            <a:ext cx="4846320" cy="27432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Sources: NPR, 9 Feb 2023. Moffatt v. Air Canada ruling, reported by Yahoo News and AI Business, Feb 2024.</a:t>
            </a:r>
            <a:endParaRPr lang="en-US" sz="800" dirty="0"/>
          </a:p>
        </p:txBody>
      </p:sp>
      <p:sp>
        <p:nvSpPr>
          <p:cNvPr id="31" name="Shape 28"/>
          <p:cNvSpPr/>
          <p:nvPr/>
        </p:nvSpPr>
        <p:spPr>
          <a:xfrm>
            <a:off x="3794760" y="4023360"/>
            <a:ext cx="4800600" cy="502920"/>
          </a:xfrm>
          <a:prstGeom prst="rect">
            <a:avLst/>
          </a:prstGeom>
          <a:solidFill>
            <a:srgbClr val="111111"/>
          </a:solidFill>
          <a:ln w="22225">
            <a:solidFill>
              <a:srgbClr val="111111"/>
            </a:solidFill>
            <a:prstDash val="solid"/>
          </a:ln>
        </p:spPr>
      </p:sp>
      <p:sp>
        <p:nvSpPr>
          <p:cNvPr id="32" name="Text 29"/>
          <p:cNvSpPr txBox="1"/>
          <p:nvPr/>
        </p:nvSpPr>
        <p:spPr>
          <a:xfrm>
            <a:off x="3913632" y="4023360"/>
            <a:ext cx="4572000" cy="502920"/>
          </a:xfrm>
          <a:prstGeom prst="rect">
            <a:avLst/>
          </a:prstGeom>
          <a:noFill/>
          <a:ln/>
        </p:spPr>
        <p:txBody>
          <a:bodyPr wrap="square" lIns="0" tIns="0" rIns="0" bIns="0" rtlCol="0" anchor="ctr"/>
          <a:lstStyle/>
          <a:p>
            <a:pPr algn="l" indent="0" marL="0">
              <a:buNone/>
            </a:pPr>
            <a:pPr algn="l" indent="0" marL="0">
              <a:buNone/>
            </a:pPr>
            <a:r>
              <a:rPr sz="950" b="1">
                <a:solidFill>
                  <a:srgbClr val="FFD93D"/>
                </a:solidFill>
                <a:latin typeface="Courier New"/>
              </a:rPr>
              <a:t>ROUND 3 PRODUCT COMPLETION  Dual-set benchmark on 24 planted defects: 100% precision, 0 false alarms, 16/16 Pytest passing.</a:t>
            </a:r>
            <a:endParaRPr lang="en-US" sz="9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Four people, one shared problem</a:t>
            </a:r>
            <a:endParaRPr lang="en-US" sz="2800" dirty="0"/>
          </a:p>
        </p:txBody>
      </p:sp>
      <p:sp>
        <p:nvSpPr>
          <p:cNvPr id="4" name="Text 1"/>
          <p:cNvSpPr txBox="1"/>
          <p:nvPr/>
        </p:nvSpPr>
        <p:spPr>
          <a:xfrm>
            <a:off x="1280160" y="1261872"/>
            <a:ext cx="18288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WHO</a:t>
            </a:r>
            <a:endParaRPr lang="en-US" sz="850" dirty="0"/>
          </a:p>
        </p:txBody>
      </p:sp>
      <p:sp>
        <p:nvSpPr>
          <p:cNvPr id="5" name="Text 2"/>
          <p:cNvSpPr txBox="1"/>
          <p:nvPr/>
        </p:nvSpPr>
        <p:spPr>
          <a:xfrm>
            <a:off x="3017520" y="1261872"/>
            <a:ext cx="27432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WHAT HURTS TODAY</a:t>
            </a:r>
            <a:endParaRPr lang="en-US" sz="850" dirty="0"/>
          </a:p>
        </p:txBody>
      </p:sp>
      <p:sp>
        <p:nvSpPr>
          <p:cNvPr id="6" name="Text 3"/>
          <p:cNvSpPr txBox="1"/>
          <p:nvPr/>
        </p:nvSpPr>
        <p:spPr>
          <a:xfrm>
            <a:off x="5943600" y="1261872"/>
            <a:ext cx="27432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WHAT VERITY GIVES</a:t>
            </a:r>
            <a:endParaRPr lang="en-US" sz="850" dirty="0"/>
          </a:p>
        </p:txBody>
      </p:sp>
      <p:sp>
        <p:nvSpPr>
          <p:cNvPr id="7" name="Shape 4"/>
          <p:cNvSpPr/>
          <p:nvPr/>
        </p:nvSpPr>
        <p:spPr>
          <a:xfrm>
            <a:off x="594360" y="1554480"/>
            <a:ext cx="8046720" cy="566928"/>
          </a:xfrm>
          <a:prstGeom prst="rect">
            <a:avLst/>
          </a:prstGeom>
          <a:solidFill>
            <a:srgbClr val="111111"/>
          </a:solidFill>
          <a:ln w="6350">
            <a:solidFill>
              <a:srgbClr val="111111"/>
            </a:solidFill>
            <a:prstDash val="solid"/>
          </a:ln>
        </p:spPr>
      </p:sp>
      <p:sp>
        <p:nvSpPr>
          <p:cNvPr id="8" name="Shape 5"/>
          <p:cNvSpPr/>
          <p:nvPr/>
        </p:nvSpPr>
        <p:spPr>
          <a:xfrm>
            <a:off x="548640" y="1508760"/>
            <a:ext cx="8046720" cy="566928"/>
          </a:xfrm>
          <a:prstGeom prst="rect">
            <a:avLst/>
          </a:prstGeom>
          <a:solidFill>
            <a:srgbClr val="FFFFFF"/>
          </a:solidFill>
          <a:ln w="19050">
            <a:solidFill>
              <a:srgbClr val="111111"/>
            </a:solidFill>
            <a:prstDash val="solid"/>
          </a:ln>
        </p:spPr>
      </p:sp>
      <p:sp>
        <p:nvSpPr>
          <p:cNvPr id="9" name="Shape 6"/>
          <p:cNvSpPr/>
          <p:nvPr/>
        </p:nvSpPr>
        <p:spPr>
          <a:xfrm>
            <a:off x="548640" y="1508760"/>
            <a:ext cx="109728" cy="566928"/>
          </a:xfrm>
          <a:prstGeom prst="rect">
            <a:avLst/>
          </a:prstGeom>
          <a:solidFill>
            <a:srgbClr val="FFD93D"/>
          </a:solidFill>
          <a:ln w="19050">
            <a:solidFill>
              <a:srgbClr val="111111"/>
            </a:solidFill>
            <a:prstDash val="solid"/>
          </a:ln>
        </p:spPr>
      </p:sp>
      <p:sp>
        <p:nvSpPr>
          <p:cNvPr id="10" name="Shape 7"/>
          <p:cNvSpPr/>
          <p:nvPr/>
        </p:nvSpPr>
        <p:spPr>
          <a:xfrm>
            <a:off x="777240" y="1591056"/>
            <a:ext cx="402336" cy="402336"/>
          </a:xfrm>
          <a:prstGeom prst="ellipse">
            <a:avLst/>
          </a:prstGeom>
          <a:solidFill>
            <a:srgbClr val="FFD93D"/>
          </a:solidFill>
          <a:ln w="22225">
            <a:solidFill>
              <a:srgbClr val="111111"/>
            </a:solidFill>
            <a:prstDash val="solid"/>
          </a:ln>
        </p:spPr>
      </p:sp>
      <p:pic>
        <p:nvPicPr>
          <p:cNvPr id="11" name="Image 0" descr="preencoded.png">    </p:cNvPr>
          <p:cNvPicPr>
            <a:picLocks noChangeAspect="1"/>
          </p:cNvPicPr>
          <p:nvPr/>
        </p:nvPicPr>
        <p:blipFill>
          <a:blip r:embed="rId1"/>
          <a:stretch>
            <a:fillRect/>
          </a:stretch>
        </p:blipFill>
        <p:spPr>
          <a:xfrm>
            <a:off x="873801" y="1687617"/>
            <a:ext cx="209215" cy="209215"/>
          </a:xfrm>
          <a:prstGeom prst="rect">
            <a:avLst/>
          </a:prstGeom>
        </p:spPr>
      </p:pic>
      <p:sp>
        <p:nvSpPr>
          <p:cNvPr id="12" name="Text 8"/>
          <p:cNvSpPr txBox="1"/>
          <p:nvPr/>
        </p:nvSpPr>
        <p:spPr>
          <a:xfrm>
            <a:off x="1280160" y="1508760"/>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Creator</a:t>
            </a:r>
            <a:endParaRPr lang="en-US" sz="1250" dirty="0"/>
          </a:p>
        </p:txBody>
      </p:sp>
      <p:sp>
        <p:nvSpPr>
          <p:cNvPr id="13" name="Text 9"/>
          <p:cNvSpPr txBox="1"/>
          <p:nvPr/>
        </p:nvSpPr>
        <p:spPr>
          <a:xfrm>
            <a:off x="3017520" y="1508760"/>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Guessing what is allowed, then hearing “no” after submitting.</a:t>
            </a:r>
            <a:endParaRPr lang="en-US" sz="1050" dirty="0"/>
          </a:p>
        </p:txBody>
      </p:sp>
      <p:sp>
        <p:nvSpPr>
          <p:cNvPr id="14" name="Text 10"/>
          <p:cNvSpPr txBox="1"/>
          <p:nvPr/>
        </p:nvSpPr>
        <p:spPr>
          <a:xfrm>
            <a:off x="5943600" y="1508760"/>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Clear, cited feedback before they submit.</a:t>
            </a:r>
            <a:endParaRPr lang="en-US" sz="1050" dirty="0"/>
          </a:p>
        </p:txBody>
      </p:sp>
      <p:sp>
        <p:nvSpPr>
          <p:cNvPr id="15" name="Shape 11"/>
          <p:cNvSpPr/>
          <p:nvPr/>
        </p:nvSpPr>
        <p:spPr>
          <a:xfrm>
            <a:off x="594360" y="2212848"/>
            <a:ext cx="8046720" cy="566928"/>
          </a:xfrm>
          <a:prstGeom prst="rect">
            <a:avLst/>
          </a:prstGeom>
          <a:solidFill>
            <a:srgbClr val="111111"/>
          </a:solidFill>
          <a:ln w="6350">
            <a:solidFill>
              <a:srgbClr val="111111"/>
            </a:solidFill>
            <a:prstDash val="solid"/>
          </a:ln>
        </p:spPr>
      </p:sp>
      <p:sp>
        <p:nvSpPr>
          <p:cNvPr id="16" name="Shape 12"/>
          <p:cNvSpPr/>
          <p:nvPr/>
        </p:nvSpPr>
        <p:spPr>
          <a:xfrm>
            <a:off x="548640" y="2167128"/>
            <a:ext cx="8046720" cy="566928"/>
          </a:xfrm>
          <a:prstGeom prst="rect">
            <a:avLst/>
          </a:prstGeom>
          <a:solidFill>
            <a:srgbClr val="FFFFFF"/>
          </a:solidFill>
          <a:ln w="19050">
            <a:solidFill>
              <a:srgbClr val="111111"/>
            </a:solidFill>
            <a:prstDash val="solid"/>
          </a:ln>
        </p:spPr>
      </p:sp>
      <p:sp>
        <p:nvSpPr>
          <p:cNvPr id="17" name="Shape 13"/>
          <p:cNvSpPr/>
          <p:nvPr/>
        </p:nvSpPr>
        <p:spPr>
          <a:xfrm>
            <a:off x="548640" y="2167128"/>
            <a:ext cx="109728" cy="566928"/>
          </a:xfrm>
          <a:prstGeom prst="rect">
            <a:avLst/>
          </a:prstGeom>
          <a:solidFill>
            <a:srgbClr val="6EE7B7"/>
          </a:solidFill>
          <a:ln w="19050">
            <a:solidFill>
              <a:srgbClr val="111111"/>
            </a:solidFill>
            <a:prstDash val="solid"/>
          </a:ln>
        </p:spPr>
      </p:sp>
      <p:sp>
        <p:nvSpPr>
          <p:cNvPr id="18" name="Shape 14"/>
          <p:cNvSpPr/>
          <p:nvPr/>
        </p:nvSpPr>
        <p:spPr>
          <a:xfrm>
            <a:off x="777240" y="2249424"/>
            <a:ext cx="402336" cy="402336"/>
          </a:xfrm>
          <a:prstGeom prst="ellipse">
            <a:avLst/>
          </a:prstGeom>
          <a:solidFill>
            <a:srgbClr val="6EE7B7"/>
          </a:solidFill>
          <a:ln w="22225">
            <a:solidFill>
              <a:srgbClr val="111111"/>
            </a:solidFill>
            <a:prstDash val="solid"/>
          </a:ln>
        </p:spPr>
      </p:sp>
      <p:pic>
        <p:nvPicPr>
          <p:cNvPr id="19" name="Image 1" descr="preencoded.png">    </p:cNvPr>
          <p:cNvPicPr>
            <a:picLocks noChangeAspect="1"/>
          </p:cNvPicPr>
          <p:nvPr/>
        </p:nvPicPr>
        <p:blipFill>
          <a:blip r:embed="rId2"/>
          <a:stretch>
            <a:fillRect/>
          </a:stretch>
        </p:blipFill>
        <p:spPr>
          <a:xfrm>
            <a:off x="873801" y="2345985"/>
            <a:ext cx="209215" cy="209215"/>
          </a:xfrm>
          <a:prstGeom prst="rect">
            <a:avLst/>
          </a:prstGeom>
        </p:spPr>
      </p:pic>
      <p:sp>
        <p:nvSpPr>
          <p:cNvPr id="20" name="Text 15"/>
          <p:cNvSpPr txBox="1"/>
          <p:nvPr/>
        </p:nvSpPr>
        <p:spPr>
          <a:xfrm>
            <a:off x="1280160" y="2167128"/>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Brand manager</a:t>
            </a:r>
            <a:endParaRPr lang="en-US" sz="1250" dirty="0"/>
          </a:p>
        </p:txBody>
      </p:sp>
      <p:sp>
        <p:nvSpPr>
          <p:cNvPr id="21" name="Text 16"/>
          <p:cNvSpPr txBox="1"/>
          <p:nvPr/>
        </p:nvSpPr>
        <p:spPr>
          <a:xfrm>
            <a:off x="3017520" y="2167128"/>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Checking every team’s work by hand.</a:t>
            </a:r>
            <a:endParaRPr lang="en-US" sz="1050" dirty="0"/>
          </a:p>
        </p:txBody>
      </p:sp>
      <p:sp>
        <p:nvSpPr>
          <p:cNvPr id="22" name="Text 17"/>
          <p:cNvSpPr txBox="1"/>
          <p:nvPr/>
        </p:nvSpPr>
        <p:spPr>
          <a:xfrm>
            <a:off x="5943600" y="2167128"/>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One rulebook, applied the same way everywhere.</a:t>
            </a:r>
            <a:endParaRPr lang="en-US" sz="1050" dirty="0"/>
          </a:p>
        </p:txBody>
      </p:sp>
      <p:sp>
        <p:nvSpPr>
          <p:cNvPr id="23" name="Shape 18"/>
          <p:cNvSpPr/>
          <p:nvPr/>
        </p:nvSpPr>
        <p:spPr>
          <a:xfrm>
            <a:off x="594360" y="2871216"/>
            <a:ext cx="8046720" cy="566928"/>
          </a:xfrm>
          <a:prstGeom prst="rect">
            <a:avLst/>
          </a:prstGeom>
          <a:solidFill>
            <a:srgbClr val="111111"/>
          </a:solidFill>
          <a:ln w="6350">
            <a:solidFill>
              <a:srgbClr val="111111"/>
            </a:solidFill>
            <a:prstDash val="solid"/>
          </a:ln>
        </p:spPr>
      </p:sp>
      <p:sp>
        <p:nvSpPr>
          <p:cNvPr id="24" name="Shape 19"/>
          <p:cNvSpPr/>
          <p:nvPr/>
        </p:nvSpPr>
        <p:spPr>
          <a:xfrm>
            <a:off x="548640" y="2825496"/>
            <a:ext cx="8046720" cy="566928"/>
          </a:xfrm>
          <a:prstGeom prst="rect">
            <a:avLst/>
          </a:prstGeom>
          <a:solidFill>
            <a:srgbClr val="FFFFFF"/>
          </a:solidFill>
          <a:ln w="19050">
            <a:solidFill>
              <a:srgbClr val="111111"/>
            </a:solidFill>
            <a:prstDash val="solid"/>
          </a:ln>
        </p:spPr>
      </p:sp>
      <p:sp>
        <p:nvSpPr>
          <p:cNvPr id="25" name="Shape 20"/>
          <p:cNvSpPr/>
          <p:nvPr/>
        </p:nvSpPr>
        <p:spPr>
          <a:xfrm>
            <a:off x="548640" y="2825496"/>
            <a:ext cx="109728" cy="566928"/>
          </a:xfrm>
          <a:prstGeom prst="rect">
            <a:avLst/>
          </a:prstGeom>
          <a:solidFill>
            <a:srgbClr val="FF9EDB"/>
          </a:solidFill>
          <a:ln w="19050">
            <a:solidFill>
              <a:srgbClr val="111111"/>
            </a:solidFill>
            <a:prstDash val="solid"/>
          </a:ln>
        </p:spPr>
      </p:sp>
      <p:sp>
        <p:nvSpPr>
          <p:cNvPr id="26" name="Shape 21"/>
          <p:cNvSpPr/>
          <p:nvPr/>
        </p:nvSpPr>
        <p:spPr>
          <a:xfrm>
            <a:off x="777240" y="2907792"/>
            <a:ext cx="402336" cy="402336"/>
          </a:xfrm>
          <a:prstGeom prst="ellipse">
            <a:avLst/>
          </a:prstGeom>
          <a:solidFill>
            <a:srgbClr val="FF9EDB"/>
          </a:solidFill>
          <a:ln w="22225">
            <a:solidFill>
              <a:srgbClr val="111111"/>
            </a:solidFill>
            <a:prstDash val="solid"/>
          </a:ln>
        </p:spPr>
      </p:sp>
      <p:pic>
        <p:nvPicPr>
          <p:cNvPr id="27" name="Image 2" descr="preencoded.png">    </p:cNvPr>
          <p:cNvPicPr>
            <a:picLocks noChangeAspect="1"/>
          </p:cNvPicPr>
          <p:nvPr/>
        </p:nvPicPr>
        <p:blipFill>
          <a:blip r:embed="rId3"/>
          <a:stretch>
            <a:fillRect/>
          </a:stretch>
        </p:blipFill>
        <p:spPr>
          <a:xfrm>
            <a:off x="873801" y="3004353"/>
            <a:ext cx="209215" cy="209215"/>
          </a:xfrm>
          <a:prstGeom prst="rect">
            <a:avLst/>
          </a:prstGeom>
        </p:spPr>
      </p:pic>
      <p:sp>
        <p:nvSpPr>
          <p:cNvPr id="28" name="Text 22"/>
          <p:cNvSpPr txBox="1"/>
          <p:nvPr/>
        </p:nvSpPr>
        <p:spPr>
          <a:xfrm>
            <a:off x="1280160" y="2825496"/>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Authorised reviewer</a:t>
            </a:r>
            <a:endParaRPr lang="en-US" sz="1250" dirty="0"/>
          </a:p>
        </p:txBody>
      </p:sp>
      <p:sp>
        <p:nvSpPr>
          <p:cNvPr id="29" name="Text 23"/>
          <p:cNvSpPr txBox="1"/>
          <p:nvPr/>
        </p:nvSpPr>
        <p:spPr>
          <a:xfrm>
            <a:off x="3017520" y="2825496"/>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Approving claims without the source in front of them.</a:t>
            </a:r>
            <a:endParaRPr lang="en-US" sz="1050" dirty="0"/>
          </a:p>
        </p:txBody>
      </p:sp>
      <p:sp>
        <p:nvSpPr>
          <p:cNvPr id="30" name="Text 24"/>
          <p:cNvSpPr txBox="1"/>
          <p:nvPr/>
        </p:nvSpPr>
        <p:spPr>
          <a:xfrm>
            <a:off x="5943600" y="2825496"/>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The rule, the source and a fix beside each flag.</a:t>
            </a:r>
            <a:endParaRPr lang="en-US" sz="1050" dirty="0"/>
          </a:p>
        </p:txBody>
      </p:sp>
      <p:sp>
        <p:nvSpPr>
          <p:cNvPr id="31" name="Shape 25"/>
          <p:cNvSpPr/>
          <p:nvPr/>
        </p:nvSpPr>
        <p:spPr>
          <a:xfrm>
            <a:off x="594360" y="3529584"/>
            <a:ext cx="8046720" cy="566928"/>
          </a:xfrm>
          <a:prstGeom prst="rect">
            <a:avLst/>
          </a:prstGeom>
          <a:solidFill>
            <a:srgbClr val="111111"/>
          </a:solidFill>
          <a:ln w="6350">
            <a:solidFill>
              <a:srgbClr val="111111"/>
            </a:solidFill>
            <a:prstDash val="solid"/>
          </a:ln>
        </p:spPr>
      </p:sp>
      <p:sp>
        <p:nvSpPr>
          <p:cNvPr id="32" name="Shape 26"/>
          <p:cNvSpPr/>
          <p:nvPr/>
        </p:nvSpPr>
        <p:spPr>
          <a:xfrm>
            <a:off x="548640" y="3483864"/>
            <a:ext cx="8046720" cy="566928"/>
          </a:xfrm>
          <a:prstGeom prst="rect">
            <a:avLst/>
          </a:prstGeom>
          <a:solidFill>
            <a:srgbClr val="FFFFFF"/>
          </a:solidFill>
          <a:ln w="19050">
            <a:solidFill>
              <a:srgbClr val="111111"/>
            </a:solidFill>
            <a:prstDash val="solid"/>
          </a:ln>
        </p:spPr>
      </p:sp>
      <p:sp>
        <p:nvSpPr>
          <p:cNvPr id="33" name="Shape 27"/>
          <p:cNvSpPr/>
          <p:nvPr/>
        </p:nvSpPr>
        <p:spPr>
          <a:xfrm>
            <a:off x="548640" y="3483864"/>
            <a:ext cx="109728" cy="566928"/>
          </a:xfrm>
          <a:prstGeom prst="rect">
            <a:avLst/>
          </a:prstGeom>
          <a:solidFill>
            <a:srgbClr val="9DB0FF"/>
          </a:solidFill>
          <a:ln w="19050">
            <a:solidFill>
              <a:srgbClr val="111111"/>
            </a:solidFill>
            <a:prstDash val="solid"/>
          </a:ln>
        </p:spPr>
      </p:sp>
      <p:sp>
        <p:nvSpPr>
          <p:cNvPr id="34" name="Shape 28"/>
          <p:cNvSpPr/>
          <p:nvPr/>
        </p:nvSpPr>
        <p:spPr>
          <a:xfrm>
            <a:off x="777240" y="3566160"/>
            <a:ext cx="402336" cy="402336"/>
          </a:xfrm>
          <a:prstGeom prst="ellipse">
            <a:avLst/>
          </a:prstGeom>
          <a:solidFill>
            <a:srgbClr val="9DB0FF"/>
          </a:solidFill>
          <a:ln w="22225">
            <a:solidFill>
              <a:srgbClr val="111111"/>
            </a:solidFill>
            <a:prstDash val="solid"/>
          </a:ln>
        </p:spPr>
      </p:sp>
      <p:pic>
        <p:nvPicPr>
          <p:cNvPr id="35" name="Image 3" descr="preencoded.png">    </p:cNvPr>
          <p:cNvPicPr>
            <a:picLocks noChangeAspect="1"/>
          </p:cNvPicPr>
          <p:nvPr/>
        </p:nvPicPr>
        <p:blipFill>
          <a:blip r:embed="rId4"/>
          <a:stretch>
            <a:fillRect/>
          </a:stretch>
        </p:blipFill>
        <p:spPr>
          <a:xfrm>
            <a:off x="873801" y="3662721"/>
            <a:ext cx="209215" cy="209215"/>
          </a:xfrm>
          <a:prstGeom prst="rect">
            <a:avLst/>
          </a:prstGeom>
        </p:spPr>
      </p:pic>
      <p:sp>
        <p:nvSpPr>
          <p:cNvPr id="36" name="Text 29"/>
          <p:cNvSpPr txBox="1"/>
          <p:nvPr/>
        </p:nvSpPr>
        <p:spPr>
          <a:xfrm>
            <a:off x="1280160" y="3483864"/>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Agency or freelancer</a:t>
            </a:r>
            <a:endParaRPr lang="en-US" sz="1250" dirty="0"/>
          </a:p>
        </p:txBody>
      </p:sp>
      <p:sp>
        <p:nvSpPr>
          <p:cNvPr id="37" name="Text 30"/>
          <p:cNvSpPr txBox="1"/>
          <p:nvPr/>
        </p:nvSpPr>
        <p:spPr>
          <a:xfrm>
            <a:off x="3017520" y="3483864"/>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Working from an old PDF of the guidelines.</a:t>
            </a:r>
            <a:endParaRPr lang="en-US" sz="1050" dirty="0"/>
          </a:p>
        </p:txBody>
      </p:sp>
      <p:sp>
        <p:nvSpPr>
          <p:cNvPr id="38" name="Text 31"/>
          <p:cNvSpPr txBox="1"/>
          <p:nvPr/>
        </p:nvSpPr>
        <p:spPr>
          <a:xfrm>
            <a:off x="5943600" y="3483864"/>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The current rules in one shared workspace.</a:t>
            </a:r>
            <a:endParaRPr lang="en-US" sz="1050" dirty="0"/>
          </a:p>
        </p:txBody>
      </p:sp>
      <p:sp>
        <p:nvSpPr>
          <p:cNvPr id="39" name="Shape 32"/>
          <p:cNvSpPr/>
          <p:nvPr/>
        </p:nvSpPr>
        <p:spPr>
          <a:xfrm>
            <a:off x="548640" y="4251960"/>
            <a:ext cx="8046720" cy="292608"/>
          </a:xfrm>
          <a:prstGeom prst="rect">
            <a:avLst/>
          </a:prstGeom>
          <a:solidFill>
            <a:srgbClr val="111111"/>
          </a:solidFill>
          <a:ln w="22225">
            <a:solidFill>
              <a:srgbClr val="111111"/>
            </a:solidFill>
            <a:prstDash val="solid"/>
          </a:ln>
        </p:spPr>
      </p:sp>
      <p:sp>
        <p:nvSpPr>
          <p:cNvPr id="40" name="Text 33"/>
          <p:cNvSpPr txBox="1"/>
          <p:nvPr/>
        </p:nvSpPr>
        <p:spPr>
          <a:xfrm>
            <a:off x="685800" y="4251960"/>
            <a:ext cx="7772400" cy="292608"/>
          </a:xfrm>
          <a:prstGeom prst="rect">
            <a:avLst/>
          </a:prstGeom>
          <a:noFill/>
          <a:ln/>
        </p:spPr>
        <p:txBody>
          <a:bodyPr wrap="square" lIns="0" tIns="0" rIns="0" bIns="0" rtlCol="0" anchor="ctr"/>
          <a:lstStyle/>
          <a:p>
            <a:pPr algn="l" indent="0" marL="0">
              <a:buNone/>
            </a:pPr>
            <a:pPr algn="l" indent="0" marL="0">
              <a:buNone/>
            </a:pPr>
            <a:r>
              <a:rPr sz="900" b="1">
                <a:solidFill>
                  <a:srgbClr val="FFD93D"/>
                </a:solidFill>
                <a:latin typeface="Courier New"/>
              </a:rPr>
              <a:t>ZERO-ASSISTANCE JUDGE TOUR  In-situ guided tutorial with 4 persona tracks (Creator, Reviewer, Owner, All) &amp; sandbox simulator.</a:t>
            </a:r>
            <a:endParaRPr lang="en-US" sz="9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From upload to approval in six steps</a:t>
            </a:r>
            <a:endParaRPr lang="en-US" sz="2800" dirty="0"/>
          </a:p>
        </p:txBody>
      </p:sp>
      <p:sp>
        <p:nvSpPr>
          <p:cNvPr id="4" name="Shape 1"/>
          <p:cNvSpPr/>
          <p:nvPr/>
        </p:nvSpPr>
        <p:spPr>
          <a:xfrm>
            <a:off x="822960" y="1920240"/>
            <a:ext cx="6949440" cy="0"/>
          </a:xfrm>
          <a:prstGeom prst="line">
            <a:avLst/>
          </a:prstGeom>
          <a:noFill/>
          <a:ln w="38100">
            <a:solidFill>
              <a:srgbClr val="FFFFFF"/>
            </a:solidFill>
            <a:prstDash val="solid"/>
          </a:ln>
        </p:spPr>
      </p:sp>
      <p:sp>
        <p:nvSpPr>
          <p:cNvPr id="5" name="Shape 2"/>
          <p:cNvSpPr/>
          <p:nvPr/>
        </p:nvSpPr>
        <p:spPr>
          <a:xfrm>
            <a:off x="548640" y="1572768"/>
            <a:ext cx="694944" cy="694944"/>
          </a:xfrm>
          <a:prstGeom prst="ellipse">
            <a:avLst/>
          </a:prstGeom>
          <a:solidFill>
            <a:srgbClr val="FFFFFF"/>
          </a:solidFill>
          <a:ln w="22225">
            <a:solidFill>
              <a:srgbClr val="111111"/>
            </a:solidFill>
            <a:prstDash val="solid"/>
          </a:ln>
        </p:spPr>
      </p:sp>
      <p:pic>
        <p:nvPicPr>
          <p:cNvPr id="6" name="Image 0" descr="preencoded.png">    </p:cNvPr>
          <p:cNvPicPr>
            <a:picLocks noChangeAspect="1"/>
          </p:cNvPicPr>
          <p:nvPr/>
        </p:nvPicPr>
        <p:blipFill>
          <a:blip r:embed="rId1"/>
          <a:stretch>
            <a:fillRect/>
          </a:stretch>
        </p:blipFill>
        <p:spPr>
          <a:xfrm>
            <a:off x="715427" y="1739555"/>
            <a:ext cx="361371" cy="361371"/>
          </a:xfrm>
          <a:prstGeom prst="rect">
            <a:avLst/>
          </a:prstGeom>
        </p:spPr>
      </p:pic>
      <p:sp>
        <p:nvSpPr>
          <p:cNvPr id="7" name="Text 3"/>
          <p:cNvSpPr txBox="1"/>
          <p:nvPr/>
        </p:nvSpPr>
        <p:spPr>
          <a:xfrm>
            <a:off x="5029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Upload / Draft</a:t>
            </a:r>
            <a:endParaRPr lang="en-US" sz="1300" dirty="0"/>
          </a:p>
        </p:txBody>
      </p:sp>
      <p:sp>
        <p:nvSpPr>
          <p:cNvPr id="8" name="Text 4"/>
          <p:cNvSpPr txBox="1"/>
          <p:nvPr/>
        </p:nvSpPr>
        <p:spPr>
          <a:xfrm>
            <a:off x="5029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Text, graphics, banners, alt-text, hex contrast, docx, pdf.</a:t>
            </a:r>
            <a:endParaRPr lang="en-US" sz="1000" dirty="0"/>
          </a:p>
        </p:txBody>
      </p:sp>
      <p:sp>
        <p:nvSpPr>
          <p:cNvPr id="9" name="Shape 5"/>
          <p:cNvSpPr/>
          <p:nvPr/>
        </p:nvSpPr>
        <p:spPr>
          <a:xfrm>
            <a:off x="1920240" y="1572768"/>
            <a:ext cx="694944" cy="694944"/>
          </a:xfrm>
          <a:prstGeom prst="ellipse">
            <a:avLst/>
          </a:prstGeom>
          <a:solidFill>
            <a:srgbClr val="FFD93D"/>
          </a:solidFill>
          <a:ln w="22225">
            <a:solidFill>
              <a:srgbClr val="111111"/>
            </a:solidFill>
            <a:prstDash val="solid"/>
          </a:ln>
        </p:spPr>
      </p:sp>
      <p:pic>
        <p:nvPicPr>
          <p:cNvPr id="10" name="Image 1" descr="preencoded.png">    </p:cNvPr>
          <p:cNvPicPr>
            <a:picLocks noChangeAspect="1"/>
          </p:cNvPicPr>
          <p:nvPr/>
        </p:nvPicPr>
        <p:blipFill>
          <a:blip r:embed="rId2"/>
          <a:stretch>
            <a:fillRect/>
          </a:stretch>
        </p:blipFill>
        <p:spPr>
          <a:xfrm>
            <a:off x="2087027" y="1739555"/>
            <a:ext cx="361371" cy="361371"/>
          </a:xfrm>
          <a:prstGeom prst="rect">
            <a:avLst/>
          </a:prstGeom>
        </p:spPr>
      </p:pic>
      <p:sp>
        <p:nvSpPr>
          <p:cNvPr id="11" name="Text 6"/>
          <p:cNvSpPr txBox="1"/>
          <p:nvPr/>
        </p:nvSpPr>
        <p:spPr>
          <a:xfrm>
            <a:off x="18745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Pre-Checks</a:t>
            </a:r>
            <a:endParaRPr lang="en-US" sz="1300" dirty="0"/>
          </a:p>
        </p:txBody>
      </p:sp>
      <p:sp>
        <p:nvSpPr>
          <p:cNvPr id="12" name="Text 7"/>
          <p:cNvSpPr txBox="1"/>
          <p:nvPr/>
        </p:nvSpPr>
        <p:spPr>
          <a:xfrm>
            <a:off x="18745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Deterministic regex checks casing &amp; codenames first.</a:t>
            </a:r>
            <a:endParaRPr lang="en-US" sz="1000" dirty="0"/>
          </a:p>
        </p:txBody>
      </p:sp>
      <p:sp>
        <p:nvSpPr>
          <p:cNvPr id="13" name="Shape 8"/>
          <p:cNvSpPr/>
          <p:nvPr/>
        </p:nvSpPr>
        <p:spPr>
          <a:xfrm>
            <a:off x="3291840" y="1572768"/>
            <a:ext cx="694944" cy="694944"/>
          </a:xfrm>
          <a:prstGeom prst="ellipse">
            <a:avLst/>
          </a:prstGeom>
          <a:solidFill>
            <a:srgbClr val="6EE7B7"/>
          </a:solidFill>
          <a:ln w="22225">
            <a:solidFill>
              <a:srgbClr val="111111"/>
            </a:solidFill>
            <a:prstDash val="solid"/>
          </a:ln>
        </p:spPr>
      </p:sp>
      <p:pic>
        <p:nvPicPr>
          <p:cNvPr id="14" name="Image 2" descr="preencoded.png">    </p:cNvPr>
          <p:cNvPicPr>
            <a:picLocks noChangeAspect="1"/>
          </p:cNvPicPr>
          <p:nvPr/>
        </p:nvPicPr>
        <p:blipFill>
          <a:blip r:embed="rId3"/>
          <a:stretch>
            <a:fillRect/>
          </a:stretch>
        </p:blipFill>
        <p:spPr>
          <a:xfrm>
            <a:off x="3458627" y="1739555"/>
            <a:ext cx="361371" cy="361371"/>
          </a:xfrm>
          <a:prstGeom prst="rect">
            <a:avLst/>
          </a:prstGeom>
        </p:spPr>
      </p:pic>
      <p:sp>
        <p:nvSpPr>
          <p:cNvPr id="15" name="Text 9"/>
          <p:cNvSpPr txBox="1"/>
          <p:nvPr/>
        </p:nvSpPr>
        <p:spPr>
          <a:xfrm>
            <a:off x="32461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Claim Ledger™</a:t>
            </a:r>
            <a:endParaRPr lang="en-US" sz="1300" dirty="0"/>
          </a:p>
        </p:txBody>
      </p:sp>
      <p:sp>
        <p:nvSpPr>
          <p:cNvPr id="16" name="Text 10"/>
          <p:cNvSpPr txBox="1"/>
          <p:nvPr/>
        </p:nvSpPr>
        <p:spPr>
          <a:xfrm>
            <a:off x="32461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Dense vector matching (bge-small-en) &amp; 30-day expiry check.</a:t>
            </a:r>
            <a:endParaRPr lang="en-US" sz="1000" dirty="0"/>
          </a:p>
        </p:txBody>
      </p:sp>
      <p:sp>
        <p:nvSpPr>
          <p:cNvPr id="17" name="Shape 11"/>
          <p:cNvSpPr/>
          <p:nvPr/>
        </p:nvSpPr>
        <p:spPr>
          <a:xfrm>
            <a:off x="4663440" y="1572768"/>
            <a:ext cx="694944" cy="694944"/>
          </a:xfrm>
          <a:prstGeom prst="ellipse">
            <a:avLst/>
          </a:prstGeom>
          <a:solidFill>
            <a:srgbClr val="9DB0FF"/>
          </a:solidFill>
          <a:ln w="22225">
            <a:solidFill>
              <a:srgbClr val="111111"/>
            </a:solidFill>
            <a:prstDash val="solid"/>
          </a:ln>
        </p:spPr>
      </p:sp>
      <p:pic>
        <p:nvPicPr>
          <p:cNvPr id="18" name="Image 3" descr="preencoded.png">    </p:cNvPr>
          <p:cNvPicPr>
            <a:picLocks noChangeAspect="1"/>
          </p:cNvPicPr>
          <p:nvPr/>
        </p:nvPicPr>
        <p:blipFill>
          <a:blip r:embed="rId4"/>
          <a:stretch>
            <a:fillRect/>
          </a:stretch>
        </p:blipFill>
        <p:spPr>
          <a:xfrm>
            <a:off x="4830227" y="1739555"/>
            <a:ext cx="361371" cy="361371"/>
          </a:xfrm>
          <a:prstGeom prst="rect">
            <a:avLst/>
          </a:prstGeom>
        </p:spPr>
      </p:pic>
      <p:sp>
        <p:nvSpPr>
          <p:cNvPr id="19" name="Text 12"/>
          <p:cNvSpPr txBox="1"/>
          <p:nvPr/>
        </p:nvSpPr>
        <p:spPr>
          <a:xfrm>
            <a:off x="46177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Groq AI Voice</a:t>
            </a:r>
            <a:endParaRPr lang="en-US" sz="1300" dirty="0"/>
          </a:p>
        </p:txBody>
      </p:sp>
      <p:sp>
        <p:nvSpPr>
          <p:cNvPr id="20" name="Text 13"/>
          <p:cNvSpPr txBox="1"/>
          <p:nvPr/>
        </p:nvSpPr>
        <p:spPr>
          <a:xfrm>
            <a:off x="46177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Sub-second (&lt;800ms) Llama 3.3 tone review via Groq.</a:t>
            </a:r>
            <a:endParaRPr lang="en-US" sz="1000" dirty="0"/>
          </a:p>
        </p:txBody>
      </p:sp>
      <p:sp>
        <p:nvSpPr>
          <p:cNvPr id="21" name="Shape 14"/>
          <p:cNvSpPr/>
          <p:nvPr/>
        </p:nvSpPr>
        <p:spPr>
          <a:xfrm>
            <a:off x="6035040" y="1572768"/>
            <a:ext cx="694944" cy="694944"/>
          </a:xfrm>
          <a:prstGeom prst="ellipse">
            <a:avLst/>
          </a:prstGeom>
          <a:solidFill>
            <a:srgbClr val="FF9EDB"/>
          </a:solidFill>
          <a:ln w="22225">
            <a:solidFill>
              <a:srgbClr val="111111"/>
            </a:solidFill>
            <a:prstDash val="solid"/>
          </a:ln>
        </p:spPr>
      </p:sp>
      <p:pic>
        <p:nvPicPr>
          <p:cNvPr id="22" name="Image 4" descr="preencoded.png">    </p:cNvPr>
          <p:cNvPicPr>
            <a:picLocks noChangeAspect="1"/>
          </p:cNvPicPr>
          <p:nvPr/>
        </p:nvPicPr>
        <p:blipFill>
          <a:blip r:embed="rId5"/>
          <a:stretch>
            <a:fillRect/>
          </a:stretch>
        </p:blipFill>
        <p:spPr>
          <a:xfrm>
            <a:off x="6201827" y="1739555"/>
            <a:ext cx="361371" cy="361371"/>
          </a:xfrm>
          <a:prstGeom prst="rect">
            <a:avLst/>
          </a:prstGeom>
        </p:spPr>
      </p:pic>
      <p:sp>
        <p:nvSpPr>
          <p:cNvPr id="23" name="Text 15"/>
          <p:cNvSpPr txBox="1"/>
          <p:nvPr/>
        </p:nvSpPr>
        <p:spPr>
          <a:xfrm>
            <a:off x="59893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Intent Lock™</a:t>
            </a:r>
            <a:endParaRPr lang="en-US" sz="1300" dirty="0"/>
          </a:p>
        </p:txBody>
      </p:sp>
      <p:sp>
        <p:nvSpPr>
          <p:cNvPr id="24" name="Text 16"/>
          <p:cNvSpPr txBox="1"/>
          <p:nvPr/>
        </p:nvSpPr>
        <p:spPr>
          <a:xfrm>
            <a:off x="59893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Guarantees suggested fixes preserve marketing hook.</a:t>
            </a:r>
            <a:endParaRPr lang="en-US" sz="1000" dirty="0"/>
          </a:p>
        </p:txBody>
      </p:sp>
      <p:sp>
        <p:nvSpPr>
          <p:cNvPr id="25" name="Shape 17"/>
          <p:cNvSpPr/>
          <p:nvPr/>
        </p:nvSpPr>
        <p:spPr>
          <a:xfrm>
            <a:off x="7406640" y="1572768"/>
            <a:ext cx="694944" cy="694944"/>
          </a:xfrm>
          <a:prstGeom prst="ellipse">
            <a:avLst/>
          </a:prstGeom>
          <a:solidFill>
            <a:srgbClr val="FFFFFF"/>
          </a:solidFill>
          <a:ln w="22225">
            <a:solidFill>
              <a:srgbClr val="111111"/>
            </a:solidFill>
            <a:prstDash val="solid"/>
          </a:ln>
        </p:spPr>
      </p:sp>
      <p:pic>
        <p:nvPicPr>
          <p:cNvPr id="26" name="Image 5" descr="preencoded.png">    </p:cNvPr>
          <p:cNvPicPr>
            <a:picLocks noChangeAspect="1"/>
          </p:cNvPicPr>
          <p:nvPr/>
        </p:nvPicPr>
        <p:blipFill>
          <a:blip r:embed="rId6"/>
          <a:stretch>
            <a:fillRect/>
          </a:stretch>
        </p:blipFill>
        <p:spPr>
          <a:xfrm>
            <a:off x="7573427" y="1739555"/>
            <a:ext cx="361371" cy="361371"/>
          </a:xfrm>
          <a:prstGeom prst="rect">
            <a:avLst/>
          </a:prstGeom>
        </p:spPr>
      </p:pic>
      <p:sp>
        <p:nvSpPr>
          <p:cNvPr id="27" name="Text 18"/>
          <p:cNvSpPr txBox="1"/>
          <p:nvPr/>
        </p:nvSpPr>
        <p:spPr>
          <a:xfrm>
            <a:off x="73609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Publish Passport</a:t>
            </a:r>
            <a:endParaRPr lang="en-US" sz="1300" dirty="0"/>
          </a:p>
        </p:txBody>
      </p:sp>
      <p:sp>
        <p:nvSpPr>
          <p:cNvPr id="28" name="Text 19"/>
          <p:cNvSpPr txBox="1"/>
          <p:nvPr/>
        </p:nvSpPr>
        <p:spPr>
          <a:xfrm>
            <a:off x="73609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Reviewer signs off; computes SHA-256 tamper seal.</a:t>
            </a:r>
            <a:endParaRPr lang="en-US" sz="1000" dirty="0"/>
          </a:p>
        </p:txBody>
      </p:sp>
      <p:sp>
        <p:nvSpPr>
          <p:cNvPr id="29" name="Text 20"/>
          <p:cNvSpPr txBox="1"/>
          <p:nvPr/>
        </p:nvSpPr>
        <p:spPr>
          <a:xfrm>
            <a:off x="548640" y="3703320"/>
            <a:ext cx="8046720" cy="411480"/>
          </a:xfrm>
          <a:prstGeom prst="rect">
            <a:avLst/>
          </a:prstGeom>
          <a:noFill/>
          <a:ln/>
        </p:spPr>
        <p:txBody>
          <a:bodyPr wrap="square" lIns="0" tIns="0" rIns="0" bIns="0" rtlCol="0" anchor="t"/>
          <a:lstStyle/>
          <a:p>
            <a:pPr algn="l" indent="0" marL="0">
              <a:buNone/>
            </a:pPr>
            <a:r>
              <a:rPr sz="1900" i="1">
                <a:solidFill>
                  <a:srgbClr val="FFD93D"/>
                </a:solidFill>
                <a:latin typeface="Georgia"/>
              </a:rPr>
              <a:t>Steps 2 to 5 take &lt;800ms. Step 6 computes an immutable SHA-256 seal. Humans always decide.</a:t>
            </a:r>
            <a:endParaRPr lang="en-US" sz="1900" dirty="0"/>
          </a:p>
        </p:txBody>
      </p:sp>
      <p:sp>
        <p:nvSpPr>
          <p:cNvPr id="30" name="Text 21"/>
          <p:cNvSpPr txBox="1"/>
          <p:nvPr/>
        </p:nvSpPr>
        <p:spPr>
          <a:xfrm>
            <a:off x="548640" y="4206240"/>
            <a:ext cx="8046720" cy="274320"/>
          </a:xfrm>
          <a:prstGeom prst="rect">
            <a:avLst/>
          </a:prstGeom>
          <a:noFill/>
          <a:ln/>
        </p:spPr>
        <p:txBody>
          <a:bodyPr wrap="square" lIns="0" tIns="0" rIns="0" bIns="0" rtlCol="0" anchor="t"/>
          <a:lstStyle/>
          <a:p>
            <a:pPr algn="l" indent="0" marL="0">
              <a:buNone/>
            </a:pPr>
            <a:r>
              <a:rPr sz="1150">
                <a:solidFill>
                  <a:srgbClr val="FFFFFF"/>
                </a:solidFill>
                <a:latin typeface="Arial"/>
              </a:rPr>
              <a:t>Value: 100% pre-publication safety, cryptographic audit proof, and zero AI sterilization.</a:t>
            </a:r>
            <a:endParaRPr lang="en-US" sz="11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sz="2800" b="1">
                <a:solidFill>
                  <a:srgbClr val="111111"/>
                </a:solidFill>
                <a:latin typeface="Georgia"/>
              </a:rPr>
              <a:t>Core features: Round 3 production platform</a:t>
            </a:r>
            <a:endParaRPr lang="en-US" sz="2800" dirty="0"/>
          </a:p>
        </p:txBody>
      </p:sp>
      <p:sp>
        <p:nvSpPr>
          <p:cNvPr id="4" name="Shape 1"/>
          <p:cNvSpPr/>
          <p:nvPr/>
        </p:nvSpPr>
        <p:spPr>
          <a:xfrm>
            <a:off x="612648" y="1344168"/>
            <a:ext cx="2560320" cy="1417320"/>
          </a:xfrm>
          <a:prstGeom prst="rect">
            <a:avLst/>
          </a:prstGeom>
          <a:solidFill>
            <a:srgbClr val="111111"/>
          </a:solidFill>
          <a:ln w="6350">
            <a:solidFill>
              <a:srgbClr val="111111"/>
            </a:solidFill>
            <a:prstDash val="solid"/>
          </a:ln>
        </p:spPr>
      </p:sp>
      <p:sp>
        <p:nvSpPr>
          <p:cNvPr id="5" name="Shape 2"/>
          <p:cNvSpPr/>
          <p:nvPr/>
        </p:nvSpPr>
        <p:spPr>
          <a:xfrm>
            <a:off x="548640" y="1280160"/>
            <a:ext cx="2560320" cy="1417320"/>
          </a:xfrm>
          <a:prstGeom prst="rect">
            <a:avLst/>
          </a:prstGeom>
          <a:solidFill>
            <a:srgbClr val="FFD93D"/>
          </a:solidFill>
          <a:ln w="22225">
            <a:solidFill>
              <a:srgbClr val="111111"/>
            </a:solidFill>
            <a:prstDash val="solid"/>
          </a:ln>
        </p:spPr>
      </p:sp>
      <p:sp>
        <p:nvSpPr>
          <p:cNvPr id="6" name="Shape 3"/>
          <p:cNvSpPr/>
          <p:nvPr/>
        </p:nvSpPr>
        <p:spPr>
          <a:xfrm>
            <a:off x="685800" y="1417320"/>
            <a:ext cx="475488" cy="475488"/>
          </a:xfrm>
          <a:prstGeom prst="ellipse">
            <a:avLst/>
          </a:prstGeom>
          <a:solidFill>
            <a:srgbClr val="FFFFFF"/>
          </a:solidFill>
          <a:ln w="22225">
            <a:solidFill>
              <a:srgbClr val="111111"/>
            </a:solidFill>
            <a:prstDash val="solid"/>
          </a:ln>
        </p:spPr>
      </p:sp>
      <p:pic>
        <p:nvPicPr>
          <p:cNvPr id="7" name="Image 0" descr="preencoded.png">    </p:cNvPr>
          <p:cNvPicPr>
            <a:picLocks noChangeAspect="1"/>
          </p:cNvPicPr>
          <p:nvPr/>
        </p:nvPicPr>
        <p:blipFill>
          <a:blip r:embed="rId1"/>
          <a:stretch>
            <a:fillRect/>
          </a:stretch>
        </p:blipFill>
        <p:spPr>
          <a:xfrm>
            <a:off x="799917" y="1531437"/>
            <a:ext cx="247254" cy="247254"/>
          </a:xfrm>
          <a:prstGeom prst="rect">
            <a:avLst/>
          </a:prstGeom>
        </p:spPr>
      </p:pic>
      <p:sp>
        <p:nvSpPr>
          <p:cNvPr id="8" name="Text 4"/>
          <p:cNvSpPr txBox="1"/>
          <p:nvPr/>
        </p:nvSpPr>
        <p:spPr>
          <a:xfrm>
            <a:off x="1280160" y="1417320"/>
            <a:ext cx="1737360" cy="475488"/>
          </a:xfrm>
          <a:prstGeom prst="rect">
            <a:avLst/>
          </a:prstGeom>
          <a:noFill/>
          <a:ln/>
        </p:spPr>
        <p:txBody>
          <a:bodyPr wrap="square" lIns="0" tIns="0" rIns="0" bIns="0" rtlCol="0" anchor="ctr"/>
          <a:lstStyle/>
          <a:p>
            <a:pPr algn="l" indent="0" marL="0">
              <a:buNone/>
            </a:pPr>
            <a:r>
              <a:rPr lang="en-US" sz="1350" b="1" dirty="0">
                <a:solidFill>
                  <a:srgbClr val="111111"/>
                </a:solidFill>
                <a:latin typeface="Georgia" pitchFamily="34" charset="0"/>
                <a:ea typeface="Georgia" pitchFamily="34" charset="-122"/>
                <a:cs typeface="Georgia" pitchFamily="34" charset="-120"/>
              </a:rPr>
              <a:t>Brand Constitution</a:t>
            </a:r>
            <a:endParaRPr lang="en-US" sz="1350" dirty="0"/>
          </a:p>
        </p:txBody>
      </p:sp>
      <p:sp>
        <p:nvSpPr>
          <p:cNvPr id="9" name="Text 5"/>
          <p:cNvSpPr txBox="1"/>
          <p:nvPr/>
        </p:nvSpPr>
        <p:spPr>
          <a:xfrm>
            <a:off x="685800" y="20299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Live rules with ON/OFF toggles, Brand Book citations, and session scoping.</a:t>
            </a:r>
            <a:endParaRPr lang="en-US" sz="1050" dirty="0"/>
          </a:p>
        </p:txBody>
      </p:sp>
      <p:sp>
        <p:nvSpPr>
          <p:cNvPr id="10" name="Shape 6"/>
          <p:cNvSpPr/>
          <p:nvPr/>
        </p:nvSpPr>
        <p:spPr>
          <a:xfrm>
            <a:off x="3355848" y="1344168"/>
            <a:ext cx="2560320" cy="1417320"/>
          </a:xfrm>
          <a:prstGeom prst="rect">
            <a:avLst/>
          </a:prstGeom>
          <a:solidFill>
            <a:srgbClr val="111111"/>
          </a:solidFill>
          <a:ln w="6350">
            <a:solidFill>
              <a:srgbClr val="111111"/>
            </a:solidFill>
            <a:prstDash val="solid"/>
          </a:ln>
        </p:spPr>
      </p:sp>
      <p:sp>
        <p:nvSpPr>
          <p:cNvPr id="11" name="Shape 7"/>
          <p:cNvSpPr/>
          <p:nvPr/>
        </p:nvSpPr>
        <p:spPr>
          <a:xfrm>
            <a:off x="3291840" y="1280160"/>
            <a:ext cx="2560320" cy="1417320"/>
          </a:xfrm>
          <a:prstGeom prst="rect">
            <a:avLst/>
          </a:prstGeom>
          <a:solidFill>
            <a:srgbClr val="6EE7B7"/>
          </a:solidFill>
          <a:ln w="22225">
            <a:solidFill>
              <a:srgbClr val="111111"/>
            </a:solidFill>
            <a:prstDash val="solid"/>
          </a:ln>
        </p:spPr>
      </p:sp>
      <p:sp>
        <p:nvSpPr>
          <p:cNvPr id="12" name="Shape 8"/>
          <p:cNvSpPr/>
          <p:nvPr/>
        </p:nvSpPr>
        <p:spPr>
          <a:xfrm>
            <a:off x="3429000" y="1417320"/>
            <a:ext cx="475488" cy="475488"/>
          </a:xfrm>
          <a:prstGeom prst="ellipse">
            <a:avLst/>
          </a:prstGeom>
          <a:solidFill>
            <a:srgbClr val="FFFFFF"/>
          </a:solidFill>
          <a:ln w="22225">
            <a:solidFill>
              <a:srgbClr val="111111"/>
            </a:solidFill>
            <a:prstDash val="solid"/>
          </a:ln>
        </p:spPr>
      </p:sp>
      <p:pic>
        <p:nvPicPr>
          <p:cNvPr id="13" name="Image 1" descr="preencoded.png">    </p:cNvPr>
          <p:cNvPicPr>
            <a:picLocks noChangeAspect="1"/>
          </p:cNvPicPr>
          <p:nvPr/>
        </p:nvPicPr>
        <p:blipFill>
          <a:blip r:embed="rId2"/>
          <a:stretch>
            <a:fillRect/>
          </a:stretch>
        </p:blipFill>
        <p:spPr>
          <a:xfrm>
            <a:off x="3543117" y="1531437"/>
            <a:ext cx="247254" cy="247254"/>
          </a:xfrm>
          <a:prstGeom prst="rect">
            <a:avLst/>
          </a:prstGeom>
        </p:spPr>
      </p:pic>
      <p:sp>
        <p:nvSpPr>
          <p:cNvPr id="14" name="Text 9"/>
          <p:cNvSpPr txBox="1"/>
          <p:nvPr/>
        </p:nvSpPr>
        <p:spPr>
          <a:xfrm>
            <a:off x="4023360" y="14173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Vector Claim Ledger™</a:t>
            </a:r>
            <a:endParaRPr lang="en-US" sz="1350" dirty="0"/>
          </a:p>
        </p:txBody>
      </p:sp>
      <p:sp>
        <p:nvSpPr>
          <p:cNvPr id="15" name="Text 10"/>
          <p:cNvSpPr txBox="1"/>
          <p:nvPr/>
        </p:nvSpPr>
        <p:spPr>
          <a:xfrm>
            <a:off x="3429000" y="20299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BAAI/bge-small-en-v1.5 dense cosine similarity with digit conflict guard.</a:t>
            </a:r>
            <a:endParaRPr lang="en-US" sz="1050" dirty="0"/>
          </a:p>
        </p:txBody>
      </p:sp>
      <p:sp>
        <p:nvSpPr>
          <p:cNvPr id="16" name="Shape 11"/>
          <p:cNvSpPr/>
          <p:nvPr/>
        </p:nvSpPr>
        <p:spPr>
          <a:xfrm>
            <a:off x="6099048" y="1344168"/>
            <a:ext cx="2560320" cy="1417320"/>
          </a:xfrm>
          <a:prstGeom prst="rect">
            <a:avLst/>
          </a:prstGeom>
          <a:solidFill>
            <a:srgbClr val="111111"/>
          </a:solidFill>
          <a:ln w="6350">
            <a:solidFill>
              <a:srgbClr val="111111"/>
            </a:solidFill>
            <a:prstDash val="solid"/>
          </a:ln>
        </p:spPr>
      </p:sp>
      <p:sp>
        <p:nvSpPr>
          <p:cNvPr id="17" name="Shape 12"/>
          <p:cNvSpPr/>
          <p:nvPr/>
        </p:nvSpPr>
        <p:spPr>
          <a:xfrm>
            <a:off x="6035040" y="1280160"/>
            <a:ext cx="2560320" cy="1417320"/>
          </a:xfrm>
          <a:prstGeom prst="rect">
            <a:avLst/>
          </a:prstGeom>
          <a:solidFill>
            <a:srgbClr val="FF9EDB"/>
          </a:solidFill>
          <a:ln w="22225">
            <a:solidFill>
              <a:srgbClr val="111111"/>
            </a:solidFill>
            <a:prstDash val="solid"/>
          </a:ln>
        </p:spPr>
      </p:sp>
      <p:sp>
        <p:nvSpPr>
          <p:cNvPr id="18" name="Shape 13"/>
          <p:cNvSpPr/>
          <p:nvPr/>
        </p:nvSpPr>
        <p:spPr>
          <a:xfrm>
            <a:off x="6172200" y="1417320"/>
            <a:ext cx="475488" cy="475488"/>
          </a:xfrm>
          <a:prstGeom prst="ellipse">
            <a:avLst/>
          </a:prstGeom>
          <a:solidFill>
            <a:srgbClr val="FFFFFF"/>
          </a:solidFill>
          <a:ln w="22225">
            <a:solidFill>
              <a:srgbClr val="111111"/>
            </a:solidFill>
            <a:prstDash val="solid"/>
          </a:ln>
        </p:spPr>
      </p:sp>
      <p:pic>
        <p:nvPicPr>
          <p:cNvPr id="19" name="Image 2" descr="preencoded.png">    </p:cNvPr>
          <p:cNvPicPr>
            <a:picLocks noChangeAspect="1"/>
          </p:cNvPicPr>
          <p:nvPr/>
        </p:nvPicPr>
        <p:blipFill>
          <a:blip r:embed="rId3"/>
          <a:stretch>
            <a:fillRect/>
          </a:stretch>
        </p:blipFill>
        <p:spPr>
          <a:xfrm>
            <a:off x="6286317" y="1531437"/>
            <a:ext cx="247254" cy="247254"/>
          </a:xfrm>
          <a:prstGeom prst="rect">
            <a:avLst/>
          </a:prstGeom>
        </p:spPr>
      </p:pic>
      <p:sp>
        <p:nvSpPr>
          <p:cNvPr id="20" name="Text 14"/>
          <p:cNvSpPr txBox="1"/>
          <p:nvPr/>
        </p:nvSpPr>
        <p:spPr>
          <a:xfrm>
            <a:off x="6766560" y="14173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Asset Vision Engine</a:t>
            </a:r>
            <a:endParaRPr lang="en-US" sz="1350" dirty="0"/>
          </a:p>
        </p:txBody>
      </p:sp>
      <p:sp>
        <p:nvSpPr>
          <p:cNvPr id="21" name="Text 15"/>
          <p:cNvSpPr txBox="1"/>
          <p:nvPr/>
        </p:nvSpPr>
        <p:spPr>
          <a:xfrm>
            <a:off x="6172200" y="20299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16-bin brand palette tokenization, WCAG 2.1 AA contrast, and safe zones.</a:t>
            </a:r>
            <a:endParaRPr lang="en-US" sz="1050" dirty="0"/>
          </a:p>
        </p:txBody>
      </p:sp>
      <p:sp>
        <p:nvSpPr>
          <p:cNvPr id="22" name="Shape 16"/>
          <p:cNvSpPr/>
          <p:nvPr/>
        </p:nvSpPr>
        <p:spPr>
          <a:xfrm>
            <a:off x="612648" y="2944368"/>
            <a:ext cx="2560320" cy="1417320"/>
          </a:xfrm>
          <a:prstGeom prst="rect">
            <a:avLst/>
          </a:prstGeom>
          <a:solidFill>
            <a:srgbClr val="111111"/>
          </a:solidFill>
          <a:ln w="6350">
            <a:solidFill>
              <a:srgbClr val="111111"/>
            </a:solidFill>
            <a:prstDash val="solid"/>
          </a:ln>
        </p:spPr>
      </p:sp>
      <p:sp>
        <p:nvSpPr>
          <p:cNvPr id="23" name="Shape 17"/>
          <p:cNvSpPr/>
          <p:nvPr/>
        </p:nvSpPr>
        <p:spPr>
          <a:xfrm>
            <a:off x="548640" y="2880360"/>
            <a:ext cx="2560320" cy="1417320"/>
          </a:xfrm>
          <a:prstGeom prst="rect">
            <a:avLst/>
          </a:prstGeom>
          <a:solidFill>
            <a:srgbClr val="9DB0FF"/>
          </a:solidFill>
          <a:ln w="22225">
            <a:solidFill>
              <a:srgbClr val="111111"/>
            </a:solidFill>
            <a:prstDash val="solid"/>
          </a:ln>
        </p:spPr>
      </p:sp>
      <p:sp>
        <p:nvSpPr>
          <p:cNvPr id="24" name="Shape 18"/>
          <p:cNvSpPr/>
          <p:nvPr/>
        </p:nvSpPr>
        <p:spPr>
          <a:xfrm>
            <a:off x="685800" y="3017520"/>
            <a:ext cx="475488" cy="475488"/>
          </a:xfrm>
          <a:prstGeom prst="ellipse">
            <a:avLst/>
          </a:prstGeom>
          <a:solidFill>
            <a:srgbClr val="FFFFFF"/>
          </a:solidFill>
          <a:ln w="22225">
            <a:solidFill>
              <a:srgbClr val="111111"/>
            </a:solidFill>
            <a:prstDash val="solid"/>
          </a:ln>
        </p:spPr>
      </p:sp>
      <p:pic>
        <p:nvPicPr>
          <p:cNvPr id="25" name="Image 3" descr="preencoded.png">    </p:cNvPr>
          <p:cNvPicPr>
            <a:picLocks noChangeAspect="1"/>
          </p:cNvPicPr>
          <p:nvPr/>
        </p:nvPicPr>
        <p:blipFill>
          <a:blip r:embed="rId4"/>
          <a:stretch>
            <a:fillRect/>
          </a:stretch>
        </p:blipFill>
        <p:spPr>
          <a:xfrm>
            <a:off x="799917" y="3131637"/>
            <a:ext cx="247254" cy="247254"/>
          </a:xfrm>
          <a:prstGeom prst="rect">
            <a:avLst/>
          </a:prstGeom>
        </p:spPr>
      </p:pic>
      <p:sp>
        <p:nvSpPr>
          <p:cNvPr id="26" name="Text 19"/>
          <p:cNvSpPr txBox="1"/>
          <p:nvPr/>
        </p:nvSpPr>
        <p:spPr>
          <a:xfrm>
            <a:off x="1280160" y="30175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Client Extensions</a:t>
            </a:r>
            <a:endParaRPr lang="en-US" sz="1350" dirty="0"/>
          </a:p>
        </p:txBody>
      </p:sp>
      <p:sp>
        <p:nvSpPr>
          <p:cNvPr id="27" name="Text 20"/>
          <p:cNvSpPr txBox="1"/>
          <p:nvPr/>
        </p:nvSpPr>
        <p:spPr>
          <a:xfrm>
            <a:off x="685800" y="36301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Chromium Manifest V3 extension, native Figma plugin &amp; web sandbox.</a:t>
            </a:r>
            <a:endParaRPr lang="en-US" sz="1050" dirty="0"/>
          </a:p>
        </p:txBody>
      </p:sp>
      <p:sp>
        <p:nvSpPr>
          <p:cNvPr id="28" name="Shape 21"/>
          <p:cNvSpPr/>
          <p:nvPr/>
        </p:nvSpPr>
        <p:spPr>
          <a:xfrm>
            <a:off x="3355848" y="2944368"/>
            <a:ext cx="2560320" cy="1417320"/>
          </a:xfrm>
          <a:prstGeom prst="rect">
            <a:avLst/>
          </a:prstGeom>
          <a:solidFill>
            <a:srgbClr val="111111"/>
          </a:solidFill>
          <a:ln w="6350">
            <a:solidFill>
              <a:srgbClr val="111111"/>
            </a:solidFill>
            <a:prstDash val="solid"/>
          </a:ln>
        </p:spPr>
      </p:sp>
      <p:sp>
        <p:nvSpPr>
          <p:cNvPr id="29" name="Shape 22"/>
          <p:cNvSpPr/>
          <p:nvPr/>
        </p:nvSpPr>
        <p:spPr>
          <a:xfrm>
            <a:off x="3291840" y="2880360"/>
            <a:ext cx="2560320" cy="1417320"/>
          </a:xfrm>
          <a:prstGeom prst="rect">
            <a:avLst/>
          </a:prstGeom>
          <a:solidFill>
            <a:srgbClr val="FFD93D"/>
          </a:solidFill>
          <a:ln w="22225">
            <a:solidFill>
              <a:srgbClr val="111111"/>
            </a:solidFill>
            <a:prstDash val="solid"/>
          </a:ln>
        </p:spPr>
      </p:sp>
      <p:sp>
        <p:nvSpPr>
          <p:cNvPr id="30" name="Shape 23"/>
          <p:cNvSpPr/>
          <p:nvPr/>
        </p:nvSpPr>
        <p:spPr>
          <a:xfrm>
            <a:off x="3429000" y="3017520"/>
            <a:ext cx="475488" cy="475488"/>
          </a:xfrm>
          <a:prstGeom prst="ellipse">
            <a:avLst/>
          </a:prstGeom>
          <a:solidFill>
            <a:srgbClr val="FFFFFF"/>
          </a:solidFill>
          <a:ln w="22225">
            <a:solidFill>
              <a:srgbClr val="111111"/>
            </a:solidFill>
            <a:prstDash val="solid"/>
          </a:ln>
        </p:spPr>
      </p:sp>
      <p:pic>
        <p:nvPicPr>
          <p:cNvPr id="31" name="Image 4" descr="preencoded.png">    </p:cNvPr>
          <p:cNvPicPr>
            <a:picLocks noChangeAspect="1"/>
          </p:cNvPicPr>
          <p:nvPr/>
        </p:nvPicPr>
        <p:blipFill>
          <a:blip r:embed="rId5"/>
          <a:stretch>
            <a:fillRect/>
          </a:stretch>
        </p:blipFill>
        <p:spPr>
          <a:xfrm>
            <a:off x="3543117" y="3131637"/>
            <a:ext cx="247254" cy="247254"/>
          </a:xfrm>
          <a:prstGeom prst="rect">
            <a:avLst/>
          </a:prstGeom>
        </p:spPr>
      </p:pic>
      <p:sp>
        <p:nvSpPr>
          <p:cNvPr id="32" name="Text 24"/>
          <p:cNvSpPr txBox="1"/>
          <p:nvPr/>
        </p:nvSpPr>
        <p:spPr>
          <a:xfrm>
            <a:off x="4023360" y="30175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Reviewer Queue</a:t>
            </a:r>
            <a:endParaRPr lang="en-US" sz="1350" dirty="0"/>
          </a:p>
        </p:txBody>
      </p:sp>
      <p:sp>
        <p:nvSpPr>
          <p:cNvPr id="33" name="Text 25"/>
          <p:cNvSpPr txBox="1"/>
          <p:nvPr/>
        </p:nvSpPr>
        <p:spPr>
          <a:xfrm>
            <a:off x="3429000" y="36301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Side-by-side diffs, Intent Lock badges, and editorial feedback notes.</a:t>
            </a:r>
            <a:endParaRPr lang="en-US" sz="1050" dirty="0"/>
          </a:p>
        </p:txBody>
      </p:sp>
      <p:sp>
        <p:nvSpPr>
          <p:cNvPr id="34" name="Shape 26"/>
          <p:cNvSpPr/>
          <p:nvPr/>
        </p:nvSpPr>
        <p:spPr>
          <a:xfrm>
            <a:off x="6099048" y="2944368"/>
            <a:ext cx="2560320" cy="1417320"/>
          </a:xfrm>
          <a:prstGeom prst="rect">
            <a:avLst/>
          </a:prstGeom>
          <a:solidFill>
            <a:srgbClr val="111111"/>
          </a:solidFill>
          <a:ln w="6350">
            <a:solidFill>
              <a:srgbClr val="111111"/>
            </a:solidFill>
            <a:prstDash val="solid"/>
          </a:ln>
        </p:spPr>
      </p:sp>
      <p:sp>
        <p:nvSpPr>
          <p:cNvPr id="35" name="Shape 27"/>
          <p:cNvSpPr/>
          <p:nvPr/>
        </p:nvSpPr>
        <p:spPr>
          <a:xfrm>
            <a:off x="6035040" y="2880360"/>
            <a:ext cx="2560320" cy="1417320"/>
          </a:xfrm>
          <a:prstGeom prst="rect">
            <a:avLst/>
          </a:prstGeom>
          <a:solidFill>
            <a:srgbClr val="6EE7B7"/>
          </a:solidFill>
          <a:ln w="22225">
            <a:solidFill>
              <a:srgbClr val="111111"/>
            </a:solidFill>
            <a:prstDash val="solid"/>
          </a:ln>
        </p:spPr>
      </p:sp>
      <p:sp>
        <p:nvSpPr>
          <p:cNvPr id="36" name="Shape 28"/>
          <p:cNvSpPr/>
          <p:nvPr/>
        </p:nvSpPr>
        <p:spPr>
          <a:xfrm>
            <a:off x="6172200" y="3017520"/>
            <a:ext cx="475488" cy="475488"/>
          </a:xfrm>
          <a:prstGeom prst="ellipse">
            <a:avLst/>
          </a:prstGeom>
          <a:solidFill>
            <a:srgbClr val="FFFFFF"/>
          </a:solidFill>
          <a:ln w="22225">
            <a:solidFill>
              <a:srgbClr val="111111"/>
            </a:solidFill>
            <a:prstDash val="solid"/>
          </a:ln>
        </p:spPr>
      </p:sp>
      <p:pic>
        <p:nvPicPr>
          <p:cNvPr id="37" name="Image 5" descr="preencoded.png">    </p:cNvPr>
          <p:cNvPicPr>
            <a:picLocks noChangeAspect="1"/>
          </p:cNvPicPr>
          <p:nvPr/>
        </p:nvPicPr>
        <p:blipFill>
          <a:blip r:embed="rId6"/>
          <a:stretch>
            <a:fillRect/>
          </a:stretch>
        </p:blipFill>
        <p:spPr>
          <a:xfrm>
            <a:off x="6286317" y="3131637"/>
            <a:ext cx="247254" cy="247254"/>
          </a:xfrm>
          <a:prstGeom prst="rect">
            <a:avLst/>
          </a:prstGeom>
        </p:spPr>
      </p:pic>
      <p:sp>
        <p:nvSpPr>
          <p:cNvPr id="38" name="Text 29"/>
          <p:cNvSpPr txBox="1"/>
          <p:nvPr/>
        </p:nvSpPr>
        <p:spPr>
          <a:xfrm>
            <a:off x="6766560" y="30175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Publish Passport</a:t>
            </a:r>
            <a:endParaRPr lang="en-US" sz="1350" dirty="0"/>
          </a:p>
        </p:txBody>
      </p:sp>
      <p:sp>
        <p:nvSpPr>
          <p:cNvPr id="39" name="Text 30"/>
          <p:cNvSpPr txBox="1"/>
          <p:nvPr/>
        </p:nvSpPr>
        <p:spPr>
          <a:xfrm>
            <a:off x="6172200" y="3630168"/>
            <a:ext cx="1417320" cy="640080"/>
          </a:xfrm>
          <a:prstGeom prst="rect">
            <a:avLst/>
          </a:prstGeom>
          <a:noFill/>
          <a:ln/>
        </p:spPr>
        <p:txBody>
          <a:bodyPr wrap="square" lIns="0" tIns="0" rIns="0" bIns="0" rtlCol="0" anchor="t"/>
          <a:lstStyle/>
          <a:p>
            <a:pPr algn="l" indent="0" marL="0">
              <a:buNone/>
            </a:pPr>
            <a:r>
              <a:rPr sz="1000">
                <a:solidFill>
                  <a:srgbClr val="111111"/>
                </a:solidFill>
                <a:latin typeface="Arial"/>
              </a:rPr>
              <a:t>Cryptographic SHA-256 seal with interactive real-time Tamper Simulator.</a:t>
            </a:r>
            <a:endParaRPr lang="en-US" sz="1000" dirty="0"/>
          </a:p>
        </p:txBody>
      </p:sp>
      <p:sp>
        <p:nvSpPr>
          <p:cNvPr id="40" name="Shape 31"/>
          <p:cNvSpPr/>
          <p:nvPr/>
        </p:nvSpPr>
        <p:spPr>
          <a:xfrm>
            <a:off x="7726680" y="3611880"/>
            <a:ext cx="128016" cy="566928"/>
          </a:xfrm>
          <a:prstGeom prst="rect">
            <a:avLst/>
          </a:prstGeom>
          <a:solidFill>
            <a:srgbClr val="FFD93D"/>
          </a:solidFill>
          <a:ln w="15875">
            <a:solidFill>
              <a:srgbClr val="111111"/>
            </a:solidFill>
            <a:prstDash val="solid"/>
          </a:ln>
        </p:spPr>
      </p:sp>
      <p:sp>
        <p:nvSpPr>
          <p:cNvPr id="41" name="Shape 32"/>
          <p:cNvSpPr/>
          <p:nvPr/>
        </p:nvSpPr>
        <p:spPr>
          <a:xfrm>
            <a:off x="7909560" y="3767328"/>
            <a:ext cx="128016" cy="411480"/>
          </a:xfrm>
          <a:prstGeom prst="rect">
            <a:avLst/>
          </a:prstGeom>
          <a:solidFill>
            <a:srgbClr val="FF9EDB"/>
          </a:solidFill>
          <a:ln w="15875">
            <a:solidFill>
              <a:srgbClr val="111111"/>
            </a:solidFill>
            <a:prstDash val="solid"/>
          </a:ln>
        </p:spPr>
      </p:sp>
      <p:sp>
        <p:nvSpPr>
          <p:cNvPr id="42" name="Shape 33"/>
          <p:cNvSpPr/>
          <p:nvPr/>
        </p:nvSpPr>
        <p:spPr>
          <a:xfrm>
            <a:off x="8092440" y="3867912"/>
            <a:ext cx="128016" cy="310896"/>
          </a:xfrm>
          <a:prstGeom prst="rect">
            <a:avLst/>
          </a:prstGeom>
          <a:solidFill>
            <a:srgbClr val="9DB0FF"/>
          </a:solidFill>
          <a:ln w="15875">
            <a:solidFill>
              <a:srgbClr val="111111"/>
            </a:solidFill>
            <a:prstDash val="solid"/>
          </a:ln>
        </p:spPr>
      </p:sp>
      <p:sp>
        <p:nvSpPr>
          <p:cNvPr id="43" name="Shape 34"/>
          <p:cNvSpPr/>
          <p:nvPr/>
        </p:nvSpPr>
        <p:spPr>
          <a:xfrm>
            <a:off x="8275320" y="3977640"/>
            <a:ext cx="128016" cy="201168"/>
          </a:xfrm>
          <a:prstGeom prst="rect">
            <a:avLst/>
          </a:prstGeom>
          <a:solidFill>
            <a:srgbClr val="FFFFFF"/>
          </a:solidFill>
          <a:ln w="15875">
            <a:solidFill>
              <a:srgbClr val="111111"/>
            </a:solidFill>
            <a:prstDash val="solid"/>
          </a:ln>
        </p:spPr>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Three ideas that set Verity apart</a:t>
            </a:r>
            <a:endParaRPr lang="en-US" sz="2800" dirty="0"/>
          </a:p>
        </p:txBody>
      </p:sp>
      <p:sp>
        <p:nvSpPr>
          <p:cNvPr id="4" name="Shape 1"/>
          <p:cNvSpPr/>
          <p:nvPr/>
        </p:nvSpPr>
        <p:spPr>
          <a:xfrm>
            <a:off x="612648" y="1344168"/>
            <a:ext cx="2560320" cy="2926080"/>
          </a:xfrm>
          <a:prstGeom prst="rect">
            <a:avLst/>
          </a:prstGeom>
          <a:solidFill>
            <a:srgbClr val="111111"/>
          </a:solidFill>
          <a:ln w="6350">
            <a:solidFill>
              <a:srgbClr val="111111"/>
            </a:solidFill>
            <a:prstDash val="solid"/>
          </a:ln>
        </p:spPr>
      </p:sp>
      <p:sp>
        <p:nvSpPr>
          <p:cNvPr id="5" name="Shape 2"/>
          <p:cNvSpPr/>
          <p:nvPr/>
        </p:nvSpPr>
        <p:spPr>
          <a:xfrm>
            <a:off x="548640" y="1280160"/>
            <a:ext cx="2560320" cy="2926080"/>
          </a:xfrm>
          <a:prstGeom prst="rect">
            <a:avLst/>
          </a:prstGeom>
          <a:solidFill>
            <a:srgbClr val="FFFFFF"/>
          </a:solidFill>
          <a:ln w="22225">
            <a:solidFill>
              <a:srgbClr val="111111"/>
            </a:solidFill>
            <a:prstDash val="solid"/>
          </a:ln>
        </p:spPr>
      </p:sp>
      <p:sp>
        <p:nvSpPr>
          <p:cNvPr id="6" name="Shape 3"/>
          <p:cNvSpPr/>
          <p:nvPr/>
        </p:nvSpPr>
        <p:spPr>
          <a:xfrm>
            <a:off x="548640" y="1280160"/>
            <a:ext cx="2560320" cy="685800"/>
          </a:xfrm>
          <a:prstGeom prst="rect">
            <a:avLst/>
          </a:prstGeom>
          <a:solidFill>
            <a:srgbClr val="FFD93D"/>
          </a:solidFill>
          <a:ln w="22225">
            <a:solidFill>
              <a:srgbClr val="111111"/>
            </a:solidFill>
            <a:prstDash val="solid"/>
          </a:ln>
        </p:spPr>
      </p:sp>
      <p:sp>
        <p:nvSpPr>
          <p:cNvPr id="7" name="Shape 4"/>
          <p:cNvSpPr/>
          <p:nvPr/>
        </p:nvSpPr>
        <p:spPr>
          <a:xfrm>
            <a:off x="685800" y="1371600"/>
            <a:ext cx="502920" cy="502920"/>
          </a:xfrm>
          <a:prstGeom prst="ellipse">
            <a:avLst/>
          </a:prstGeom>
          <a:solidFill>
            <a:srgbClr val="FFFFFF"/>
          </a:solidFill>
          <a:ln w="22225">
            <a:solidFill>
              <a:srgbClr val="111111"/>
            </a:solidFill>
            <a:prstDash val="solid"/>
          </a:ln>
        </p:spPr>
      </p:sp>
      <p:pic>
        <p:nvPicPr>
          <p:cNvPr id="8" name="Image 0" descr="preencoded.png">    </p:cNvPr>
          <p:cNvPicPr>
            <a:picLocks noChangeAspect="1"/>
          </p:cNvPicPr>
          <p:nvPr/>
        </p:nvPicPr>
        <p:blipFill>
          <a:blip r:embed="rId1"/>
          <a:stretch>
            <a:fillRect/>
          </a:stretch>
        </p:blipFill>
        <p:spPr>
          <a:xfrm>
            <a:off x="806501" y="1492301"/>
            <a:ext cx="261518" cy="261518"/>
          </a:xfrm>
          <a:prstGeom prst="rect">
            <a:avLst/>
          </a:prstGeom>
        </p:spPr>
      </p:pic>
      <p:sp>
        <p:nvSpPr>
          <p:cNvPr id="9" name="Text 5"/>
          <p:cNvSpPr txBox="1"/>
          <p:nvPr/>
        </p:nvSpPr>
        <p:spPr>
          <a:xfrm>
            <a:off x="1325880" y="1280160"/>
            <a:ext cx="1691640" cy="685800"/>
          </a:xfrm>
          <a:prstGeom prst="rect">
            <a:avLst/>
          </a:prstGeom>
          <a:noFill/>
          <a:ln/>
        </p:spPr>
        <p:txBody>
          <a:bodyPr wrap="square" lIns="0" tIns="0" rIns="0" bIns="0" rtlCol="0" anchor="ctr"/>
          <a:lstStyle/>
          <a:p>
            <a:pPr algn="l" indent="0" marL="0">
              <a:buNone/>
            </a:pPr>
            <a:r>
              <a:rPr lang="en-US" sz="1500" b="1" dirty="0">
                <a:solidFill>
                  <a:srgbClr val="111111"/>
                </a:solidFill>
                <a:latin typeface="Georgia" pitchFamily="34" charset="0"/>
                <a:ea typeface="Georgia" pitchFamily="34" charset="-122"/>
                <a:cs typeface="Georgia" pitchFamily="34" charset="-120"/>
              </a:rPr>
              <a:t>Intent Lock</a:t>
            </a:r>
            <a:endParaRPr lang="en-US" sz="1500" dirty="0"/>
          </a:p>
        </p:txBody>
      </p:sp>
      <p:sp>
        <p:nvSpPr>
          <p:cNvPr id="10" name="Text 6"/>
          <p:cNvSpPr txBox="1"/>
          <p:nvPr/>
        </p:nvSpPr>
        <p:spPr>
          <a:xfrm>
            <a:off x="685800" y="2066544"/>
            <a:ext cx="2286000" cy="365760"/>
          </a:xfrm>
          <a:prstGeom prst="rect">
            <a:avLst/>
          </a:prstGeom>
          <a:noFill/>
          <a:ln/>
        </p:spPr>
        <p:txBody>
          <a:bodyPr wrap="square" lIns="0" tIns="0" rIns="0" bIns="0" rtlCol="0" anchor="t"/>
          <a:lstStyle/>
          <a:p>
            <a:pPr algn="l" indent="0" marL="0">
              <a:buNone/>
            </a:pPr>
            <a:r>
              <a:rPr lang="en-US" sz="1000" i="1" dirty="0">
                <a:solidFill>
                  <a:srgbClr val="111111"/>
                </a:solidFill>
                <a:latin typeface="Arial" pitchFamily="34" charset="0"/>
                <a:ea typeface="Arial" pitchFamily="34" charset="-122"/>
                <a:cs typeface="Arial" pitchFamily="34" charset="-120"/>
              </a:rPr>
              <a:t>Rewrites keep what the creator meant.</a:t>
            </a:r>
            <a:endParaRPr lang="en-US" sz="1000" dirty="0"/>
          </a:p>
        </p:txBody>
      </p:sp>
      <p:sp>
        <p:nvSpPr>
          <p:cNvPr id="11" name="Text 7"/>
          <p:cNvSpPr txBox="1"/>
          <p:nvPr/>
        </p:nvSpPr>
        <p:spPr>
          <a:xfrm>
            <a:off x="685800" y="2487168"/>
            <a:ext cx="914400" cy="182880"/>
          </a:xfrm>
          <a:prstGeom prst="rect">
            <a:avLst/>
          </a:prstGeom>
          <a:noFill/>
          <a:ln/>
        </p:spPr>
        <p:txBody>
          <a:bodyPr wrap="square" lIns="0" tIns="0" rIns="0" bIns="0" rtlCol="0" anchor="t"/>
          <a:lstStyle/>
          <a:p>
            <a:pPr algn="l" indent="0" marL="0">
              <a:buNone/>
            </a:pPr>
            <a:r>
              <a:rPr lang="en-US" sz="850" b="1" dirty="0">
                <a:solidFill>
                  <a:srgbClr val="E5484D"/>
                </a:solidFill>
                <a:latin typeface="Courier New" pitchFamily="34" charset="0"/>
                <a:ea typeface="Courier New" pitchFamily="34" charset="-122"/>
                <a:cs typeface="Courier New" pitchFamily="34" charset="-120"/>
              </a:rPr>
              <a:t>BEFORE</a:t>
            </a:r>
            <a:endParaRPr lang="en-US" sz="850" dirty="0"/>
          </a:p>
        </p:txBody>
      </p:sp>
      <p:sp>
        <p:nvSpPr>
          <p:cNvPr id="12" name="Text 8"/>
          <p:cNvSpPr txBox="1"/>
          <p:nvPr/>
        </p:nvSpPr>
        <p:spPr>
          <a:xfrm>
            <a:off x="685800" y="2688336"/>
            <a:ext cx="2286000" cy="640080"/>
          </a:xfrm>
          <a:prstGeom prst="rect">
            <a:avLst/>
          </a:prstGeom>
          <a:noFill/>
          <a:ln/>
        </p:spPr>
        <p:txBody>
          <a:bodyPr wrap="square" lIns="0" tIns="0" rIns="0" bIns="0" rtlCol="0" anchor="t"/>
          <a:lstStyle/>
          <a:p>
            <a:pPr algn="l" indent="0" marL="0">
              <a:buNone/>
            </a:pPr>
            <a:r>
              <a:rPr lang="en-US" sz="1000" dirty="0">
                <a:solidFill>
                  <a:srgbClr val="111111"/>
                </a:solidFill>
                <a:latin typeface="Arial" pitchFamily="34" charset="0"/>
                <a:ea typeface="Arial" pitchFamily="34" charset="-122"/>
                <a:cs typeface="Arial" pitchFamily="34" charset="-120"/>
              </a:rPr>
              <a:t>A plain AI fix turns “Register now!” into “Our app is great.” The call to action is gone.</a:t>
            </a:r>
            <a:endParaRPr lang="en-US" sz="1000" dirty="0"/>
          </a:p>
        </p:txBody>
      </p:sp>
      <p:sp>
        <p:nvSpPr>
          <p:cNvPr id="13" name="Text 9"/>
          <p:cNvSpPr txBox="1"/>
          <p:nvPr/>
        </p:nvSpPr>
        <p:spPr>
          <a:xfrm>
            <a:off x="685800" y="3355848"/>
            <a:ext cx="1371600" cy="182880"/>
          </a:xfrm>
          <a:prstGeom prst="rect">
            <a:avLst/>
          </a:prstGeom>
          <a:noFill/>
          <a:ln/>
        </p:spPr>
        <p:txBody>
          <a:bodyPr wrap="square" lIns="0" tIns="0" rIns="0" bIns="0" rtlCol="0" anchor="t"/>
          <a:lstStyle/>
          <a:p>
            <a:pPr algn="l" indent="0" marL="0">
              <a:buNone/>
            </a:pPr>
            <a:r>
              <a:rPr lang="en-US" sz="850" b="1" dirty="0">
                <a:solidFill>
                  <a:srgbClr val="1F7A55"/>
                </a:solidFill>
                <a:latin typeface="Courier New" pitchFamily="34" charset="0"/>
                <a:ea typeface="Courier New" pitchFamily="34" charset="-122"/>
                <a:cs typeface="Courier New" pitchFamily="34" charset="-120"/>
              </a:rPr>
              <a:t>WITH VERITY</a:t>
            </a:r>
            <a:endParaRPr lang="en-US" sz="850" dirty="0"/>
          </a:p>
        </p:txBody>
      </p:sp>
      <p:sp>
        <p:nvSpPr>
          <p:cNvPr id="14" name="Text 10"/>
          <p:cNvSpPr txBox="1"/>
          <p:nvPr/>
        </p:nvSpPr>
        <p:spPr>
          <a:xfrm>
            <a:off x="685800" y="3557016"/>
            <a:ext cx="2286000" cy="640080"/>
          </a:xfrm>
          <a:prstGeom prst="rect">
            <a:avLst/>
          </a:prstGeom>
          <a:noFill/>
          <a:ln/>
        </p:spPr>
        <p:txBody>
          <a:bodyPr wrap="square" lIns="0" tIns="0" rIns="0" bIns="0" rtlCol="0" anchor="t"/>
          <a:lstStyle/>
          <a:p>
            <a:pPr algn="l" indent="0" marL="0">
              <a:buNone/>
            </a:pPr>
            <a:r>
              <a:rPr lang="en-US" sz="1000" b="1" dirty="0">
                <a:solidFill>
                  <a:srgbClr val="111111"/>
                </a:solidFill>
                <a:latin typeface="Arial" pitchFamily="34" charset="0"/>
                <a:ea typeface="Arial" pitchFamily="34" charset="-122"/>
                <a:cs typeface="Arial" pitchFamily="34" charset="-120"/>
              </a:rPr>
              <a:t>Verity notes the goal first, then rewrites: “Booking is quick and easy. Register now!”</a:t>
            </a:r>
            <a:endParaRPr lang="en-US" sz="1000" dirty="0"/>
          </a:p>
        </p:txBody>
      </p:sp>
      <p:sp>
        <p:nvSpPr>
          <p:cNvPr id="15" name="Shape 11"/>
          <p:cNvSpPr/>
          <p:nvPr/>
        </p:nvSpPr>
        <p:spPr>
          <a:xfrm>
            <a:off x="3355848" y="1344168"/>
            <a:ext cx="2560320" cy="2926080"/>
          </a:xfrm>
          <a:prstGeom prst="rect">
            <a:avLst/>
          </a:prstGeom>
          <a:solidFill>
            <a:srgbClr val="111111"/>
          </a:solidFill>
          <a:ln w="6350">
            <a:solidFill>
              <a:srgbClr val="111111"/>
            </a:solidFill>
            <a:prstDash val="solid"/>
          </a:ln>
        </p:spPr>
      </p:sp>
      <p:sp>
        <p:nvSpPr>
          <p:cNvPr id="16" name="Shape 12"/>
          <p:cNvSpPr/>
          <p:nvPr/>
        </p:nvSpPr>
        <p:spPr>
          <a:xfrm>
            <a:off x="3291840" y="1280160"/>
            <a:ext cx="2560320" cy="2926080"/>
          </a:xfrm>
          <a:prstGeom prst="rect">
            <a:avLst/>
          </a:prstGeom>
          <a:solidFill>
            <a:srgbClr val="FFFFFF"/>
          </a:solidFill>
          <a:ln w="22225">
            <a:solidFill>
              <a:srgbClr val="111111"/>
            </a:solidFill>
            <a:prstDash val="solid"/>
          </a:ln>
        </p:spPr>
      </p:sp>
      <p:sp>
        <p:nvSpPr>
          <p:cNvPr id="17" name="Shape 13"/>
          <p:cNvSpPr/>
          <p:nvPr/>
        </p:nvSpPr>
        <p:spPr>
          <a:xfrm>
            <a:off x="3291840" y="1280160"/>
            <a:ext cx="2560320" cy="685800"/>
          </a:xfrm>
          <a:prstGeom prst="rect">
            <a:avLst/>
          </a:prstGeom>
          <a:solidFill>
            <a:srgbClr val="6EE7B7"/>
          </a:solidFill>
          <a:ln w="22225">
            <a:solidFill>
              <a:srgbClr val="111111"/>
            </a:solidFill>
            <a:prstDash val="solid"/>
          </a:ln>
        </p:spPr>
      </p:sp>
      <p:sp>
        <p:nvSpPr>
          <p:cNvPr id="18" name="Shape 14"/>
          <p:cNvSpPr/>
          <p:nvPr/>
        </p:nvSpPr>
        <p:spPr>
          <a:xfrm>
            <a:off x="3429000" y="1371600"/>
            <a:ext cx="502920" cy="502920"/>
          </a:xfrm>
          <a:prstGeom prst="ellipse">
            <a:avLst/>
          </a:prstGeom>
          <a:solidFill>
            <a:srgbClr val="FFFFFF"/>
          </a:solidFill>
          <a:ln w="22225">
            <a:solidFill>
              <a:srgbClr val="111111"/>
            </a:solidFill>
            <a:prstDash val="solid"/>
          </a:ln>
        </p:spPr>
      </p:sp>
      <p:pic>
        <p:nvPicPr>
          <p:cNvPr id="19" name="Image 1" descr="preencoded.png">    </p:cNvPr>
          <p:cNvPicPr>
            <a:picLocks noChangeAspect="1"/>
          </p:cNvPicPr>
          <p:nvPr/>
        </p:nvPicPr>
        <p:blipFill>
          <a:blip r:embed="rId2"/>
          <a:stretch>
            <a:fillRect/>
          </a:stretch>
        </p:blipFill>
        <p:spPr>
          <a:xfrm>
            <a:off x="3549701" y="1492301"/>
            <a:ext cx="261518" cy="261518"/>
          </a:xfrm>
          <a:prstGeom prst="rect">
            <a:avLst/>
          </a:prstGeom>
        </p:spPr>
      </p:pic>
      <p:sp>
        <p:nvSpPr>
          <p:cNvPr id="20" name="Text 15"/>
          <p:cNvSpPr txBox="1"/>
          <p:nvPr/>
        </p:nvSpPr>
        <p:spPr>
          <a:xfrm>
            <a:off x="4069080" y="1280160"/>
            <a:ext cx="1691640" cy="685800"/>
          </a:xfrm>
          <a:prstGeom prst="rect">
            <a:avLst/>
          </a:prstGeom>
          <a:noFill/>
          <a:ln/>
        </p:spPr>
        <p:txBody>
          <a:bodyPr wrap="square" lIns="0" tIns="0" rIns="0" bIns="0" rtlCol="0" anchor="ctr"/>
          <a:lstStyle/>
          <a:p>
            <a:pPr algn="l" indent="0" marL="0">
              <a:buNone/>
            </a:pPr>
            <a:r>
              <a:rPr lang="en-US" sz="1500" b="1" dirty="0">
                <a:solidFill>
                  <a:srgbClr val="111111"/>
                </a:solidFill>
                <a:latin typeface="Georgia" pitchFamily="34" charset="0"/>
                <a:ea typeface="Georgia" pitchFamily="34" charset="-122"/>
                <a:cs typeface="Georgia" pitchFamily="34" charset="-120"/>
              </a:rPr>
              <a:t>Claim Ledger</a:t>
            </a:r>
            <a:endParaRPr lang="en-US" sz="1500" dirty="0"/>
          </a:p>
        </p:txBody>
      </p:sp>
      <p:sp>
        <p:nvSpPr>
          <p:cNvPr id="21" name="Text 16"/>
          <p:cNvSpPr txBox="1"/>
          <p:nvPr/>
        </p:nvSpPr>
        <p:spPr>
          <a:xfrm>
            <a:off x="3429000" y="2066544"/>
            <a:ext cx="2286000" cy="365760"/>
          </a:xfrm>
          <a:prstGeom prst="rect">
            <a:avLst/>
          </a:prstGeom>
          <a:noFill/>
          <a:ln/>
        </p:spPr>
        <p:txBody>
          <a:bodyPr wrap="square" lIns="0" tIns="0" rIns="0" bIns="0" rtlCol="0" anchor="t"/>
          <a:lstStyle/>
          <a:p>
            <a:pPr algn="l" indent="0" marL="0">
              <a:buNone/>
            </a:pPr>
            <a:r>
              <a:rPr lang="en-US" sz="1000" i="1" dirty="0">
                <a:solidFill>
                  <a:srgbClr val="111111"/>
                </a:solidFill>
                <a:latin typeface="Arial" pitchFamily="34" charset="0"/>
                <a:ea typeface="Arial" pitchFamily="34" charset="-122"/>
                <a:cs typeface="Arial" pitchFamily="34" charset="-120"/>
              </a:rPr>
              <a:t>Every fact has a source and an expiry date.</a:t>
            </a:r>
            <a:endParaRPr lang="en-US" sz="1000" dirty="0"/>
          </a:p>
        </p:txBody>
      </p:sp>
      <p:sp>
        <p:nvSpPr>
          <p:cNvPr id="22" name="Text 17"/>
          <p:cNvSpPr txBox="1"/>
          <p:nvPr/>
        </p:nvSpPr>
        <p:spPr>
          <a:xfrm>
            <a:off x="3429000" y="2487168"/>
            <a:ext cx="914400" cy="182880"/>
          </a:xfrm>
          <a:prstGeom prst="rect">
            <a:avLst/>
          </a:prstGeom>
          <a:noFill/>
          <a:ln/>
        </p:spPr>
        <p:txBody>
          <a:bodyPr wrap="square" lIns="0" tIns="0" rIns="0" bIns="0" rtlCol="0" anchor="t"/>
          <a:lstStyle/>
          <a:p>
            <a:pPr algn="l" indent="0" marL="0">
              <a:buNone/>
            </a:pPr>
            <a:r>
              <a:rPr lang="en-US" sz="850" b="1" dirty="0">
                <a:solidFill>
                  <a:srgbClr val="E5484D"/>
                </a:solidFill>
                <a:latin typeface="Courier New" pitchFamily="34" charset="0"/>
                <a:ea typeface="Courier New" pitchFamily="34" charset="-122"/>
                <a:cs typeface="Courier New" pitchFamily="34" charset="-120"/>
              </a:rPr>
              <a:t>BEFORE</a:t>
            </a:r>
            <a:endParaRPr lang="en-US" sz="850" dirty="0"/>
          </a:p>
        </p:txBody>
      </p:sp>
      <p:sp>
        <p:nvSpPr>
          <p:cNvPr id="23" name="Text 18"/>
          <p:cNvSpPr txBox="1"/>
          <p:nvPr/>
        </p:nvSpPr>
        <p:spPr>
          <a:xfrm>
            <a:off x="3429000" y="2688336"/>
            <a:ext cx="2286000" cy="640080"/>
          </a:xfrm>
          <a:prstGeom prst="rect">
            <a:avLst/>
          </a:prstGeom>
          <a:noFill/>
          <a:ln/>
        </p:spPr>
        <p:txBody>
          <a:bodyPr wrap="square" lIns="0" tIns="0" rIns="0" bIns="0" rtlCol="0" anchor="t"/>
          <a:lstStyle/>
          <a:p>
            <a:pPr algn="l" indent="0" marL="0">
              <a:buNone/>
            </a:pPr>
            <a:r>
              <a:rPr lang="en-US" sz="1000" dirty="0">
                <a:solidFill>
                  <a:srgbClr val="111111"/>
                </a:solidFill>
                <a:latin typeface="Arial" pitchFamily="34" charset="0"/>
                <a:ea typeface="Arial" pitchFamily="34" charset="-122"/>
                <a:cs typeface="Arial" pitchFamily="34" charset="-120"/>
              </a:rPr>
              <a:t>“Rated #1 in 2024” is reused in 2026 and nobody checks it.</a:t>
            </a:r>
            <a:endParaRPr lang="en-US" sz="1000" dirty="0"/>
          </a:p>
        </p:txBody>
      </p:sp>
      <p:sp>
        <p:nvSpPr>
          <p:cNvPr id="24" name="Text 19"/>
          <p:cNvSpPr txBox="1"/>
          <p:nvPr/>
        </p:nvSpPr>
        <p:spPr>
          <a:xfrm>
            <a:off x="3429000" y="3355848"/>
            <a:ext cx="1371600" cy="182880"/>
          </a:xfrm>
          <a:prstGeom prst="rect">
            <a:avLst/>
          </a:prstGeom>
          <a:noFill/>
          <a:ln/>
        </p:spPr>
        <p:txBody>
          <a:bodyPr wrap="square" lIns="0" tIns="0" rIns="0" bIns="0" rtlCol="0" anchor="t"/>
          <a:lstStyle/>
          <a:p>
            <a:pPr algn="l" indent="0" marL="0">
              <a:buNone/>
            </a:pPr>
            <a:r>
              <a:rPr lang="en-US" sz="850" b="1" dirty="0">
                <a:solidFill>
                  <a:srgbClr val="1F7A55"/>
                </a:solidFill>
                <a:latin typeface="Courier New" pitchFamily="34" charset="0"/>
                <a:ea typeface="Courier New" pitchFamily="34" charset="-122"/>
                <a:cs typeface="Courier New" pitchFamily="34" charset="-120"/>
              </a:rPr>
              <a:t>WITH VERITY</a:t>
            </a:r>
            <a:endParaRPr lang="en-US" sz="850" dirty="0"/>
          </a:p>
        </p:txBody>
      </p:sp>
      <p:sp>
        <p:nvSpPr>
          <p:cNvPr id="25" name="Text 20"/>
          <p:cNvSpPr txBox="1"/>
          <p:nvPr/>
        </p:nvSpPr>
        <p:spPr>
          <a:xfrm>
            <a:off x="3429000" y="3557016"/>
            <a:ext cx="2286000" cy="640080"/>
          </a:xfrm>
          <a:prstGeom prst="rect">
            <a:avLst/>
          </a:prstGeom>
          <a:noFill/>
          <a:ln/>
        </p:spPr>
        <p:txBody>
          <a:bodyPr wrap="square" lIns="0" tIns="0" rIns="0" bIns="0" rtlCol="0" anchor="t"/>
          <a:lstStyle/>
          <a:p>
            <a:pPr algn="l" indent="0" marL="0">
              <a:buNone/>
            </a:pPr>
            <a:r>
              <a:rPr lang="en-US" sz="1000" b="1" dirty="0">
                <a:solidFill>
                  <a:srgbClr val="111111"/>
                </a:solidFill>
                <a:latin typeface="Arial" pitchFamily="34" charset="0"/>
                <a:ea typeface="Arial" pitchFamily="34" charset="-122"/>
                <a:cs typeface="Arial" pitchFamily="34" charset="-120"/>
              </a:rPr>
              <a:t>The ledger shows the approval ended on 31 Dec 2025 and flags the claim.</a:t>
            </a:r>
            <a:endParaRPr lang="en-US" sz="1000" dirty="0"/>
          </a:p>
        </p:txBody>
      </p:sp>
      <p:sp>
        <p:nvSpPr>
          <p:cNvPr id="26" name="Shape 21"/>
          <p:cNvSpPr/>
          <p:nvPr/>
        </p:nvSpPr>
        <p:spPr>
          <a:xfrm>
            <a:off x="6099048" y="1344168"/>
            <a:ext cx="2560320" cy="2926080"/>
          </a:xfrm>
          <a:prstGeom prst="rect">
            <a:avLst/>
          </a:prstGeom>
          <a:solidFill>
            <a:srgbClr val="111111"/>
          </a:solidFill>
          <a:ln w="6350">
            <a:solidFill>
              <a:srgbClr val="111111"/>
            </a:solidFill>
            <a:prstDash val="solid"/>
          </a:ln>
        </p:spPr>
      </p:sp>
      <p:sp>
        <p:nvSpPr>
          <p:cNvPr id="27" name="Shape 22"/>
          <p:cNvSpPr/>
          <p:nvPr/>
        </p:nvSpPr>
        <p:spPr>
          <a:xfrm>
            <a:off x="6035040" y="1280160"/>
            <a:ext cx="2560320" cy="2926080"/>
          </a:xfrm>
          <a:prstGeom prst="rect">
            <a:avLst/>
          </a:prstGeom>
          <a:solidFill>
            <a:srgbClr val="FFFFFF"/>
          </a:solidFill>
          <a:ln w="22225">
            <a:solidFill>
              <a:srgbClr val="111111"/>
            </a:solidFill>
            <a:prstDash val="solid"/>
          </a:ln>
        </p:spPr>
      </p:sp>
      <p:sp>
        <p:nvSpPr>
          <p:cNvPr id="28" name="Shape 23"/>
          <p:cNvSpPr/>
          <p:nvPr/>
        </p:nvSpPr>
        <p:spPr>
          <a:xfrm>
            <a:off x="6035040" y="1280160"/>
            <a:ext cx="2560320" cy="685800"/>
          </a:xfrm>
          <a:prstGeom prst="rect">
            <a:avLst/>
          </a:prstGeom>
          <a:solidFill>
            <a:srgbClr val="FF9EDB"/>
          </a:solidFill>
          <a:ln w="22225">
            <a:solidFill>
              <a:srgbClr val="111111"/>
            </a:solidFill>
            <a:prstDash val="solid"/>
          </a:ln>
        </p:spPr>
      </p:sp>
      <p:sp>
        <p:nvSpPr>
          <p:cNvPr id="29" name="Shape 24"/>
          <p:cNvSpPr/>
          <p:nvPr/>
        </p:nvSpPr>
        <p:spPr>
          <a:xfrm>
            <a:off x="6172200" y="1371600"/>
            <a:ext cx="502920" cy="502920"/>
          </a:xfrm>
          <a:prstGeom prst="ellipse">
            <a:avLst/>
          </a:prstGeom>
          <a:solidFill>
            <a:srgbClr val="FFFFFF"/>
          </a:solidFill>
          <a:ln w="22225">
            <a:solidFill>
              <a:srgbClr val="111111"/>
            </a:solidFill>
            <a:prstDash val="solid"/>
          </a:ln>
        </p:spPr>
      </p:sp>
      <p:pic>
        <p:nvPicPr>
          <p:cNvPr id="30" name="Image 2" descr="preencoded.png">    </p:cNvPr>
          <p:cNvPicPr>
            <a:picLocks noChangeAspect="1"/>
          </p:cNvPicPr>
          <p:nvPr/>
        </p:nvPicPr>
        <p:blipFill>
          <a:blip r:embed="rId3"/>
          <a:stretch>
            <a:fillRect/>
          </a:stretch>
        </p:blipFill>
        <p:spPr>
          <a:xfrm>
            <a:off x="6292901" y="1492301"/>
            <a:ext cx="261518" cy="261518"/>
          </a:xfrm>
          <a:prstGeom prst="rect">
            <a:avLst/>
          </a:prstGeom>
        </p:spPr>
      </p:pic>
      <p:sp>
        <p:nvSpPr>
          <p:cNvPr id="31" name="Text 25"/>
          <p:cNvSpPr txBox="1"/>
          <p:nvPr/>
        </p:nvSpPr>
        <p:spPr>
          <a:xfrm>
            <a:off x="6812280" y="1280160"/>
            <a:ext cx="1691640" cy="685800"/>
          </a:xfrm>
          <a:prstGeom prst="rect">
            <a:avLst/>
          </a:prstGeom>
          <a:noFill/>
          <a:ln/>
        </p:spPr>
        <p:txBody>
          <a:bodyPr wrap="square" lIns="0" tIns="0" rIns="0" bIns="0" rtlCol="0" anchor="ctr"/>
          <a:lstStyle/>
          <a:p>
            <a:pPr algn="l" indent="0" marL="0">
              <a:buNone/>
            </a:pPr>
            <a:r>
              <a:rPr lang="en-US" sz="1500" b="1" dirty="0">
                <a:solidFill>
                  <a:srgbClr val="111111"/>
                </a:solidFill>
                <a:latin typeface="Georgia" pitchFamily="34" charset="0"/>
                <a:ea typeface="Georgia" pitchFamily="34" charset="-122"/>
                <a:cs typeface="Georgia" pitchFamily="34" charset="-120"/>
              </a:rPr>
              <a:t>Health Radar</a:t>
            </a:r>
            <a:endParaRPr lang="en-US" sz="1500" dirty="0"/>
          </a:p>
        </p:txBody>
      </p:sp>
      <p:sp>
        <p:nvSpPr>
          <p:cNvPr id="32" name="Text 26"/>
          <p:cNvSpPr txBox="1"/>
          <p:nvPr/>
        </p:nvSpPr>
        <p:spPr>
          <a:xfrm>
            <a:off x="6172200" y="2066544"/>
            <a:ext cx="2286000" cy="365760"/>
          </a:xfrm>
          <a:prstGeom prst="rect">
            <a:avLst/>
          </a:prstGeom>
          <a:noFill/>
          <a:ln/>
        </p:spPr>
        <p:txBody>
          <a:bodyPr wrap="square" lIns="0" tIns="0" rIns="0" bIns="0" rtlCol="0" anchor="t"/>
          <a:lstStyle/>
          <a:p>
            <a:pPr algn="l" indent="0" marL="0">
              <a:buNone/>
            </a:pPr>
            <a:r>
              <a:rPr lang="en-US" sz="1000" i="1" dirty="0">
                <a:solidFill>
                  <a:srgbClr val="111111"/>
                </a:solidFill>
                <a:latin typeface="Arial" pitchFamily="34" charset="0"/>
                <a:ea typeface="Arial" pitchFamily="34" charset="-122"/>
                <a:cs typeface="Arial" pitchFamily="34" charset="-120"/>
              </a:rPr>
              <a:t>Unclear rules get rewritten.</a:t>
            </a:r>
            <a:endParaRPr lang="en-US" sz="1000" dirty="0"/>
          </a:p>
        </p:txBody>
      </p:sp>
      <p:sp>
        <p:nvSpPr>
          <p:cNvPr id="33" name="Text 27"/>
          <p:cNvSpPr txBox="1"/>
          <p:nvPr/>
        </p:nvSpPr>
        <p:spPr>
          <a:xfrm>
            <a:off x="6172200" y="2487168"/>
            <a:ext cx="914400" cy="182880"/>
          </a:xfrm>
          <a:prstGeom prst="rect">
            <a:avLst/>
          </a:prstGeom>
          <a:noFill/>
          <a:ln/>
        </p:spPr>
        <p:txBody>
          <a:bodyPr wrap="square" lIns="0" tIns="0" rIns="0" bIns="0" rtlCol="0" anchor="t"/>
          <a:lstStyle/>
          <a:p>
            <a:pPr algn="l" indent="0" marL="0">
              <a:buNone/>
            </a:pPr>
            <a:r>
              <a:rPr lang="en-US" sz="850" b="1" dirty="0">
                <a:solidFill>
                  <a:srgbClr val="E5484D"/>
                </a:solidFill>
                <a:latin typeface="Courier New" pitchFamily="34" charset="0"/>
                <a:ea typeface="Courier New" pitchFamily="34" charset="-122"/>
                <a:cs typeface="Courier New" pitchFamily="34" charset="-120"/>
              </a:rPr>
              <a:t>BEFORE</a:t>
            </a:r>
            <a:endParaRPr lang="en-US" sz="850" dirty="0"/>
          </a:p>
        </p:txBody>
      </p:sp>
      <p:sp>
        <p:nvSpPr>
          <p:cNvPr id="34" name="Text 28"/>
          <p:cNvSpPr txBox="1"/>
          <p:nvPr/>
        </p:nvSpPr>
        <p:spPr>
          <a:xfrm>
            <a:off x="6172200" y="2688336"/>
            <a:ext cx="2286000" cy="640080"/>
          </a:xfrm>
          <a:prstGeom prst="rect">
            <a:avLst/>
          </a:prstGeom>
          <a:noFill/>
          <a:ln/>
        </p:spPr>
        <p:txBody>
          <a:bodyPr wrap="square" lIns="0" tIns="0" rIns="0" bIns="0" rtlCol="0" anchor="t"/>
          <a:lstStyle/>
          <a:p>
            <a:pPr algn="l" indent="0" marL="0">
              <a:buNone/>
            </a:pPr>
            <a:r>
              <a:rPr lang="en-US" sz="1000" dirty="0">
                <a:solidFill>
                  <a:srgbClr val="111111"/>
                </a:solidFill>
                <a:latin typeface="Arial" pitchFamily="34" charset="0"/>
                <a:ea typeface="Arial" pitchFamily="34" charset="-122"/>
                <a:cs typeface="Arial" pitchFamily="34" charset="-120"/>
              </a:rPr>
              <a:t>Reviewers override the “friendly tone” rule in 9 of 12 reviews.</a:t>
            </a:r>
            <a:endParaRPr lang="en-US" sz="1000" dirty="0"/>
          </a:p>
        </p:txBody>
      </p:sp>
      <p:sp>
        <p:nvSpPr>
          <p:cNvPr id="35" name="Text 29"/>
          <p:cNvSpPr txBox="1"/>
          <p:nvPr/>
        </p:nvSpPr>
        <p:spPr>
          <a:xfrm>
            <a:off x="6172200" y="3355848"/>
            <a:ext cx="1371600" cy="182880"/>
          </a:xfrm>
          <a:prstGeom prst="rect">
            <a:avLst/>
          </a:prstGeom>
          <a:noFill/>
          <a:ln/>
        </p:spPr>
        <p:txBody>
          <a:bodyPr wrap="square" lIns="0" tIns="0" rIns="0" bIns="0" rtlCol="0" anchor="t"/>
          <a:lstStyle/>
          <a:p>
            <a:pPr algn="l" indent="0" marL="0">
              <a:buNone/>
            </a:pPr>
            <a:r>
              <a:rPr lang="en-US" sz="850" b="1" dirty="0">
                <a:solidFill>
                  <a:srgbClr val="1F7A55"/>
                </a:solidFill>
                <a:latin typeface="Courier New" pitchFamily="34" charset="0"/>
                <a:ea typeface="Courier New" pitchFamily="34" charset="-122"/>
                <a:cs typeface="Courier New" pitchFamily="34" charset="-120"/>
              </a:rPr>
              <a:t>WITH VERITY</a:t>
            </a:r>
            <a:endParaRPr lang="en-US" sz="850" dirty="0"/>
          </a:p>
        </p:txBody>
      </p:sp>
      <p:sp>
        <p:nvSpPr>
          <p:cNvPr id="36" name="Text 30"/>
          <p:cNvSpPr txBox="1"/>
          <p:nvPr/>
        </p:nvSpPr>
        <p:spPr>
          <a:xfrm>
            <a:off x="6172200" y="3557016"/>
            <a:ext cx="2286000" cy="640080"/>
          </a:xfrm>
          <a:prstGeom prst="rect">
            <a:avLst/>
          </a:prstGeom>
          <a:noFill/>
          <a:ln/>
        </p:spPr>
        <p:txBody>
          <a:bodyPr wrap="square" lIns="0" tIns="0" rIns="0" bIns="0" rtlCol="0" anchor="t"/>
          <a:lstStyle/>
          <a:p>
            <a:pPr algn="l" indent="0" marL="0">
              <a:buNone/>
            </a:pPr>
            <a:r>
              <a:rPr lang="en-US" sz="1000" b="1" dirty="0">
                <a:solidFill>
                  <a:srgbClr val="111111"/>
                </a:solidFill>
                <a:latin typeface="Arial" pitchFamily="34" charset="0"/>
                <a:ea typeface="Arial" pitchFamily="34" charset="-122"/>
                <a:cs typeface="Arial" pitchFamily="34" charset="-120"/>
              </a:rPr>
              <a:t>Verity drafts a clearer version for the brand owner to approve.</a:t>
            </a:r>
            <a:endParaRPr lang="en-US" sz="1000" dirty="0"/>
          </a:p>
        </p:txBody>
      </p:sp>
      <p:sp>
        <p:nvSpPr>
          <p:cNvPr id="37" name="Text 31"/>
          <p:cNvSpPr txBox="1"/>
          <p:nvPr/>
        </p:nvSpPr>
        <p:spPr>
          <a:xfrm>
            <a:off x="548640" y="4343400"/>
            <a:ext cx="8046720" cy="320040"/>
          </a:xfrm>
          <a:prstGeom prst="rect">
            <a:avLst/>
          </a:prstGeom>
          <a:noFill/>
          <a:ln/>
        </p:spPr>
        <p:txBody>
          <a:bodyPr wrap="square" lIns="0" tIns="0" rIns="0" bIns="0" rtlCol="0" anchor="t"/>
          <a:lstStyle/>
          <a:p>
            <a:pPr algn="l" indent="0" marL="0">
              <a:buNone/>
            </a:pPr>
            <a:r>
              <a:rPr sz="1100" i="1">
                <a:solidFill>
                  <a:srgbClr val="111111"/>
                </a:solidFill>
                <a:latin typeface="Arial"/>
              </a:rPr>
              <a:t>Plus: In-situ self-guided tutorial with spotlight box &amp; dual-link deployment (cosmicboom.xyz &amp; Vercel mirror).</a:t>
            </a:r>
            <a:endParaRPr lang="en-US" sz="11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sz="2800" b="1">
                <a:solidFill>
                  <a:srgbClr val="111111"/>
                </a:solidFill>
                <a:latin typeface="Georgia"/>
              </a:rPr>
              <a:t>What a reviewer &amp; creator see</a:t>
            </a:r>
            <a:endParaRPr lang="en-US" sz="2800" dirty="0"/>
          </a:p>
        </p:txBody>
      </p:sp>
      <p:sp>
        <p:nvSpPr>
          <p:cNvPr id="4" name="Shape 1"/>
          <p:cNvSpPr/>
          <p:nvPr/>
        </p:nvSpPr>
        <p:spPr>
          <a:xfrm>
            <a:off x="0" y="1188720"/>
            <a:ext cx="9144000" cy="2743200"/>
          </a:xfrm>
          <a:prstGeom prst="rect">
            <a:avLst/>
          </a:prstGeom>
          <a:solidFill>
            <a:srgbClr val="FFD93D"/>
          </a:solidFill>
          <a:ln w="12700">
            <a:solidFill>
              <a:srgbClr val="111111"/>
            </a:solidFill>
            <a:prstDash val="solid"/>
          </a:ln>
        </p:spPr>
      </p:sp>
      <p:sp>
        <p:nvSpPr>
          <p:cNvPr id="5" name="Shape 2"/>
          <p:cNvSpPr/>
          <p:nvPr/>
        </p:nvSpPr>
        <p:spPr>
          <a:xfrm>
            <a:off x="0" y="1188720"/>
            <a:ext cx="9144000" cy="0"/>
          </a:xfrm>
          <a:prstGeom prst="line">
            <a:avLst/>
          </a:prstGeom>
          <a:noFill/>
          <a:ln w="25400">
            <a:solidFill>
              <a:srgbClr val="111111"/>
            </a:solidFill>
            <a:prstDash val="solid"/>
          </a:ln>
        </p:spPr>
      </p:sp>
      <p:sp>
        <p:nvSpPr>
          <p:cNvPr id="6" name="Shape 3"/>
          <p:cNvSpPr/>
          <p:nvPr/>
        </p:nvSpPr>
        <p:spPr>
          <a:xfrm>
            <a:off x="0" y="3931920"/>
            <a:ext cx="9144000" cy="0"/>
          </a:xfrm>
          <a:prstGeom prst="line">
            <a:avLst/>
          </a:prstGeom>
          <a:noFill/>
          <a:ln w="25400">
            <a:solidFill>
              <a:srgbClr val="111111"/>
            </a:solidFill>
            <a:prstDash val="solid"/>
          </a:ln>
        </p:spPr>
      </p:sp>
      <p:sp>
        <p:nvSpPr>
          <p:cNvPr id="7" name="Shape 4"/>
          <p:cNvSpPr/>
          <p:nvPr/>
        </p:nvSpPr>
        <p:spPr>
          <a:xfrm>
            <a:off x="612648" y="1435608"/>
            <a:ext cx="4206240" cy="2377440"/>
          </a:xfrm>
          <a:prstGeom prst="rect">
            <a:avLst/>
          </a:prstGeom>
          <a:solidFill>
            <a:srgbClr val="111111"/>
          </a:solidFill>
          <a:ln w="6350">
            <a:solidFill>
              <a:srgbClr val="111111"/>
            </a:solidFill>
            <a:prstDash val="solid"/>
          </a:ln>
        </p:spPr>
      </p:sp>
      <p:sp>
        <p:nvSpPr>
          <p:cNvPr id="8" name="Shape 5"/>
          <p:cNvSpPr/>
          <p:nvPr/>
        </p:nvSpPr>
        <p:spPr>
          <a:xfrm>
            <a:off x="548640" y="1371600"/>
            <a:ext cx="4206240" cy="2377440"/>
          </a:xfrm>
          <a:prstGeom prst="rect">
            <a:avLst/>
          </a:prstGeom>
          <a:solidFill>
            <a:srgbClr val="FFFFFF"/>
          </a:solidFill>
          <a:ln w="25400">
            <a:solidFill>
              <a:srgbClr val="111111"/>
            </a:solidFill>
            <a:prstDash val="solid"/>
          </a:ln>
        </p:spPr>
      </p:sp>
      <p:sp>
        <p:nvSpPr>
          <p:cNvPr id="9" name="Shape 6"/>
          <p:cNvSpPr/>
          <p:nvPr/>
        </p:nvSpPr>
        <p:spPr>
          <a:xfrm>
            <a:off x="548640" y="1371600"/>
            <a:ext cx="4206240" cy="274320"/>
          </a:xfrm>
          <a:prstGeom prst="rect">
            <a:avLst/>
          </a:prstGeom>
          <a:solidFill>
            <a:srgbClr val="D9D4C5"/>
          </a:solidFill>
          <a:ln w="22225">
            <a:solidFill>
              <a:srgbClr val="111111"/>
            </a:solidFill>
            <a:prstDash val="solid"/>
          </a:ln>
        </p:spPr>
      </p:sp>
      <p:sp>
        <p:nvSpPr>
          <p:cNvPr id="10" name="Shape 7"/>
          <p:cNvSpPr/>
          <p:nvPr/>
        </p:nvSpPr>
        <p:spPr>
          <a:xfrm>
            <a:off x="658368" y="1453896"/>
            <a:ext cx="109728" cy="109728"/>
          </a:xfrm>
          <a:prstGeom prst="ellipse">
            <a:avLst/>
          </a:prstGeom>
          <a:solidFill>
            <a:srgbClr val="E5484D"/>
          </a:solidFill>
          <a:ln w="12700">
            <a:solidFill>
              <a:srgbClr val="111111"/>
            </a:solidFill>
            <a:prstDash val="solid"/>
          </a:ln>
        </p:spPr>
      </p:sp>
      <p:sp>
        <p:nvSpPr>
          <p:cNvPr id="11" name="Shape 8"/>
          <p:cNvSpPr/>
          <p:nvPr/>
        </p:nvSpPr>
        <p:spPr>
          <a:xfrm>
            <a:off x="841248" y="1453896"/>
            <a:ext cx="109728" cy="109728"/>
          </a:xfrm>
          <a:prstGeom prst="ellipse">
            <a:avLst/>
          </a:prstGeom>
          <a:solidFill>
            <a:srgbClr val="FFD93D"/>
          </a:solidFill>
          <a:ln w="12700">
            <a:solidFill>
              <a:srgbClr val="111111"/>
            </a:solidFill>
            <a:prstDash val="solid"/>
          </a:ln>
        </p:spPr>
      </p:sp>
      <p:sp>
        <p:nvSpPr>
          <p:cNvPr id="12" name="Shape 9"/>
          <p:cNvSpPr/>
          <p:nvPr/>
        </p:nvSpPr>
        <p:spPr>
          <a:xfrm>
            <a:off x="1024128" y="1453896"/>
            <a:ext cx="109728" cy="109728"/>
          </a:xfrm>
          <a:prstGeom prst="ellipse">
            <a:avLst/>
          </a:prstGeom>
          <a:solidFill>
            <a:srgbClr val="6EE7B7"/>
          </a:solidFill>
          <a:ln w="12700">
            <a:solidFill>
              <a:srgbClr val="111111"/>
            </a:solidFill>
            <a:prstDash val="solid"/>
          </a:ln>
        </p:spPr>
      </p:sp>
      <p:sp>
        <p:nvSpPr>
          <p:cNvPr id="13" name="Text 10"/>
          <p:cNvSpPr txBox="1"/>
          <p:nvPr/>
        </p:nvSpPr>
        <p:spPr>
          <a:xfrm>
            <a:off x="749808" y="1828800"/>
            <a:ext cx="3200400" cy="182880"/>
          </a:xfrm>
          <a:prstGeom prst="rect">
            <a:avLst/>
          </a:prstGeom>
          <a:noFill/>
          <a:ln/>
        </p:spPr>
        <p:txBody>
          <a:bodyPr wrap="square" lIns="0" tIns="0" rIns="0" bIns="0" rtlCol="0" anchor="t"/>
          <a:lstStyle/>
          <a:p>
            <a:pPr algn="l" indent="0" marL="0">
              <a:buNone/>
            </a:pPr>
            <a:r>
              <a:rPr lang="en-US" sz="850" b="1" dirty="0">
                <a:solidFill>
                  <a:srgbClr val="555555"/>
                </a:solidFill>
                <a:latin typeface="Courier New" pitchFamily="34" charset="0"/>
                <a:ea typeface="Courier New" pitchFamily="34" charset="-122"/>
                <a:cs typeface="Courier New" pitchFamily="34" charset="-120"/>
              </a:rPr>
              <a:t>DRAFT: Instagram caption</a:t>
            </a:r>
            <a:endParaRPr lang="en-US" sz="850" dirty="0"/>
          </a:p>
        </p:txBody>
      </p:sp>
      <p:sp>
        <p:nvSpPr>
          <p:cNvPr id="14" name="Text 11"/>
          <p:cNvSpPr txBox="1"/>
          <p:nvPr/>
        </p:nvSpPr>
        <p:spPr>
          <a:xfrm>
            <a:off x="749808" y="2194560"/>
            <a:ext cx="3840480" cy="137160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Our new app is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rated #1 in India</a:t>
            </a:r>
            <a:pPr indent="0" marL="0">
              <a:buNone/>
            </a:pPr>
            <a:r>
              <a:rPr lang="en-US" sz="1800" dirty="0">
                <a:solidFill>
                  <a:srgbClr val="111111"/>
                </a:solidFill>
                <a:latin typeface="Arial" pitchFamily="34" charset="0"/>
                <a:ea typeface="Arial" pitchFamily="34" charset="-122"/>
                <a:cs typeface="Arial" pitchFamily="34" charset="-120"/>
              </a:rPr>
              <a:t> and makes booking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50% faster</a:t>
            </a:r>
            <a:pPr indent="0" marL="0">
              <a:buNone/>
            </a:pPr>
            <a:r>
              <a:rPr lang="en-US" sz="1800" dirty="0">
                <a:solidFill>
                  <a:srgbClr val="111111"/>
                </a:solidFill>
                <a:latin typeface="Arial" pitchFamily="34" charset="0"/>
                <a:ea typeface="Arial" pitchFamily="34" charset="-122"/>
                <a:cs typeface="Arial" pitchFamily="34" charset="-120"/>
              </a:rPr>
              <a:t>. Register now!</a:t>
            </a:r>
            <a:endParaRPr lang="en-US" sz="1800" dirty="0"/>
          </a:p>
        </p:txBody>
      </p:sp>
      <p:sp>
        <p:nvSpPr>
          <p:cNvPr id="15" name="Shape 12"/>
          <p:cNvSpPr/>
          <p:nvPr/>
        </p:nvSpPr>
        <p:spPr>
          <a:xfrm>
            <a:off x="5093208" y="1435608"/>
            <a:ext cx="3566160" cy="2377440"/>
          </a:xfrm>
          <a:prstGeom prst="rect">
            <a:avLst/>
          </a:prstGeom>
          <a:solidFill>
            <a:srgbClr val="111111"/>
          </a:solidFill>
          <a:ln w="6350">
            <a:solidFill>
              <a:srgbClr val="111111"/>
            </a:solidFill>
            <a:prstDash val="solid"/>
          </a:ln>
        </p:spPr>
      </p:sp>
      <p:sp>
        <p:nvSpPr>
          <p:cNvPr id="16" name="Shape 13"/>
          <p:cNvSpPr/>
          <p:nvPr/>
        </p:nvSpPr>
        <p:spPr>
          <a:xfrm>
            <a:off x="5029200" y="1371600"/>
            <a:ext cx="3566160" cy="2377440"/>
          </a:xfrm>
          <a:prstGeom prst="rect">
            <a:avLst/>
          </a:prstGeom>
          <a:solidFill>
            <a:srgbClr val="111111"/>
          </a:solidFill>
          <a:ln w="25400">
            <a:solidFill>
              <a:srgbClr val="111111"/>
            </a:solidFill>
            <a:prstDash val="solid"/>
          </a:ln>
        </p:spPr>
      </p:sp>
      <p:sp>
        <p:nvSpPr>
          <p:cNvPr id="17" name="Shape 14"/>
          <p:cNvSpPr/>
          <p:nvPr/>
        </p:nvSpPr>
        <p:spPr>
          <a:xfrm>
            <a:off x="5239512" y="1554480"/>
            <a:ext cx="1737360" cy="237744"/>
          </a:xfrm>
          <a:prstGeom prst="rect">
            <a:avLst/>
          </a:prstGeom>
          <a:solidFill>
            <a:srgbClr val="111111"/>
          </a:solidFill>
          <a:ln w="6350">
            <a:solidFill>
              <a:srgbClr val="111111"/>
            </a:solidFill>
            <a:prstDash val="solid"/>
          </a:ln>
        </p:spPr>
      </p:sp>
      <p:sp>
        <p:nvSpPr>
          <p:cNvPr id="18" name="Shape 15"/>
          <p:cNvSpPr/>
          <p:nvPr/>
        </p:nvSpPr>
        <p:spPr>
          <a:xfrm>
            <a:off x="5212080" y="1527048"/>
            <a:ext cx="1737360" cy="237744"/>
          </a:xfrm>
          <a:prstGeom prst="rect">
            <a:avLst/>
          </a:prstGeom>
          <a:solidFill>
            <a:srgbClr val="E5484D"/>
          </a:solidFill>
          <a:ln w="15875">
            <a:solidFill>
              <a:srgbClr val="111111"/>
            </a:solidFill>
            <a:prstDash val="solid"/>
          </a:ln>
        </p:spPr>
      </p:sp>
      <p:sp>
        <p:nvSpPr>
          <p:cNvPr id="19" name="Text 16"/>
          <p:cNvSpPr txBox="1"/>
          <p:nvPr/>
        </p:nvSpPr>
        <p:spPr>
          <a:xfrm>
            <a:off x="5212080" y="1527048"/>
            <a:ext cx="17373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UNSUPPORTED CLAIM</a:t>
            </a:r>
            <a:endParaRPr lang="en-US" sz="850" dirty="0"/>
          </a:p>
        </p:txBody>
      </p:sp>
      <p:sp>
        <p:nvSpPr>
          <p:cNvPr id="20" name="Text 17"/>
          <p:cNvSpPr txBox="1"/>
          <p:nvPr/>
        </p:nvSpPr>
        <p:spPr>
          <a:xfrm>
            <a:off x="5212080" y="1874520"/>
            <a:ext cx="3200400" cy="548640"/>
          </a:xfrm>
          <a:prstGeom prst="rect">
            <a:avLst/>
          </a:prstGeom>
          <a:noFill/>
          <a:ln/>
        </p:spPr>
        <p:txBody>
          <a:bodyPr wrap="square" lIns="0" tIns="0" rIns="0" bIns="0" rtlCol="0" anchor="t"/>
          <a:lstStyle/>
          <a:p>
            <a:pPr algn="l" indent="0" marL="0">
              <a:buNone/>
            </a:pPr>
            <a:r>
              <a:rPr lang="en-US" sz="1000" dirty="0">
                <a:solidFill>
                  <a:srgbClr val="FFFFFF"/>
                </a:solidFill>
                <a:latin typeface="Arial" pitchFamily="34" charset="0"/>
                <a:ea typeface="Arial" pitchFamily="34" charset="-122"/>
                <a:cs typeface="Arial" pitchFamily="34" charset="-120"/>
              </a:rPr>
              <a:t>Rule C-12. The Claim Ledger has no approved source for “#1 in India” or “50% faster”.</a:t>
            </a:r>
            <a:endParaRPr lang="en-US" sz="1000" dirty="0"/>
          </a:p>
        </p:txBody>
      </p:sp>
      <p:sp>
        <p:nvSpPr>
          <p:cNvPr id="21" name="Text 18"/>
          <p:cNvSpPr txBox="1"/>
          <p:nvPr/>
        </p:nvSpPr>
        <p:spPr>
          <a:xfrm>
            <a:off x="5212080" y="2514600"/>
            <a:ext cx="1828800" cy="182880"/>
          </a:xfrm>
          <a:prstGeom prst="rect">
            <a:avLst/>
          </a:prstGeom>
          <a:noFill/>
          <a:ln/>
        </p:spPr>
        <p:txBody>
          <a:bodyPr wrap="square" lIns="0" tIns="0" rIns="0" bIns="0" rtlCol="0" anchor="t"/>
          <a:lstStyle/>
          <a:p>
            <a:pPr algn="l" indent="0" marL="0">
              <a:buNone/>
            </a:pPr>
            <a:r>
              <a:rPr lang="en-US" sz="850" b="1" dirty="0">
                <a:solidFill>
                  <a:srgbClr val="6EE7B7"/>
                </a:solidFill>
                <a:latin typeface="Courier New" pitchFamily="34" charset="0"/>
                <a:ea typeface="Courier New" pitchFamily="34" charset="-122"/>
                <a:cs typeface="Courier New" pitchFamily="34" charset="-120"/>
              </a:rPr>
              <a:t>SUGGESTED FIX</a:t>
            </a:r>
            <a:endParaRPr lang="en-US" sz="850" dirty="0"/>
          </a:p>
        </p:txBody>
      </p:sp>
      <p:sp>
        <p:nvSpPr>
          <p:cNvPr id="22" name="Text 19"/>
          <p:cNvSpPr txBox="1"/>
          <p:nvPr/>
        </p:nvSpPr>
        <p:spPr>
          <a:xfrm>
            <a:off x="5212080" y="2724912"/>
            <a:ext cx="3200400" cy="411480"/>
          </a:xfrm>
          <a:prstGeom prst="rect">
            <a:avLst/>
          </a:prstGeom>
          <a:noFill/>
          <a:ln/>
        </p:spPr>
        <p:txBody>
          <a:bodyPr wrap="square" lIns="0" tIns="0" rIns="0" bIns="0" rtlCol="0" anchor="t"/>
          <a:lstStyle/>
          <a:p>
            <a:pPr algn="l" indent="0" marL="0">
              <a:buNone/>
            </a:pPr>
            <a:r>
              <a:rPr lang="en-US" sz="1150" b="1" dirty="0">
                <a:solidFill>
                  <a:srgbClr val="6EE7B7"/>
                </a:solidFill>
                <a:latin typeface="Arial" pitchFamily="34" charset="0"/>
                <a:ea typeface="Arial" pitchFamily="34" charset="-122"/>
                <a:cs typeface="Arial" pitchFamily="34" charset="-120"/>
              </a:rPr>
              <a:t>Our new app makes booking quick and easy. Register now!</a:t>
            </a:r>
            <a:endParaRPr lang="en-US" sz="1150" dirty="0"/>
          </a:p>
        </p:txBody>
      </p:sp>
      <p:sp>
        <p:nvSpPr>
          <p:cNvPr id="23" name="Text 20"/>
          <p:cNvSpPr txBox="1"/>
          <p:nvPr/>
        </p:nvSpPr>
        <p:spPr>
          <a:xfrm>
            <a:off x="5212080" y="3154680"/>
            <a:ext cx="3108960" cy="182880"/>
          </a:xfrm>
          <a:prstGeom prst="rect">
            <a:avLst/>
          </a:prstGeom>
          <a:noFill/>
          <a:ln/>
        </p:spPr>
        <p:txBody>
          <a:bodyPr wrap="square" lIns="0" tIns="0" rIns="0" bIns="0" rtlCol="0" anchor="t"/>
          <a:lstStyle/>
          <a:p>
            <a:pPr algn="l" indent="0" marL="0">
              <a:buNone/>
            </a:pPr>
            <a:r>
              <a:rPr lang="en-US" sz="900" dirty="0">
                <a:solidFill>
                  <a:srgbClr val="FFFFFF"/>
                </a:solidFill>
                <a:latin typeface="Arial" pitchFamily="34" charset="0"/>
                <a:ea typeface="Arial" pitchFamily="34" charset="-122"/>
                <a:cs typeface="Arial" pitchFamily="34" charset="-120"/>
              </a:rPr>
              <a:t>Intent kept: get people to register.</a:t>
            </a:r>
            <a:endParaRPr lang="en-US" sz="900" dirty="0"/>
          </a:p>
        </p:txBody>
      </p:sp>
      <p:sp>
        <p:nvSpPr>
          <p:cNvPr id="24" name="Shape 21"/>
          <p:cNvSpPr/>
          <p:nvPr/>
        </p:nvSpPr>
        <p:spPr>
          <a:xfrm>
            <a:off x="5239512" y="3410712"/>
            <a:ext cx="941832" cy="274320"/>
          </a:xfrm>
          <a:prstGeom prst="rect">
            <a:avLst/>
          </a:prstGeom>
          <a:solidFill>
            <a:srgbClr val="111111"/>
          </a:solidFill>
          <a:ln w="6350">
            <a:solidFill>
              <a:srgbClr val="111111"/>
            </a:solidFill>
            <a:prstDash val="solid"/>
          </a:ln>
        </p:spPr>
      </p:sp>
      <p:sp>
        <p:nvSpPr>
          <p:cNvPr id="25" name="Shape 22"/>
          <p:cNvSpPr/>
          <p:nvPr/>
        </p:nvSpPr>
        <p:spPr>
          <a:xfrm>
            <a:off x="5212080" y="3383280"/>
            <a:ext cx="941832" cy="274320"/>
          </a:xfrm>
          <a:prstGeom prst="rect">
            <a:avLst/>
          </a:prstGeom>
          <a:solidFill>
            <a:srgbClr val="6EE7B7"/>
          </a:solidFill>
          <a:ln w="19050">
            <a:solidFill>
              <a:srgbClr val="111111"/>
            </a:solidFill>
            <a:prstDash val="solid"/>
          </a:ln>
        </p:spPr>
      </p:sp>
      <p:sp>
        <p:nvSpPr>
          <p:cNvPr id="26" name="Text 23"/>
          <p:cNvSpPr txBox="1"/>
          <p:nvPr/>
        </p:nvSpPr>
        <p:spPr>
          <a:xfrm>
            <a:off x="5212080" y="3383280"/>
            <a:ext cx="941832" cy="274320"/>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Accept</a:t>
            </a:r>
            <a:endParaRPr lang="en-US" sz="1000" dirty="0"/>
          </a:p>
        </p:txBody>
      </p:sp>
      <p:sp>
        <p:nvSpPr>
          <p:cNvPr id="27" name="Shape 24"/>
          <p:cNvSpPr/>
          <p:nvPr/>
        </p:nvSpPr>
        <p:spPr>
          <a:xfrm>
            <a:off x="6291072" y="3410712"/>
            <a:ext cx="941832" cy="274320"/>
          </a:xfrm>
          <a:prstGeom prst="rect">
            <a:avLst/>
          </a:prstGeom>
          <a:solidFill>
            <a:srgbClr val="111111"/>
          </a:solidFill>
          <a:ln w="6350">
            <a:solidFill>
              <a:srgbClr val="111111"/>
            </a:solidFill>
            <a:prstDash val="solid"/>
          </a:ln>
        </p:spPr>
      </p:sp>
      <p:sp>
        <p:nvSpPr>
          <p:cNvPr id="28" name="Shape 25"/>
          <p:cNvSpPr/>
          <p:nvPr/>
        </p:nvSpPr>
        <p:spPr>
          <a:xfrm>
            <a:off x="6263640" y="3383280"/>
            <a:ext cx="941832" cy="274320"/>
          </a:xfrm>
          <a:prstGeom prst="rect">
            <a:avLst/>
          </a:prstGeom>
          <a:solidFill>
            <a:srgbClr val="FFD93D"/>
          </a:solidFill>
          <a:ln w="19050">
            <a:solidFill>
              <a:srgbClr val="111111"/>
            </a:solidFill>
            <a:prstDash val="solid"/>
          </a:ln>
        </p:spPr>
      </p:sp>
      <p:sp>
        <p:nvSpPr>
          <p:cNvPr id="29" name="Text 26"/>
          <p:cNvSpPr txBox="1"/>
          <p:nvPr/>
        </p:nvSpPr>
        <p:spPr>
          <a:xfrm>
            <a:off x="6263640" y="3383280"/>
            <a:ext cx="941832" cy="274320"/>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Edit</a:t>
            </a:r>
            <a:endParaRPr lang="en-US" sz="1000" dirty="0"/>
          </a:p>
        </p:txBody>
      </p:sp>
      <p:sp>
        <p:nvSpPr>
          <p:cNvPr id="30" name="Shape 27"/>
          <p:cNvSpPr/>
          <p:nvPr/>
        </p:nvSpPr>
        <p:spPr>
          <a:xfrm>
            <a:off x="7342632" y="3410712"/>
            <a:ext cx="941832" cy="274320"/>
          </a:xfrm>
          <a:prstGeom prst="rect">
            <a:avLst/>
          </a:prstGeom>
          <a:solidFill>
            <a:srgbClr val="111111"/>
          </a:solidFill>
          <a:ln w="6350">
            <a:solidFill>
              <a:srgbClr val="111111"/>
            </a:solidFill>
            <a:prstDash val="solid"/>
          </a:ln>
        </p:spPr>
      </p:sp>
      <p:sp>
        <p:nvSpPr>
          <p:cNvPr id="31" name="Shape 28"/>
          <p:cNvSpPr/>
          <p:nvPr/>
        </p:nvSpPr>
        <p:spPr>
          <a:xfrm>
            <a:off x="7315200" y="3383280"/>
            <a:ext cx="941832" cy="274320"/>
          </a:xfrm>
          <a:prstGeom prst="rect">
            <a:avLst/>
          </a:prstGeom>
          <a:solidFill>
            <a:srgbClr val="E5484D"/>
          </a:solidFill>
          <a:ln w="19050">
            <a:solidFill>
              <a:srgbClr val="111111"/>
            </a:solidFill>
            <a:prstDash val="solid"/>
          </a:ln>
        </p:spPr>
      </p:sp>
      <p:sp>
        <p:nvSpPr>
          <p:cNvPr id="32" name="Text 29"/>
          <p:cNvSpPr txBox="1"/>
          <p:nvPr/>
        </p:nvSpPr>
        <p:spPr>
          <a:xfrm>
            <a:off x="7315200" y="3383280"/>
            <a:ext cx="941832" cy="274320"/>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Reject</a:t>
            </a:r>
            <a:endParaRPr lang="en-US" sz="1000" dirty="0"/>
          </a:p>
        </p:txBody>
      </p:sp>
      <p:sp>
        <p:nvSpPr>
          <p:cNvPr id="33" name="Shape 30"/>
          <p:cNvSpPr/>
          <p:nvPr/>
        </p:nvSpPr>
        <p:spPr>
          <a:xfrm>
            <a:off x="548640" y="4114800"/>
            <a:ext cx="310896" cy="310896"/>
          </a:xfrm>
          <a:prstGeom prst="ellipse">
            <a:avLst/>
          </a:prstGeom>
          <a:solidFill>
            <a:srgbClr val="FFD93D"/>
          </a:solidFill>
          <a:ln w="19050">
            <a:solidFill>
              <a:srgbClr val="111111"/>
            </a:solidFill>
            <a:prstDash val="solid"/>
          </a:ln>
        </p:spPr>
      </p:sp>
      <p:sp>
        <p:nvSpPr>
          <p:cNvPr id="34" name="Text 31"/>
          <p:cNvSpPr txBox="1"/>
          <p:nvPr/>
        </p:nvSpPr>
        <p:spPr>
          <a:xfrm>
            <a:off x="548640" y="4114800"/>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Georgia" pitchFamily="34" charset="0"/>
                <a:ea typeface="Georgia" pitchFamily="34" charset="-122"/>
                <a:cs typeface="Georgia" pitchFamily="34" charset="-120"/>
              </a:rPr>
              <a:t>1</a:t>
            </a:r>
            <a:endParaRPr lang="en-US" sz="1200" dirty="0"/>
          </a:p>
        </p:txBody>
      </p:sp>
      <p:sp>
        <p:nvSpPr>
          <p:cNvPr id="35" name="Text 32"/>
          <p:cNvSpPr txBox="1"/>
          <p:nvPr/>
        </p:nvSpPr>
        <p:spPr>
          <a:xfrm>
            <a:off x="960120" y="4096512"/>
            <a:ext cx="2103120" cy="411480"/>
          </a:xfrm>
          <a:prstGeom prst="rect">
            <a:avLst/>
          </a:prstGeom>
          <a:noFill/>
          <a:ln/>
        </p:spPr>
        <p:txBody>
          <a:bodyPr wrap="square" lIns="0" tIns="0" rIns="0" bIns="0" rtlCol="0" anchor="ctr"/>
          <a:lstStyle/>
          <a:p>
            <a:pPr algn="l" indent="0" marL="0">
              <a:buNone/>
            </a:pPr>
            <a:r>
              <a:rPr sz="1000" b="1">
                <a:solidFill>
                  <a:srgbClr val="111111"/>
                </a:solidFill>
                <a:latin typeface="Arial"/>
              </a:rPr>
              <a:t>The claim is flagged in context with Brand Book citation.</a:t>
            </a:r>
            <a:endParaRPr lang="en-US" sz="1000" dirty="0"/>
          </a:p>
        </p:txBody>
      </p:sp>
      <p:sp>
        <p:nvSpPr>
          <p:cNvPr id="36" name="Shape 33"/>
          <p:cNvSpPr/>
          <p:nvPr/>
        </p:nvSpPr>
        <p:spPr>
          <a:xfrm>
            <a:off x="3291840" y="4114800"/>
            <a:ext cx="310896" cy="310896"/>
          </a:xfrm>
          <a:prstGeom prst="ellipse">
            <a:avLst/>
          </a:prstGeom>
          <a:solidFill>
            <a:srgbClr val="FFD93D"/>
          </a:solidFill>
          <a:ln w="19050">
            <a:solidFill>
              <a:srgbClr val="111111"/>
            </a:solidFill>
            <a:prstDash val="solid"/>
          </a:ln>
        </p:spPr>
      </p:sp>
      <p:sp>
        <p:nvSpPr>
          <p:cNvPr id="37" name="Text 34"/>
          <p:cNvSpPr txBox="1"/>
          <p:nvPr/>
        </p:nvSpPr>
        <p:spPr>
          <a:xfrm>
            <a:off x="3291840" y="4114800"/>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Georgia" pitchFamily="34" charset="0"/>
                <a:ea typeface="Georgia" pitchFamily="34" charset="-122"/>
                <a:cs typeface="Georgia" pitchFamily="34" charset="-120"/>
              </a:rPr>
              <a:t>2</a:t>
            </a:r>
            <a:endParaRPr lang="en-US" sz="1200" dirty="0"/>
          </a:p>
        </p:txBody>
      </p:sp>
      <p:sp>
        <p:nvSpPr>
          <p:cNvPr id="38" name="Text 35"/>
          <p:cNvSpPr txBox="1"/>
          <p:nvPr/>
        </p:nvSpPr>
        <p:spPr>
          <a:xfrm>
            <a:off x="3703320" y="4096512"/>
            <a:ext cx="2103120" cy="411480"/>
          </a:xfrm>
          <a:prstGeom prst="rect">
            <a:avLst/>
          </a:prstGeom>
          <a:noFill/>
          <a:ln/>
        </p:spPr>
        <p:txBody>
          <a:bodyPr wrap="square" lIns="0" tIns="0" rIns="0" bIns="0" rtlCol="0" anchor="ctr"/>
          <a:lstStyle/>
          <a:p>
            <a:pPr algn="l" indent="0" marL="0">
              <a:buNone/>
            </a:pPr>
            <a:r>
              <a:rPr sz="1000" b="1">
                <a:solidFill>
                  <a:srgbClr val="111111"/>
                </a:solidFill>
                <a:latin typeface="Arial"/>
              </a:rPr>
              <a:t>Rule cited with intent-preserving fix (Intent Lock™).</a:t>
            </a:r>
            <a:endParaRPr lang="en-US" sz="1000" dirty="0"/>
          </a:p>
        </p:txBody>
      </p:sp>
      <p:sp>
        <p:nvSpPr>
          <p:cNvPr id="39" name="Shape 36"/>
          <p:cNvSpPr/>
          <p:nvPr/>
        </p:nvSpPr>
        <p:spPr>
          <a:xfrm>
            <a:off x="6035040" y="4114800"/>
            <a:ext cx="310896" cy="310896"/>
          </a:xfrm>
          <a:prstGeom prst="ellipse">
            <a:avLst/>
          </a:prstGeom>
          <a:solidFill>
            <a:srgbClr val="FFD93D"/>
          </a:solidFill>
          <a:ln w="19050">
            <a:solidFill>
              <a:srgbClr val="111111"/>
            </a:solidFill>
            <a:prstDash val="solid"/>
          </a:ln>
        </p:spPr>
      </p:sp>
      <p:sp>
        <p:nvSpPr>
          <p:cNvPr id="40" name="Text 37"/>
          <p:cNvSpPr txBox="1"/>
          <p:nvPr/>
        </p:nvSpPr>
        <p:spPr>
          <a:xfrm>
            <a:off x="6035040" y="4114800"/>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Georgia" pitchFamily="34" charset="0"/>
                <a:ea typeface="Georgia" pitchFamily="34" charset="-122"/>
                <a:cs typeface="Georgia" pitchFamily="34" charset="-120"/>
              </a:rPr>
              <a:t>3</a:t>
            </a:r>
            <a:endParaRPr lang="en-US" sz="1200" dirty="0"/>
          </a:p>
        </p:txBody>
      </p:sp>
      <p:sp>
        <p:nvSpPr>
          <p:cNvPr id="41" name="Text 38"/>
          <p:cNvSpPr txBox="1"/>
          <p:nvPr/>
        </p:nvSpPr>
        <p:spPr>
          <a:xfrm>
            <a:off x="6446520" y="4096512"/>
            <a:ext cx="2103120" cy="411480"/>
          </a:xfrm>
          <a:prstGeom prst="rect">
            <a:avLst/>
          </a:prstGeom>
          <a:noFill/>
          <a:ln/>
        </p:spPr>
        <p:txBody>
          <a:bodyPr wrap="square" lIns="0" tIns="0" rIns="0" bIns="0" rtlCol="0" anchor="ctr"/>
          <a:lstStyle/>
          <a:p>
            <a:pPr algn="l" indent="0" marL="0">
              <a:buNone/>
            </a:pPr>
            <a:r>
              <a:rPr sz="1000" b="1">
                <a:solidFill>
                  <a:srgbClr val="111111"/>
                </a:solidFill>
                <a:latin typeface="Arial"/>
              </a:rPr>
              <a:t>Reviewer signs off -&gt; SHA-256 Publish Passport sealed.</a:t>
            </a:r>
            <a:endParaRPr lang="en-US" sz="10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sz="2800" b="1">
                <a:solidFill>
                  <a:srgbClr val="FFFFFF"/>
                </a:solidFill>
                <a:latin typeface="Georgia"/>
              </a:rPr>
              <a:t>System architecture &amp; 100% evaluation uptime</a:t>
            </a:r>
            <a:endParaRPr lang="en-US" sz="2800" dirty="0"/>
          </a:p>
        </p:txBody>
      </p:sp>
      <p:sp>
        <p:nvSpPr>
          <p:cNvPr id="4" name="Shape 1"/>
          <p:cNvSpPr/>
          <p:nvPr/>
        </p:nvSpPr>
        <p:spPr>
          <a:xfrm>
            <a:off x="594360" y="1325880"/>
            <a:ext cx="1417320" cy="777240"/>
          </a:xfrm>
          <a:prstGeom prst="rect">
            <a:avLst/>
          </a:prstGeom>
          <a:solidFill>
            <a:srgbClr val="111111"/>
          </a:solidFill>
          <a:ln w="6350">
            <a:solidFill>
              <a:srgbClr val="111111"/>
            </a:solidFill>
            <a:prstDash val="solid"/>
          </a:ln>
        </p:spPr>
      </p:sp>
      <p:sp>
        <p:nvSpPr>
          <p:cNvPr id="5" name="Shape 2"/>
          <p:cNvSpPr/>
          <p:nvPr/>
        </p:nvSpPr>
        <p:spPr>
          <a:xfrm>
            <a:off x="548640" y="1280160"/>
            <a:ext cx="1417320" cy="777240"/>
          </a:xfrm>
          <a:prstGeom prst="rect">
            <a:avLst/>
          </a:prstGeom>
          <a:solidFill>
            <a:srgbClr val="6EE7B7"/>
          </a:solidFill>
          <a:ln w="22225">
            <a:solidFill>
              <a:srgbClr val="111111"/>
            </a:solidFill>
            <a:prstDash val="solid"/>
          </a:ln>
        </p:spPr>
      </p:sp>
      <p:sp>
        <p:nvSpPr>
          <p:cNvPr id="6" name="Text 3"/>
          <p:cNvSpPr txBox="1"/>
          <p:nvPr/>
        </p:nvSpPr>
        <p:spPr>
          <a:xfrm>
            <a:off x="658368" y="1371600"/>
            <a:ext cx="1197864" cy="228600"/>
          </a:xfrm>
          <a:prstGeom prst="rect">
            <a:avLst/>
          </a:prstGeom>
          <a:noFill/>
          <a:ln/>
        </p:spPr>
        <p:txBody>
          <a:bodyPr wrap="square" lIns="0" tIns="0" rIns="0" bIns="0" rtlCol="0" anchor="t"/>
          <a:lstStyle/>
          <a:p>
            <a:pPr algn="l" indent="0" marL="0">
              <a:buNone/>
            </a:pPr>
            <a:r>
              <a:rPr sz="1150" b="1">
                <a:solidFill>
                  <a:srgbClr val="111111"/>
                </a:solidFill>
                <a:latin typeface="Arial"/>
              </a:rPr>
              <a:t>Web Frontend</a:t>
            </a:r>
            <a:endParaRPr lang="en-US" sz="1150" dirty="0"/>
          </a:p>
        </p:txBody>
      </p:sp>
      <p:sp>
        <p:nvSpPr>
          <p:cNvPr id="7" name="Text 4"/>
          <p:cNvSpPr txBox="1"/>
          <p:nvPr/>
        </p:nvSpPr>
        <p:spPr>
          <a:xfrm>
            <a:off x="658368" y="1664208"/>
            <a:ext cx="1197864" cy="365760"/>
          </a:xfrm>
          <a:prstGeom prst="rect">
            <a:avLst/>
          </a:prstGeom>
          <a:noFill/>
          <a:ln/>
        </p:spPr>
        <p:txBody>
          <a:bodyPr wrap="square" lIns="0" tIns="0" rIns="0" bIns="0" rtlCol="0" anchor="t"/>
          <a:lstStyle/>
          <a:p>
            <a:pPr algn="l" indent="0" marL="0">
              <a:buNone/>
            </a:pPr>
            <a:r>
              <a:rPr sz="900">
                <a:solidFill>
                  <a:srgbClr val="111111"/>
                </a:solidFill>
                <a:latin typeface="Arial"/>
              </a:rPr>
              <a:t>Next.js 14 App Router (Prerendered, Neo-Brutalist, 360-412px Android Certified)</a:t>
            </a:r>
            <a:endParaRPr lang="en-US" sz="900" dirty="0"/>
          </a:p>
        </p:txBody>
      </p:sp>
      <p:sp>
        <p:nvSpPr>
          <p:cNvPr id="8" name="Shape 5"/>
          <p:cNvSpPr/>
          <p:nvPr/>
        </p:nvSpPr>
        <p:spPr>
          <a:xfrm>
            <a:off x="2423160" y="1325880"/>
            <a:ext cx="1417320" cy="777240"/>
          </a:xfrm>
          <a:prstGeom prst="rect">
            <a:avLst/>
          </a:prstGeom>
          <a:solidFill>
            <a:srgbClr val="111111"/>
          </a:solidFill>
          <a:ln w="6350">
            <a:solidFill>
              <a:srgbClr val="111111"/>
            </a:solidFill>
            <a:prstDash val="solid"/>
          </a:ln>
        </p:spPr>
      </p:sp>
      <p:sp>
        <p:nvSpPr>
          <p:cNvPr id="9" name="Shape 6"/>
          <p:cNvSpPr/>
          <p:nvPr/>
        </p:nvSpPr>
        <p:spPr>
          <a:xfrm>
            <a:off x="2377440" y="1280160"/>
            <a:ext cx="1417320" cy="777240"/>
          </a:xfrm>
          <a:prstGeom prst="rect">
            <a:avLst/>
          </a:prstGeom>
          <a:solidFill>
            <a:srgbClr val="FFD93D"/>
          </a:solidFill>
          <a:ln w="22225">
            <a:solidFill>
              <a:srgbClr val="111111"/>
            </a:solidFill>
            <a:prstDash val="solid"/>
          </a:ln>
        </p:spPr>
      </p:sp>
      <p:sp>
        <p:nvSpPr>
          <p:cNvPr id="10" name="Text 7"/>
          <p:cNvSpPr txBox="1"/>
          <p:nvPr/>
        </p:nvSpPr>
        <p:spPr>
          <a:xfrm>
            <a:off x="2487168" y="1371600"/>
            <a:ext cx="1197864" cy="228600"/>
          </a:xfrm>
          <a:prstGeom prst="rect">
            <a:avLst/>
          </a:prstGeom>
          <a:noFill/>
          <a:ln/>
        </p:spPr>
        <p:txBody>
          <a:bodyPr wrap="square" lIns="0" tIns="0" rIns="0" bIns="0" rtlCol="0" anchor="t"/>
          <a:lstStyle/>
          <a:p>
            <a:pPr algn="l" indent="0" marL="0">
              <a:buNone/>
            </a:pPr>
            <a:r>
              <a:rPr sz="1150" b="1">
                <a:solidFill>
                  <a:srgbClr val="111111"/>
                </a:solidFill>
                <a:latin typeface="Arial"/>
              </a:rPr>
              <a:t>Backend API</a:t>
            </a:r>
            <a:endParaRPr lang="en-US" sz="1150" dirty="0"/>
          </a:p>
        </p:txBody>
      </p:sp>
      <p:sp>
        <p:nvSpPr>
          <p:cNvPr id="11" name="Text 8"/>
          <p:cNvSpPr txBox="1"/>
          <p:nvPr/>
        </p:nvSpPr>
        <p:spPr>
          <a:xfrm>
            <a:off x="2487168" y="1664208"/>
            <a:ext cx="1197864" cy="365760"/>
          </a:xfrm>
          <a:prstGeom prst="rect">
            <a:avLst/>
          </a:prstGeom>
          <a:noFill/>
          <a:ln/>
        </p:spPr>
        <p:txBody>
          <a:bodyPr wrap="square" lIns="0" tIns="0" rIns="0" bIns="0" rtlCol="0" anchor="t"/>
          <a:lstStyle/>
          <a:p>
            <a:pPr algn="l" indent="0" marL="0">
              <a:buNone/>
            </a:pPr>
            <a:r>
              <a:rPr sz="900">
                <a:solidFill>
                  <a:srgbClr val="111111"/>
                </a:solidFill>
                <a:latin typeface="Arial"/>
              </a:rPr>
              <a:t>FastAPI on Render Docker (24/7 cron keepalive, sub-second latency)</a:t>
            </a:r>
            <a:endParaRPr lang="en-US" sz="900" dirty="0"/>
          </a:p>
        </p:txBody>
      </p:sp>
      <p:sp>
        <p:nvSpPr>
          <p:cNvPr id="12" name="Shape 9"/>
          <p:cNvSpPr/>
          <p:nvPr/>
        </p:nvSpPr>
        <p:spPr>
          <a:xfrm>
            <a:off x="2011680" y="1554480"/>
            <a:ext cx="310896" cy="201168"/>
          </a:xfrm>
          <a:prstGeom prst="rightArrow">
            <a:avLst/>
          </a:prstGeom>
          <a:solidFill>
            <a:srgbClr val="FFFFFF"/>
          </a:solidFill>
          <a:ln w="12700">
            <a:solidFill>
              <a:srgbClr val="FFFFFF"/>
            </a:solidFill>
            <a:prstDash val="solid"/>
          </a:ln>
        </p:spPr>
      </p:sp>
      <p:sp>
        <p:nvSpPr>
          <p:cNvPr id="13" name="Shape 10"/>
          <p:cNvSpPr/>
          <p:nvPr/>
        </p:nvSpPr>
        <p:spPr>
          <a:xfrm>
            <a:off x="3840480" y="1554480"/>
            <a:ext cx="256032" cy="201168"/>
          </a:xfrm>
          <a:prstGeom prst="rightArrow">
            <a:avLst/>
          </a:prstGeom>
          <a:solidFill>
            <a:srgbClr val="FFFFFF"/>
          </a:solidFill>
          <a:ln w="12700">
            <a:solidFill>
              <a:srgbClr val="FFFFFF"/>
            </a:solidFill>
            <a:prstDash val="solid"/>
          </a:ln>
        </p:spPr>
      </p:sp>
      <p:sp>
        <p:nvSpPr>
          <p:cNvPr id="14" name="Shape 11"/>
          <p:cNvSpPr/>
          <p:nvPr/>
        </p:nvSpPr>
        <p:spPr>
          <a:xfrm>
            <a:off x="4206240" y="1325880"/>
            <a:ext cx="1691640" cy="2148840"/>
          </a:xfrm>
          <a:prstGeom prst="rect">
            <a:avLst/>
          </a:prstGeom>
          <a:solidFill>
            <a:srgbClr val="111111"/>
          </a:solidFill>
          <a:ln w="6350">
            <a:solidFill>
              <a:srgbClr val="111111"/>
            </a:solidFill>
            <a:prstDash val="solid"/>
          </a:ln>
        </p:spPr>
      </p:sp>
      <p:sp>
        <p:nvSpPr>
          <p:cNvPr id="15" name="Shape 12"/>
          <p:cNvSpPr/>
          <p:nvPr/>
        </p:nvSpPr>
        <p:spPr>
          <a:xfrm>
            <a:off x="4160520" y="1280160"/>
            <a:ext cx="1691640" cy="2148840"/>
          </a:xfrm>
          <a:prstGeom prst="rect">
            <a:avLst/>
          </a:prstGeom>
          <a:solidFill>
            <a:srgbClr val="FFFFFF"/>
          </a:solidFill>
          <a:ln w="28575">
            <a:solidFill>
              <a:srgbClr val="111111"/>
            </a:solidFill>
            <a:prstDash val="solid"/>
          </a:ln>
        </p:spPr>
      </p:sp>
      <p:sp>
        <p:nvSpPr>
          <p:cNvPr id="16" name="Text 13"/>
          <p:cNvSpPr txBox="1"/>
          <p:nvPr/>
        </p:nvSpPr>
        <p:spPr>
          <a:xfrm>
            <a:off x="4270248" y="1371600"/>
            <a:ext cx="1463040" cy="228600"/>
          </a:xfrm>
          <a:prstGeom prst="rect">
            <a:avLst/>
          </a:prstGeom>
          <a:noFill/>
          <a:ln/>
        </p:spPr>
        <p:txBody>
          <a:bodyPr wrap="square" lIns="0" tIns="0" rIns="0" bIns="0" rtlCol="0" anchor="t"/>
          <a:lstStyle/>
          <a:p>
            <a:pPr algn="l" indent="0" marL="0">
              <a:buNone/>
            </a:pPr>
            <a:r>
              <a:rPr sz="1200" b="1">
                <a:solidFill>
                  <a:srgbClr val="111111"/>
                </a:solidFill>
                <a:latin typeface="Georgia"/>
              </a:rPr>
              <a:t>Pipeline Engine</a:t>
            </a:r>
            <a:endParaRPr lang="en-US" sz="1200" dirty="0"/>
          </a:p>
        </p:txBody>
      </p:sp>
      <p:sp>
        <p:nvSpPr>
          <p:cNvPr id="17" name="Text 14"/>
          <p:cNvSpPr txBox="1"/>
          <p:nvPr/>
        </p:nvSpPr>
        <p:spPr>
          <a:xfrm>
            <a:off x="4270248" y="1691640"/>
            <a:ext cx="1508760" cy="1691640"/>
          </a:xfrm>
          <a:prstGeom prst="rect">
            <a:avLst/>
          </a:prstGeom>
          <a:noFill/>
          <a:ln/>
        </p:spPr>
        <p:txBody>
          <a:bodyPr wrap="square" lIns="0" tIns="0" rIns="0" bIns="0" rtlCol="0" anchor="t"/>
          <a:lstStyle/>
          <a:p>
            <a:pPr algn="l" indent="0" marL="0">
              <a:spcAft>
                <a:spcPts val="100"/>
              </a:spcAft>
              <a:buNone/>
            </a:pPr>
            <a:r>
              <a:rPr sz="850" b="1">
                <a:solidFill>
                  <a:srgbClr val="111111"/>
                </a:solidFill>
                <a:latin typeface="Arial"/>
              </a:rPr>
              <a:t>Deterministic: Regex casing &amp; secret codename guard</a:t>
            </a:r>
            <a:endParaRPr lang="en-US" sz="850" dirty="0"/>
          </a:p>
          <a:p>
            <a:pPr algn="l" indent="0" marL="0">
              <a:spcAft>
                <a:spcPts val="100"/>
              </a:spcAft>
              <a:buNone/>
            </a:pPr>
            <a:r>
              <a:rPr sz="850" b="1">
                <a:solidFill>
                  <a:srgbClr val="111111"/>
                </a:solidFill>
                <a:latin typeface="Arial"/>
              </a:rPr>
              <a:t>Dense Embeddings: BAAI/bge-small-en ONNX cosine vector matcher</a:t>
            </a:r>
            <a:endParaRPr lang="en-US" sz="850" dirty="0"/>
          </a:p>
          <a:p>
            <a:pPr algn="l" indent="0" marL="0">
              <a:spcAft>
                <a:spcPts val="100"/>
              </a:spcAft>
              <a:buNone/>
            </a:pPr>
            <a:r>
              <a:rPr sz="850" b="1">
                <a:solidFill>
                  <a:srgbClr val="111111"/>
                </a:solidFill>
                <a:latin typeface="Arial"/>
              </a:rPr>
              <a:t>Vision Engine: 16-bin quantization &amp; WCAG contrast</a:t>
            </a:r>
            <a:endParaRPr lang="en-US" sz="850" dirty="0"/>
          </a:p>
          <a:p>
            <a:pPr algn="l" indent="0" marL="0">
              <a:spcAft>
                <a:spcPts val="100"/>
              </a:spcAft>
              <a:buNone/>
            </a:pPr>
            <a:r>
              <a:rPr sz="850" b="1">
                <a:solidFill>
                  <a:srgbClr val="111111"/>
                </a:solidFill>
                <a:latin typeface="Arial"/>
              </a:rPr>
              <a:t>Groq AI: Sub-second (&lt;800ms) Llama 3.3 tone review</a:t>
            </a:r>
            <a:endParaRPr lang="en-US" sz="850" dirty="0"/>
          </a:p>
          <a:p>
            <a:pPr algn="l" indent="0" marL="0">
              <a:spcAft>
                <a:spcPts val="100"/>
              </a:spcAft>
              <a:buNone/>
            </a:pPr>
            <a:endParaRPr lang="en-US" sz="850" dirty="0"/>
          </a:p>
          <a:p>
            <a:pPr algn="l" indent="0" marL="0">
              <a:spcAft>
                <a:spcPts val="100"/>
              </a:spcAft>
              <a:buNone/>
            </a:pPr>
            <a:endParaRPr lang="en-US" sz="850" dirty="0"/>
          </a:p>
          <a:p>
            <a:pPr algn="l" indent="0" marL="0">
              <a:spcAft>
                <a:spcPts val="100"/>
              </a:spcAft>
              <a:buNone/>
            </a:pPr>
            <a:endParaRPr lang="en-US" sz="850" dirty="0"/>
          </a:p>
          <a:p>
            <a:pPr algn="l" indent="0" marL="0">
              <a:spcAft>
                <a:spcPts val="100"/>
              </a:spcAft>
              <a:buNone/>
            </a:pPr>
            <a:endParaRPr lang="en-US" sz="850" dirty="0"/>
          </a:p>
        </p:txBody>
      </p:sp>
      <p:sp>
        <p:nvSpPr>
          <p:cNvPr id="18" name="Shape 15"/>
          <p:cNvSpPr/>
          <p:nvPr/>
        </p:nvSpPr>
        <p:spPr>
          <a:xfrm>
            <a:off x="594360" y="2560320"/>
            <a:ext cx="3246120" cy="914400"/>
          </a:xfrm>
          <a:prstGeom prst="rect">
            <a:avLst/>
          </a:prstGeom>
          <a:solidFill>
            <a:srgbClr val="111111"/>
          </a:solidFill>
          <a:ln w="6350">
            <a:solidFill>
              <a:srgbClr val="111111"/>
            </a:solidFill>
            <a:prstDash val="solid"/>
          </a:ln>
        </p:spPr>
      </p:sp>
      <p:sp>
        <p:nvSpPr>
          <p:cNvPr id="19" name="Shape 16"/>
          <p:cNvSpPr/>
          <p:nvPr/>
        </p:nvSpPr>
        <p:spPr>
          <a:xfrm>
            <a:off x="548640" y="2514600"/>
            <a:ext cx="3246120" cy="914400"/>
          </a:xfrm>
          <a:prstGeom prst="rect">
            <a:avLst/>
          </a:prstGeom>
          <a:solidFill>
            <a:srgbClr val="FF9EDB"/>
          </a:solidFill>
          <a:ln w="22225">
            <a:solidFill>
              <a:srgbClr val="111111"/>
            </a:solidFill>
            <a:prstDash val="solid"/>
          </a:ln>
        </p:spPr>
      </p:sp>
      <p:sp>
        <p:nvSpPr>
          <p:cNvPr id="20" name="Text 17"/>
          <p:cNvSpPr txBox="1"/>
          <p:nvPr/>
        </p:nvSpPr>
        <p:spPr>
          <a:xfrm>
            <a:off x="658368" y="2606040"/>
            <a:ext cx="3026664" cy="228600"/>
          </a:xfrm>
          <a:prstGeom prst="rect">
            <a:avLst/>
          </a:prstGeom>
          <a:noFill/>
          <a:ln/>
        </p:spPr>
        <p:txBody>
          <a:bodyPr wrap="square" lIns="0" tIns="0" rIns="0" bIns="0" rtlCol="0" anchor="t"/>
          <a:lstStyle/>
          <a:p>
            <a:pPr algn="l" indent="0" marL="0">
              <a:buNone/>
            </a:pPr>
            <a:r>
              <a:rPr sz="1150" b="1">
                <a:solidFill>
                  <a:srgbClr val="111111"/>
                </a:solidFill>
                <a:latin typeface="Arial"/>
              </a:rPr>
              <a:t>Evaluation Uptime</a:t>
            </a:r>
            <a:endParaRPr lang="en-US" sz="1150" dirty="0"/>
          </a:p>
        </p:txBody>
      </p:sp>
      <p:sp>
        <p:nvSpPr>
          <p:cNvPr id="21" name="Text 18"/>
          <p:cNvSpPr txBox="1"/>
          <p:nvPr/>
        </p:nvSpPr>
        <p:spPr>
          <a:xfrm>
            <a:off x="658368" y="2898648"/>
            <a:ext cx="3026664" cy="502920"/>
          </a:xfrm>
          <a:prstGeom prst="rect">
            <a:avLst/>
          </a:prstGeom>
          <a:noFill/>
          <a:ln/>
        </p:spPr>
        <p:txBody>
          <a:bodyPr wrap="square" lIns="0" tIns="0" rIns="0" bIns="0" rtlCol="0" anchor="t"/>
          <a:lstStyle/>
          <a:p>
            <a:pPr algn="l" indent="0" marL="0">
              <a:buNone/>
            </a:pPr>
            <a:r>
              <a:rPr sz="900">
                <a:solidFill>
                  <a:srgbClr val="111111"/>
                </a:solidFill>
                <a:latin typeface="Arial"/>
              </a:rPr>
              <a:t>Dual-Link Redundancy: Primary cosmicboom.xyz + Native Vercel mirror (instant fallback)</a:t>
            </a:r>
            <a:endParaRPr lang="en-US" sz="900" dirty="0"/>
          </a:p>
        </p:txBody>
      </p:sp>
      <p:sp>
        <p:nvSpPr>
          <p:cNvPr id="22" name="Shape 19"/>
          <p:cNvSpPr/>
          <p:nvPr/>
        </p:nvSpPr>
        <p:spPr>
          <a:xfrm>
            <a:off x="1143000" y="2103120"/>
            <a:ext cx="219456" cy="365760"/>
          </a:xfrm>
          <a:prstGeom prst="downArrow">
            <a:avLst/>
          </a:prstGeom>
          <a:solidFill>
            <a:srgbClr val="FFFFFF"/>
          </a:solidFill>
          <a:ln w="12700">
            <a:solidFill>
              <a:srgbClr val="FFFFFF"/>
            </a:solidFill>
            <a:prstDash val="solid"/>
          </a:ln>
        </p:spPr>
      </p:sp>
      <p:sp>
        <p:nvSpPr>
          <p:cNvPr id="23" name="Shape 20"/>
          <p:cNvSpPr/>
          <p:nvPr/>
        </p:nvSpPr>
        <p:spPr>
          <a:xfrm>
            <a:off x="2834640" y="2103120"/>
            <a:ext cx="219456" cy="365760"/>
          </a:xfrm>
          <a:prstGeom prst="downArrow">
            <a:avLst/>
          </a:prstGeom>
          <a:solidFill>
            <a:srgbClr val="FFFFFF"/>
          </a:solidFill>
          <a:ln w="12700">
            <a:solidFill>
              <a:srgbClr val="FFFFFF"/>
            </a:solidFill>
            <a:prstDash val="solid"/>
          </a:ln>
        </p:spPr>
      </p:sp>
      <p:sp>
        <p:nvSpPr>
          <p:cNvPr id="24" name="Shape 21"/>
          <p:cNvSpPr/>
          <p:nvPr/>
        </p:nvSpPr>
        <p:spPr>
          <a:xfrm>
            <a:off x="594360" y="3794760"/>
            <a:ext cx="5303520" cy="457200"/>
          </a:xfrm>
          <a:prstGeom prst="rect">
            <a:avLst/>
          </a:prstGeom>
          <a:solidFill>
            <a:srgbClr val="111111"/>
          </a:solidFill>
          <a:ln w="6350">
            <a:solidFill>
              <a:srgbClr val="111111"/>
            </a:solidFill>
            <a:prstDash val="solid"/>
          </a:ln>
        </p:spPr>
      </p:sp>
      <p:sp>
        <p:nvSpPr>
          <p:cNvPr id="25" name="Shape 22"/>
          <p:cNvSpPr/>
          <p:nvPr/>
        </p:nvSpPr>
        <p:spPr>
          <a:xfrm>
            <a:off x="548640" y="3749040"/>
            <a:ext cx="5303520" cy="457200"/>
          </a:xfrm>
          <a:prstGeom prst="rect">
            <a:avLst/>
          </a:prstGeom>
          <a:solidFill>
            <a:srgbClr val="FFD93D"/>
          </a:solidFill>
          <a:ln w="22225">
            <a:solidFill>
              <a:srgbClr val="111111"/>
            </a:solidFill>
            <a:prstDash val="solid"/>
          </a:ln>
        </p:spPr>
      </p:sp>
      <p:sp>
        <p:nvSpPr>
          <p:cNvPr id="26" name="Text 23"/>
          <p:cNvSpPr txBox="1"/>
          <p:nvPr/>
        </p:nvSpPr>
        <p:spPr>
          <a:xfrm>
            <a:off x="685800" y="3749040"/>
            <a:ext cx="5029200" cy="457200"/>
          </a:xfrm>
          <a:prstGeom prst="rect">
            <a:avLst/>
          </a:prstGeom>
          <a:noFill/>
          <a:ln/>
        </p:spPr>
        <p:txBody>
          <a:bodyPr wrap="square" lIns="0" tIns="0" rIns="0" bIns="0" rtlCol="0" anchor="ctr"/>
          <a:lstStyle/>
          <a:p>
            <a:pPr algn="l" indent="0" marL="0">
              <a:buNone/>
            </a:pPr>
            <a:r>
              <a:rPr sz="1000" b="1">
                <a:solidFill>
                  <a:srgbClr val="111111"/>
                </a:solidFill>
                <a:latin typeface="Arial"/>
              </a:rPr>
              <a:t>Session Sandboxing: Multi-tenant org_{session_id} isolates judge workspaces</a:t>
            </a:r>
            <a:endParaRPr lang="en-US" sz="1000" dirty="0"/>
          </a:p>
        </p:txBody>
      </p:sp>
      <p:sp>
        <p:nvSpPr>
          <p:cNvPr id="27" name="Shape 24"/>
          <p:cNvSpPr/>
          <p:nvPr/>
        </p:nvSpPr>
        <p:spPr>
          <a:xfrm>
            <a:off x="2011680" y="3456432"/>
            <a:ext cx="219456" cy="256032"/>
          </a:xfrm>
          <a:prstGeom prst="downArrow">
            <a:avLst/>
          </a:prstGeom>
          <a:solidFill>
            <a:srgbClr val="FFFFFF"/>
          </a:solidFill>
          <a:ln w="12700">
            <a:solidFill>
              <a:srgbClr val="FFFFFF"/>
            </a:solidFill>
            <a:prstDash val="solid"/>
          </a:ln>
        </p:spPr>
      </p:sp>
      <p:sp>
        <p:nvSpPr>
          <p:cNvPr id="28" name="Shape 25"/>
          <p:cNvSpPr/>
          <p:nvPr/>
        </p:nvSpPr>
        <p:spPr>
          <a:xfrm>
            <a:off x="4846320" y="3456432"/>
            <a:ext cx="219456" cy="256032"/>
          </a:xfrm>
          <a:prstGeom prst="downArrow">
            <a:avLst/>
          </a:prstGeom>
          <a:solidFill>
            <a:srgbClr val="FFFFFF"/>
          </a:solidFill>
          <a:ln w="12700">
            <a:solidFill>
              <a:srgbClr val="FFFFFF"/>
            </a:solidFill>
            <a:prstDash val="solid"/>
          </a:ln>
        </p:spPr>
      </p:sp>
      <p:sp>
        <p:nvSpPr>
          <p:cNvPr id="29" name="Text 26"/>
          <p:cNvSpPr txBox="1"/>
          <p:nvPr/>
        </p:nvSpPr>
        <p:spPr>
          <a:xfrm>
            <a:off x="548640" y="4370832"/>
            <a:ext cx="5303520" cy="228600"/>
          </a:xfrm>
          <a:prstGeom prst="rect">
            <a:avLst/>
          </a:prstGeom>
          <a:noFill/>
          <a:ln/>
        </p:spPr>
        <p:txBody>
          <a:bodyPr wrap="square" lIns="0" tIns="0" rIns="0" bIns="0" rtlCol="0" anchor="t"/>
          <a:lstStyle/>
          <a:p>
            <a:pPr algn="l" indent="0" marL="0">
              <a:buNone/>
            </a:pPr>
            <a:r>
              <a:rPr sz="850" b="1">
                <a:solidFill>
                  <a:srgbClr val="D9D4C5"/>
                </a:solidFill>
                <a:latin typeface="Courier New"/>
              </a:rPr>
              <a:t>LIVE VERIFIER: https://www.cosmicboom.xyz/verify/pass_sub_demo_1</a:t>
            </a:r>
            <a:endParaRPr lang="en-US" sz="850" dirty="0"/>
          </a:p>
        </p:txBody>
      </p:sp>
      <p:sp>
        <p:nvSpPr>
          <p:cNvPr id="30" name="Shape 27"/>
          <p:cNvSpPr/>
          <p:nvPr/>
        </p:nvSpPr>
        <p:spPr>
          <a:xfrm>
            <a:off x="6172200" y="1280160"/>
            <a:ext cx="0" cy="3246120"/>
          </a:xfrm>
          <a:prstGeom prst="line">
            <a:avLst/>
          </a:prstGeom>
          <a:noFill/>
          <a:ln w="12700">
            <a:solidFill>
              <a:srgbClr val="FFFFFF"/>
            </a:solidFill>
            <a:prstDash val="solid"/>
          </a:ln>
        </p:spPr>
      </p:sp>
      <p:sp>
        <p:nvSpPr>
          <p:cNvPr id="31" name="Text 28"/>
          <p:cNvSpPr txBox="1"/>
          <p:nvPr/>
        </p:nvSpPr>
        <p:spPr>
          <a:xfrm>
            <a:off x="6400800" y="1280160"/>
            <a:ext cx="2194560" cy="182880"/>
          </a:xfrm>
          <a:prstGeom prst="rect">
            <a:avLst/>
          </a:prstGeom>
          <a:noFill/>
          <a:ln/>
        </p:spPr>
        <p:txBody>
          <a:bodyPr wrap="square" lIns="0" tIns="0" rIns="0" bIns="0" rtlCol="0" anchor="t"/>
          <a:lstStyle/>
          <a:p>
            <a:pPr algn="l" indent="0" marL="0">
              <a:buNone/>
            </a:pPr>
            <a:r>
              <a:rPr lang="en-US" sz="850" b="1" dirty="0">
                <a:solidFill>
                  <a:srgbClr val="FFD93D"/>
                </a:solidFill>
                <a:latin typeface="Courier New" pitchFamily="34" charset="0"/>
                <a:ea typeface="Courier New" pitchFamily="34" charset="-122"/>
                <a:cs typeface="Courier New" pitchFamily="34" charset="-120"/>
              </a:rPr>
              <a:t>SAFEGUARDS</a:t>
            </a:r>
            <a:endParaRPr lang="en-US" sz="850" dirty="0"/>
          </a:p>
        </p:txBody>
      </p:sp>
      <p:sp>
        <p:nvSpPr>
          <p:cNvPr id="32" name="Text 29"/>
          <p:cNvSpPr txBox="1"/>
          <p:nvPr/>
        </p:nvSpPr>
        <p:spPr>
          <a:xfrm>
            <a:off x="6400800" y="1572768"/>
            <a:ext cx="2194560" cy="228600"/>
          </a:xfrm>
          <a:prstGeom prst="rect">
            <a:avLst/>
          </a:prstGeom>
          <a:noFill/>
          <a:ln/>
        </p:spPr>
        <p:txBody>
          <a:bodyPr wrap="square" lIns="0" tIns="0" rIns="0" bIns="0" rtlCol="0" anchor="t"/>
          <a:lstStyle/>
          <a:p>
            <a:pPr algn="l" indent="0" marL="0">
              <a:buNone/>
            </a:pPr>
            <a:r>
              <a:rPr lang="en-US" sz="1200" b="1" dirty="0">
                <a:solidFill>
                  <a:srgbClr val="FFFFFF"/>
                </a:solidFill>
                <a:latin typeface="Georgia" pitchFamily="34" charset="0"/>
                <a:ea typeface="Georgia" pitchFamily="34" charset="-122"/>
                <a:cs typeface="Georgia" pitchFamily="34" charset="-120"/>
              </a:rPr>
              <a:t>People decide</a:t>
            </a:r>
            <a:endParaRPr lang="en-US" sz="1200" dirty="0"/>
          </a:p>
        </p:txBody>
      </p:sp>
      <p:sp>
        <p:nvSpPr>
          <p:cNvPr id="33" name="Text 30"/>
          <p:cNvSpPr txBox="1"/>
          <p:nvPr/>
        </p:nvSpPr>
        <p:spPr>
          <a:xfrm>
            <a:off x="6400800" y="1801368"/>
            <a:ext cx="2194560" cy="347472"/>
          </a:xfrm>
          <a:prstGeom prst="rect">
            <a:avLst/>
          </a:prstGeom>
          <a:noFill/>
          <a:ln/>
        </p:spPr>
        <p:txBody>
          <a:bodyPr wrap="square" lIns="0" tIns="0" rIns="0" bIns="0" rtlCol="0" anchor="t"/>
          <a:lstStyle/>
          <a:p>
            <a:pPr algn="l" indent="0" marL="0">
              <a:buNone/>
            </a:pPr>
            <a:r>
              <a:rPr lang="en-US" sz="950" dirty="0">
                <a:solidFill>
                  <a:srgbClr val="D9D4C5"/>
                </a:solidFill>
                <a:latin typeface="Arial" pitchFamily="34" charset="0"/>
                <a:ea typeface="Arial" pitchFamily="34" charset="-122"/>
                <a:cs typeface="Arial" pitchFamily="34" charset="-120"/>
              </a:rPr>
              <a:t>Nothing is published without approval.</a:t>
            </a:r>
            <a:endParaRPr lang="en-US" sz="950" dirty="0"/>
          </a:p>
        </p:txBody>
      </p:sp>
      <p:sp>
        <p:nvSpPr>
          <p:cNvPr id="34" name="Text 31"/>
          <p:cNvSpPr txBox="1"/>
          <p:nvPr/>
        </p:nvSpPr>
        <p:spPr>
          <a:xfrm>
            <a:off x="6400800" y="2167128"/>
            <a:ext cx="2194560" cy="228600"/>
          </a:xfrm>
          <a:prstGeom prst="rect">
            <a:avLst/>
          </a:prstGeom>
          <a:noFill/>
          <a:ln/>
        </p:spPr>
        <p:txBody>
          <a:bodyPr wrap="square" lIns="0" tIns="0" rIns="0" bIns="0" rtlCol="0" anchor="t"/>
          <a:lstStyle/>
          <a:p>
            <a:pPr algn="l" indent="0" marL="0">
              <a:buNone/>
            </a:pPr>
            <a:r>
              <a:rPr sz="1200" b="1">
                <a:solidFill>
                  <a:srgbClr val="FFFFFF"/>
                </a:solidFill>
                <a:latin typeface="Georgia"/>
              </a:rPr>
              <a:t>Zero PII Leakage</a:t>
            </a:r>
            <a:endParaRPr lang="en-US" sz="1200" dirty="0"/>
          </a:p>
        </p:txBody>
      </p:sp>
      <p:sp>
        <p:nvSpPr>
          <p:cNvPr id="35" name="Text 32"/>
          <p:cNvSpPr txBox="1"/>
          <p:nvPr/>
        </p:nvSpPr>
        <p:spPr>
          <a:xfrm>
            <a:off x="6400800" y="2395728"/>
            <a:ext cx="2194560" cy="347472"/>
          </a:xfrm>
          <a:prstGeom prst="rect">
            <a:avLst/>
          </a:prstGeom>
          <a:noFill/>
          <a:ln/>
        </p:spPr>
        <p:txBody>
          <a:bodyPr wrap="square" lIns="0" tIns="0" rIns="0" bIns="0" rtlCol="0" anchor="t"/>
          <a:lstStyle/>
          <a:p>
            <a:pPr algn="l" indent="0" marL="0">
              <a:buNone/>
            </a:pPr>
            <a:r>
              <a:rPr sz="950">
                <a:solidFill>
                  <a:srgbClr val="D9D4C5"/>
                </a:solidFill>
                <a:latin typeface="Arial"/>
              </a:rPr>
              <a:t>Codenames &amp; numbers tokenized before Groq AI.</a:t>
            </a:r>
            <a:endParaRPr lang="en-US" sz="950" dirty="0"/>
          </a:p>
        </p:txBody>
      </p:sp>
      <p:sp>
        <p:nvSpPr>
          <p:cNvPr id="36" name="Text 33"/>
          <p:cNvSpPr txBox="1"/>
          <p:nvPr/>
        </p:nvSpPr>
        <p:spPr>
          <a:xfrm>
            <a:off x="6400800" y="2761488"/>
            <a:ext cx="2194560" cy="228600"/>
          </a:xfrm>
          <a:prstGeom prst="rect">
            <a:avLst/>
          </a:prstGeom>
          <a:noFill/>
          <a:ln/>
        </p:spPr>
        <p:txBody>
          <a:bodyPr wrap="square" lIns="0" tIns="0" rIns="0" bIns="0" rtlCol="0" anchor="t"/>
          <a:lstStyle/>
          <a:p>
            <a:pPr algn="l" indent="0" marL="0">
              <a:buNone/>
            </a:pPr>
            <a:r>
              <a:rPr sz="1200" b="1">
                <a:solidFill>
                  <a:srgbClr val="FFFFFF"/>
                </a:solidFill>
                <a:latin typeface="Georgia"/>
              </a:rPr>
              <a:t>Cold-Start Alert</a:t>
            </a:r>
            <a:endParaRPr lang="en-US" sz="1200" dirty="0"/>
          </a:p>
        </p:txBody>
      </p:sp>
      <p:sp>
        <p:nvSpPr>
          <p:cNvPr id="37" name="Text 34"/>
          <p:cNvSpPr txBox="1"/>
          <p:nvPr/>
        </p:nvSpPr>
        <p:spPr>
          <a:xfrm>
            <a:off x="6400800" y="2990088"/>
            <a:ext cx="2194560" cy="347472"/>
          </a:xfrm>
          <a:prstGeom prst="rect">
            <a:avLst/>
          </a:prstGeom>
          <a:noFill/>
          <a:ln/>
        </p:spPr>
        <p:txBody>
          <a:bodyPr wrap="square" lIns="0" tIns="0" rIns="0" bIns="0" rtlCol="0" anchor="t"/>
          <a:lstStyle/>
          <a:p>
            <a:pPr algn="l" indent="0" marL="0">
              <a:buNone/>
            </a:pPr>
            <a:r>
              <a:rPr sz="950">
                <a:solidFill>
                  <a:srgbClr val="D9D4C5"/>
                </a:solidFill>
                <a:latin typeface="Arial"/>
              </a:rPr>
              <a:t>On-screen banner notifies if cloud container is spinning up.</a:t>
            </a:r>
            <a:endParaRPr lang="en-US" sz="950" dirty="0"/>
          </a:p>
        </p:txBody>
      </p:sp>
      <p:sp>
        <p:nvSpPr>
          <p:cNvPr id="38" name="Text 35"/>
          <p:cNvSpPr txBox="1"/>
          <p:nvPr/>
        </p:nvSpPr>
        <p:spPr>
          <a:xfrm>
            <a:off x="6400800" y="3355848"/>
            <a:ext cx="2194560" cy="228600"/>
          </a:xfrm>
          <a:prstGeom prst="rect">
            <a:avLst/>
          </a:prstGeom>
          <a:noFill/>
          <a:ln/>
        </p:spPr>
        <p:txBody>
          <a:bodyPr wrap="square" lIns="0" tIns="0" rIns="0" bIns="0" rtlCol="0" anchor="t"/>
          <a:lstStyle/>
          <a:p>
            <a:pPr algn="l" indent="0" marL="0">
              <a:buNone/>
            </a:pPr>
            <a:r>
              <a:rPr sz="1200" b="1">
                <a:solidFill>
                  <a:srgbClr val="FFFFFF"/>
                </a:solidFill>
                <a:latin typeface="Georgia"/>
              </a:rPr>
              <a:t>Tamper Detection</a:t>
            </a:r>
            <a:endParaRPr lang="en-US" sz="1200" dirty="0"/>
          </a:p>
        </p:txBody>
      </p:sp>
      <p:sp>
        <p:nvSpPr>
          <p:cNvPr id="39" name="Text 36"/>
          <p:cNvSpPr txBox="1"/>
          <p:nvPr/>
        </p:nvSpPr>
        <p:spPr>
          <a:xfrm>
            <a:off x="6400800" y="3584448"/>
            <a:ext cx="2194560" cy="347472"/>
          </a:xfrm>
          <a:prstGeom prst="rect">
            <a:avLst/>
          </a:prstGeom>
          <a:noFill/>
          <a:ln/>
        </p:spPr>
        <p:txBody>
          <a:bodyPr wrap="square" lIns="0" tIns="0" rIns="0" bIns="0" rtlCol="0" anchor="t"/>
          <a:lstStyle/>
          <a:p>
            <a:pPr algn="l" indent="0" marL="0">
              <a:buNone/>
            </a:pPr>
            <a:r>
              <a:rPr sz="950">
                <a:solidFill>
                  <a:srgbClr val="D9D4C5"/>
                </a:solidFill>
                <a:latin typeface="Arial"/>
              </a:rPr>
              <a:t>SHA-256 seal exposes DB mutations in real time.</a:t>
            </a:r>
            <a:endParaRPr lang="en-US" sz="950" dirty="0"/>
          </a:p>
        </p:txBody>
      </p:sp>
      <p:sp>
        <p:nvSpPr>
          <p:cNvPr id="40" name="Text 37"/>
          <p:cNvSpPr txBox="1"/>
          <p:nvPr/>
        </p:nvSpPr>
        <p:spPr>
          <a:xfrm>
            <a:off x="6400800" y="3950208"/>
            <a:ext cx="2194560" cy="228600"/>
          </a:xfrm>
          <a:prstGeom prst="rect">
            <a:avLst/>
          </a:prstGeom>
          <a:noFill/>
          <a:ln/>
        </p:spPr>
        <p:txBody>
          <a:bodyPr wrap="square" lIns="0" tIns="0" rIns="0" bIns="0" rtlCol="0" anchor="t"/>
          <a:lstStyle/>
          <a:p>
            <a:pPr algn="l" indent="0" marL="0">
              <a:buNone/>
            </a:pPr>
            <a:r>
              <a:rPr lang="en-US" sz="1200" b="1" dirty="0">
                <a:solidFill>
                  <a:srgbClr val="FFFFFF"/>
                </a:solidFill>
                <a:latin typeface="Georgia" pitchFamily="34" charset="0"/>
                <a:ea typeface="Georgia" pitchFamily="34" charset="-122"/>
                <a:cs typeface="Georgia" pitchFamily="34" charset="-120"/>
              </a:rPr>
              <a:t>Disclose AI use</a:t>
            </a:r>
            <a:endParaRPr lang="en-US" sz="1200" dirty="0"/>
          </a:p>
        </p:txBody>
      </p:sp>
      <p:sp>
        <p:nvSpPr>
          <p:cNvPr id="41" name="Text 38"/>
          <p:cNvSpPr txBox="1"/>
          <p:nvPr/>
        </p:nvSpPr>
        <p:spPr>
          <a:xfrm>
            <a:off x="6400800" y="4178808"/>
            <a:ext cx="2194560" cy="347472"/>
          </a:xfrm>
          <a:prstGeom prst="rect">
            <a:avLst/>
          </a:prstGeom>
          <a:noFill/>
          <a:ln/>
        </p:spPr>
        <p:txBody>
          <a:bodyPr wrap="square" lIns="0" tIns="0" rIns="0" bIns="0" rtlCol="0" anchor="t"/>
          <a:lstStyle/>
          <a:p>
            <a:pPr algn="l" indent="0" marL="0">
              <a:buNone/>
            </a:pPr>
            <a:r>
              <a:rPr lang="en-US" sz="950" dirty="0">
                <a:solidFill>
                  <a:srgbClr val="D9D4C5"/>
                </a:solidFill>
                <a:latin typeface="Arial" pitchFamily="34" charset="0"/>
                <a:ea typeface="Arial" pitchFamily="34" charset="-122"/>
                <a:cs typeface="Arial" pitchFamily="34" charset="-120"/>
              </a:rPr>
              <a:t>Every review logs which AI was used.</a:t>
            </a:r>
            <a:endParaRPr lang="en-US" sz="9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sz="2800" b="1">
                <a:solidFill>
                  <a:srgbClr val="111111"/>
                </a:solidFill>
                <a:latin typeface="Georgia"/>
              </a:rPr>
              <a:t>Round 2 Commitments Delivered 100% in Round 3</a:t>
            </a:r>
            <a:endParaRPr lang="en-US" sz="2800" dirty="0"/>
          </a:p>
        </p:txBody>
      </p:sp>
      <p:sp>
        <p:nvSpPr>
          <p:cNvPr id="4" name="Shape 1"/>
          <p:cNvSpPr/>
          <p:nvPr/>
        </p:nvSpPr>
        <p:spPr>
          <a:xfrm>
            <a:off x="548640" y="1280160"/>
            <a:ext cx="1691640" cy="457200"/>
          </a:xfrm>
          <a:prstGeom prst="homePlate">
            <a:avLst/>
          </a:prstGeom>
          <a:solidFill>
            <a:srgbClr val="D9D4C5"/>
          </a:solidFill>
          <a:ln w="22225">
            <a:solidFill>
              <a:srgbClr val="111111"/>
            </a:solidFill>
            <a:prstDash val="solid"/>
          </a:ln>
        </p:spPr>
      </p:sp>
      <p:sp>
        <p:nvSpPr>
          <p:cNvPr id="5" name="Text 2"/>
          <p:cNvSpPr txBox="1"/>
          <p:nvPr/>
        </p:nvSpPr>
        <p:spPr>
          <a:xfrm>
            <a:off x="640080" y="1280160"/>
            <a:ext cx="1371600" cy="457200"/>
          </a:xfrm>
          <a:prstGeom prst="rect">
            <a:avLst/>
          </a:prstGeom>
          <a:noFill/>
          <a:ln/>
        </p:spPr>
        <p:txBody>
          <a:bodyPr wrap="square" lIns="0" tIns="0" rIns="0" bIns="0" rtlCol="0" anchor="ctr"/>
          <a:lstStyle/>
          <a:p>
            <a:pPr algn="l" indent="0" marL="0">
              <a:buNone/>
            </a:pPr>
            <a:r>
              <a:rPr sz="900" b="1">
                <a:solidFill>
                  <a:srgbClr val="111111"/>
                </a:solidFill>
                <a:latin typeface="Courier New"/>
              </a:rPr>
              <a:t>ROUND 1: PLAN (DONE)</a:t>
            </a:r>
            <a:endParaRPr lang="en-US" sz="900" dirty="0"/>
          </a:p>
        </p:txBody>
      </p:sp>
      <p:sp>
        <p:nvSpPr>
          <p:cNvPr id="6" name="Text 3"/>
          <p:cNvSpPr txBox="1"/>
          <p:nvPr/>
        </p:nvSpPr>
        <p:spPr>
          <a:xfrm>
            <a:off x="594360" y="1874520"/>
            <a:ext cx="1600200" cy="1554480"/>
          </a:xfrm>
          <a:prstGeom prst="rect">
            <a:avLst/>
          </a:prstGeom>
          <a:noFill/>
          <a:ln/>
        </p:spPr>
        <p:txBody>
          <a:bodyPr wrap="square" lIns="0" tIns="0" rIns="0" bIns="0" rtlCol="0" anchor="t"/>
          <a:lstStyle/>
          <a:p>
            <a:pPr marL="342900" indent="-342900">
              <a:spcAft>
                <a:spcPts val="500"/>
              </a:spcAft>
              <a:buSzPct val="100000"/>
              <a:buChar char="•"/>
            </a:pPr>
            <a:r>
              <a:rPr sz="1050">
                <a:solidFill>
                  <a:srgbClr val="111111"/>
                </a:solidFill>
                <a:latin typeface="Arial"/>
              </a:rPr>
              <a:t>Problem research</a:t>
            </a:r>
            <a:endParaRPr lang="en-US" sz="1050" dirty="0"/>
          </a:p>
          <a:p>
            <a:pPr marL="342900" indent="-342900">
              <a:spcAft>
                <a:spcPts val="500"/>
              </a:spcAft>
              <a:buSzPct val="100000"/>
              <a:buChar char="•"/>
            </a:pPr>
            <a:r>
              <a:rPr sz="1050">
                <a:solidFill>
                  <a:srgbClr val="111111"/>
                </a:solidFill>
                <a:latin typeface="Arial"/>
              </a:rPr>
              <a:t>UI wireframes</a:t>
            </a:r>
            <a:endParaRPr lang="en-US" sz="1050" dirty="0"/>
          </a:p>
          <a:p>
            <a:pPr marL="342900" indent="-342900">
              <a:spcAft>
                <a:spcPts val="500"/>
              </a:spcAft>
              <a:buSzPct val="100000"/>
              <a:buChar char="•"/>
            </a:pPr>
            <a:r>
              <a:rPr sz="1050">
                <a:solidFill>
                  <a:srgbClr val="111111"/>
                </a:solidFill>
                <a:latin typeface="Arial"/>
              </a:rPr>
              <a:t>System architecture</a:t>
            </a:r>
            <a:endParaRPr lang="en-US" sz="1050" dirty="0"/>
          </a:p>
        </p:txBody>
      </p:sp>
      <p:sp>
        <p:nvSpPr>
          <p:cNvPr id="7" name="Shape 4"/>
          <p:cNvSpPr/>
          <p:nvPr/>
        </p:nvSpPr>
        <p:spPr>
          <a:xfrm>
            <a:off x="2304288" y="1280160"/>
            <a:ext cx="1691640" cy="457200"/>
          </a:xfrm>
          <a:prstGeom prst="homePlate">
            <a:avLst/>
          </a:prstGeom>
          <a:solidFill>
            <a:srgbClr val="FFD93D"/>
          </a:solidFill>
          <a:ln w="22225">
            <a:solidFill>
              <a:srgbClr val="111111"/>
            </a:solidFill>
            <a:prstDash val="solid"/>
          </a:ln>
        </p:spPr>
      </p:sp>
      <p:sp>
        <p:nvSpPr>
          <p:cNvPr id="8" name="Text 5"/>
          <p:cNvSpPr txBox="1"/>
          <p:nvPr/>
        </p:nvSpPr>
        <p:spPr>
          <a:xfrm>
            <a:off x="2395728" y="1280160"/>
            <a:ext cx="1371600" cy="457200"/>
          </a:xfrm>
          <a:prstGeom prst="rect">
            <a:avLst/>
          </a:prstGeom>
          <a:noFill/>
          <a:ln/>
        </p:spPr>
        <p:txBody>
          <a:bodyPr wrap="square" lIns="0" tIns="0" rIns="0" bIns="0" rtlCol="0" anchor="ctr"/>
          <a:lstStyle/>
          <a:p>
            <a:pPr algn="l" indent="0" marL="0">
              <a:buNone/>
            </a:pPr>
            <a:r>
              <a:rPr sz="900" b="1">
                <a:solidFill>
                  <a:srgbClr val="111111"/>
                </a:solidFill>
                <a:latin typeface="Courier New"/>
              </a:rPr>
              <a:t>ROUND 2: BUILD (DONE)</a:t>
            </a:r>
            <a:endParaRPr lang="en-US" sz="900" dirty="0"/>
          </a:p>
        </p:txBody>
      </p:sp>
      <p:sp>
        <p:nvSpPr>
          <p:cNvPr id="9" name="Text 6"/>
          <p:cNvSpPr txBox="1"/>
          <p:nvPr/>
        </p:nvSpPr>
        <p:spPr>
          <a:xfrm>
            <a:off x="2350008" y="1874520"/>
            <a:ext cx="1600200" cy="1554480"/>
          </a:xfrm>
          <a:prstGeom prst="rect">
            <a:avLst/>
          </a:prstGeom>
          <a:noFill/>
          <a:ln/>
        </p:spPr>
        <p:txBody>
          <a:bodyPr wrap="square" lIns="0" tIns="0" rIns="0" bIns="0" rtlCol="0" anchor="t"/>
          <a:lstStyle/>
          <a:p>
            <a:pPr marL="342900" indent="-342900">
              <a:spcAft>
                <a:spcPts val="500"/>
              </a:spcAft>
              <a:buSzPct val="100000"/>
              <a:buChar char="•"/>
            </a:pPr>
            <a:r>
              <a:rPr sz="1050">
                <a:solidFill>
                  <a:srgbClr val="111111"/>
                </a:solidFill>
                <a:latin typeface="Arial"/>
              </a:rPr>
              <a:t>Working core workflow</a:t>
            </a:r>
            <a:endParaRPr lang="en-US" sz="1050" dirty="0"/>
          </a:p>
          <a:p>
            <a:pPr marL="342900" indent="-342900">
              <a:spcAft>
                <a:spcPts val="500"/>
              </a:spcAft>
              <a:buSzPct val="100000"/>
              <a:buChar char="•"/>
            </a:pPr>
            <a:r>
              <a:rPr sz="1050">
                <a:solidFill>
                  <a:srgbClr val="111111"/>
                </a:solidFill>
                <a:latin typeface="Arial"/>
              </a:rPr>
              <a:t>Groq AI (&lt;800ms)</a:t>
            </a:r>
            <a:endParaRPr lang="en-US" sz="1050" dirty="0"/>
          </a:p>
          <a:p>
            <a:pPr marL="342900" indent="-342900">
              <a:spcAft>
                <a:spcPts val="500"/>
              </a:spcAft>
              <a:buSzPct val="100000"/>
              <a:buChar char="•"/>
            </a:pPr>
            <a:r>
              <a:rPr sz="1050">
                <a:solidFill>
                  <a:srgbClr val="111111"/>
                </a:solidFill>
                <a:latin typeface="Arial"/>
              </a:rPr>
              <a:t>Claim Ledger &amp; Expiry</a:t>
            </a:r>
            <a:endParaRPr lang="en-US" sz="1050" dirty="0"/>
          </a:p>
          <a:p>
            <a:pPr marL="342900" indent="-342900">
              <a:spcAft>
                <a:spcPts val="500"/>
              </a:spcAft>
              <a:buSzPct val="100000"/>
              <a:buChar char="•"/>
            </a:pPr>
            <a:r>
              <a:rPr sz="1050">
                <a:solidFill>
                  <a:srgbClr val="111111"/>
                </a:solidFill>
                <a:latin typeface="Arial"/>
              </a:rPr>
              <a:t>Publish Passport</a:t>
            </a:r>
            <a:endParaRPr lang="en-US" sz="1050" dirty="0"/>
          </a:p>
          <a:p>
            <a:pPr marL="342900" indent="-342900">
              <a:spcAft>
                <a:spcPts val="500"/>
              </a:spcAft>
              <a:buSzPct val="100000"/>
              <a:buChar char="•"/>
            </a:pPr>
            <a:r>
              <a:rPr sz="1050">
                <a:solidFill>
                  <a:srgbClr val="111111"/>
                </a:solidFill>
                <a:latin typeface="Arial"/>
              </a:rPr>
              <a:t>Self-Guided Tour</a:t>
            </a:r>
            <a:endParaRPr lang="en-US" sz="1050" dirty="0"/>
          </a:p>
        </p:txBody>
      </p:sp>
      <p:sp>
        <p:nvSpPr>
          <p:cNvPr id="10" name="Shape 7"/>
          <p:cNvSpPr/>
          <p:nvPr/>
        </p:nvSpPr>
        <p:spPr>
          <a:xfrm>
            <a:off x="4059936" y="1280160"/>
            <a:ext cx="1691640" cy="457200"/>
          </a:xfrm>
          <a:prstGeom prst="homePlate">
            <a:avLst/>
          </a:prstGeom>
          <a:solidFill>
            <a:srgbClr val="6EE7B7"/>
          </a:solidFill>
          <a:ln w="22225">
            <a:solidFill>
              <a:srgbClr val="111111"/>
            </a:solidFill>
            <a:prstDash val="solid"/>
          </a:ln>
        </p:spPr>
      </p:sp>
      <p:sp>
        <p:nvSpPr>
          <p:cNvPr id="11" name="Text 8"/>
          <p:cNvSpPr txBox="1"/>
          <p:nvPr/>
        </p:nvSpPr>
        <p:spPr>
          <a:xfrm>
            <a:off x="4151376" y="1280160"/>
            <a:ext cx="1371600" cy="457200"/>
          </a:xfrm>
          <a:prstGeom prst="rect">
            <a:avLst/>
          </a:prstGeom>
          <a:noFill/>
          <a:ln/>
        </p:spPr>
        <p:txBody>
          <a:bodyPr wrap="square" lIns="0" tIns="0" rIns="0" bIns="0" rtlCol="0" anchor="ctr"/>
          <a:lstStyle/>
          <a:p>
            <a:pPr algn="l" indent="0" marL="0">
              <a:buNone/>
            </a:pPr>
            <a:r>
              <a:rPr sz="900" b="1">
                <a:solidFill>
                  <a:srgbClr val="111111"/>
                </a:solidFill>
                <a:latin typeface="Courier New"/>
              </a:rPr>
              <a:t>ROUND 3: DELIVERED (100%)</a:t>
            </a:r>
            <a:endParaRPr lang="en-US" sz="900" dirty="0"/>
          </a:p>
        </p:txBody>
      </p:sp>
      <p:sp>
        <p:nvSpPr>
          <p:cNvPr id="12" name="Text 9"/>
          <p:cNvSpPr txBox="1"/>
          <p:nvPr/>
        </p:nvSpPr>
        <p:spPr>
          <a:xfrm>
            <a:off x="4105656" y="1874520"/>
            <a:ext cx="1600200" cy="1554480"/>
          </a:xfrm>
          <a:prstGeom prst="rect">
            <a:avLst/>
          </a:prstGeom>
          <a:noFill/>
          <a:ln/>
        </p:spPr>
        <p:txBody>
          <a:bodyPr wrap="square" lIns="0" tIns="0" rIns="0" bIns="0" rtlCol="0" anchor="t"/>
          <a:lstStyle/>
          <a:p>
            <a:pPr marL="342900" indent="-342900">
              <a:spcAft>
                <a:spcPts val="500"/>
              </a:spcAft>
              <a:buSzPct val="100000"/>
              <a:buChar char="•"/>
            </a:pPr>
            <a:r>
              <a:rPr sz="1050">
                <a:solidFill>
                  <a:srgbClr val="111111"/>
                </a:solidFill>
                <a:latin typeface="Arial"/>
              </a:rPr>
              <a:t>1. Dense Vector Embeddings (fastembed BAAI/bge-small-en ONNX)</a:t>
            </a:r>
            <a:endParaRPr lang="en-US" sz="1050" dirty="0"/>
          </a:p>
          <a:p>
            <a:pPr marL="342900" indent="-342900">
              <a:spcAft>
                <a:spcPts val="500"/>
              </a:spcAft>
              <a:buSzPct val="100000"/>
              <a:buChar char="•"/>
            </a:pPr>
            <a:r>
              <a:rPr sz="1050">
                <a:solidFill>
                  <a:srgbClr val="111111"/>
                </a:solidFill>
                <a:latin typeface="Arial"/>
              </a:rPr>
              <a:t>2. Multimodal Vision (palette, WCAG 2.1 contrast, safe-zones)</a:t>
            </a:r>
            <a:endParaRPr lang="en-US" sz="1050" dirty="0"/>
          </a:p>
          <a:p>
            <a:pPr marL="342900" indent="-342900">
              <a:spcAft>
                <a:spcPts val="500"/>
              </a:spcAft>
              <a:buSzPct val="100000"/>
              <a:buChar char="•"/>
            </a:pPr>
            <a:r>
              <a:rPr sz="1050">
                <a:solidFill>
                  <a:srgbClr val="111111"/>
                </a:solidFill>
                <a:latin typeface="Arial"/>
              </a:rPr>
              <a:t>3. Chromium Extension &amp; Native Figma Plugin (+ Web Sandbox)</a:t>
            </a:r>
            <a:endParaRPr lang="en-US" sz="1050" dirty="0"/>
          </a:p>
          <a:p>
            <a:pPr marL="342900" indent="-342900">
              <a:spcAft>
                <a:spcPts val="500"/>
              </a:spcAft>
              <a:buSzPct val="100000"/>
              <a:buChar char="•"/>
            </a:pPr>
            <a:endParaRPr lang="en-US" sz="1050" dirty="0"/>
          </a:p>
          <a:p>
            <a:pPr marL="342900" indent="-342900">
              <a:spcAft>
                <a:spcPts val="500"/>
              </a:spcAft>
              <a:buSzPct val="100000"/>
              <a:buChar char="•"/>
            </a:pPr>
            <a:endParaRPr lang="en-US" sz="1050" dirty="0"/>
          </a:p>
        </p:txBody>
      </p:sp>
      <p:sp>
        <p:nvSpPr>
          <p:cNvPr id="13" name="Shape 10"/>
          <p:cNvSpPr/>
          <p:nvPr/>
        </p:nvSpPr>
        <p:spPr>
          <a:xfrm>
            <a:off x="5989320" y="1280160"/>
            <a:ext cx="0" cy="2194560"/>
          </a:xfrm>
          <a:prstGeom prst="line">
            <a:avLst/>
          </a:prstGeom>
          <a:noFill/>
          <a:ln w="12700">
            <a:solidFill>
              <a:srgbClr val="111111"/>
            </a:solidFill>
            <a:prstDash val="solid"/>
          </a:ln>
        </p:spPr>
      </p:sp>
      <p:sp>
        <p:nvSpPr>
          <p:cNvPr id="14" name="Text 11"/>
          <p:cNvSpPr txBox="1"/>
          <p:nvPr/>
        </p:nvSpPr>
        <p:spPr>
          <a:xfrm>
            <a:off x="6217920" y="1280160"/>
            <a:ext cx="2377440" cy="182880"/>
          </a:xfrm>
          <a:prstGeom prst="rect">
            <a:avLst/>
          </a:prstGeom>
          <a:noFill/>
          <a:ln/>
        </p:spPr>
        <p:txBody>
          <a:bodyPr wrap="square" lIns="0" tIns="0" rIns="0" bIns="0" rtlCol="0" anchor="t"/>
          <a:lstStyle/>
          <a:p>
            <a:pPr algn="l" indent="0" marL="0">
              <a:buNone/>
            </a:pPr>
            <a:r>
              <a:rPr sz="850" b="1">
                <a:solidFill>
                  <a:srgbClr val="111111"/>
                </a:solidFill>
                <a:latin typeface="Courier New"/>
              </a:rPr>
              <a:t>BENCHMARK RESULTS</a:t>
            </a:r>
            <a:endParaRPr lang="en-US" sz="850" dirty="0"/>
          </a:p>
        </p:txBody>
      </p:sp>
      <p:sp>
        <p:nvSpPr>
          <p:cNvPr id="15" name="Shape 12"/>
          <p:cNvSpPr/>
          <p:nvPr/>
        </p:nvSpPr>
        <p:spPr>
          <a:xfrm>
            <a:off x="6254496" y="1609344"/>
            <a:ext cx="2377440" cy="530352"/>
          </a:xfrm>
          <a:prstGeom prst="rect">
            <a:avLst/>
          </a:prstGeom>
          <a:solidFill>
            <a:srgbClr val="111111"/>
          </a:solidFill>
          <a:ln w="6350">
            <a:solidFill>
              <a:srgbClr val="111111"/>
            </a:solidFill>
            <a:prstDash val="solid"/>
          </a:ln>
        </p:spPr>
      </p:sp>
      <p:sp>
        <p:nvSpPr>
          <p:cNvPr id="16" name="Shape 13"/>
          <p:cNvSpPr/>
          <p:nvPr/>
        </p:nvSpPr>
        <p:spPr>
          <a:xfrm>
            <a:off x="6217920" y="1572768"/>
            <a:ext cx="2377440" cy="530352"/>
          </a:xfrm>
          <a:prstGeom prst="rect">
            <a:avLst/>
          </a:prstGeom>
          <a:solidFill>
            <a:srgbClr val="FFD93D"/>
          </a:solidFill>
          <a:ln w="19050">
            <a:solidFill>
              <a:srgbClr val="111111"/>
            </a:solidFill>
            <a:prstDash val="solid"/>
          </a:ln>
        </p:spPr>
      </p:sp>
      <p:sp>
        <p:nvSpPr>
          <p:cNvPr id="17" name="Text 14"/>
          <p:cNvSpPr txBox="1"/>
          <p:nvPr/>
        </p:nvSpPr>
        <p:spPr>
          <a:xfrm>
            <a:off x="6327648" y="1572768"/>
            <a:ext cx="1005840" cy="530352"/>
          </a:xfrm>
          <a:prstGeom prst="rect">
            <a:avLst/>
          </a:prstGeom>
          <a:noFill/>
          <a:ln/>
        </p:spPr>
        <p:txBody>
          <a:bodyPr wrap="square" lIns="0" tIns="0" rIns="0" bIns="0" rtlCol="0" anchor="ctr"/>
          <a:lstStyle/>
          <a:p>
            <a:pPr algn="l" indent="0" marL="0">
              <a:buNone/>
            </a:pPr>
            <a:r>
              <a:rPr sz="2000" b="1">
                <a:solidFill>
                  <a:srgbClr val="111111"/>
                </a:solidFill>
                <a:latin typeface="Georgia"/>
              </a:rPr>
              <a:t>100%</a:t>
            </a:r>
            <a:endParaRPr lang="en-US" sz="2000" dirty="0"/>
          </a:p>
        </p:txBody>
      </p:sp>
      <p:sp>
        <p:nvSpPr>
          <p:cNvPr id="18" name="Text 15"/>
          <p:cNvSpPr txBox="1"/>
          <p:nvPr/>
        </p:nvSpPr>
        <p:spPr>
          <a:xfrm>
            <a:off x="7360920" y="1572768"/>
            <a:ext cx="1188720" cy="530352"/>
          </a:xfrm>
          <a:prstGeom prst="rect">
            <a:avLst/>
          </a:prstGeom>
          <a:noFill/>
          <a:ln/>
        </p:spPr>
        <p:txBody>
          <a:bodyPr wrap="square" lIns="0" tIns="0" rIns="0" bIns="0" rtlCol="0" anchor="ctr"/>
          <a:lstStyle/>
          <a:p>
            <a:pPr algn="l" indent="0" marL="0">
              <a:buNone/>
            </a:pPr>
            <a:r>
              <a:rPr sz="950">
                <a:solidFill>
                  <a:srgbClr val="111111"/>
                </a:solidFill>
                <a:latin typeface="Arial"/>
              </a:rPr>
              <a:t>Core Recall (24/24 caught)</a:t>
            </a:r>
            <a:endParaRPr lang="en-US" sz="950" dirty="0"/>
          </a:p>
        </p:txBody>
      </p:sp>
      <p:sp>
        <p:nvSpPr>
          <p:cNvPr id="19" name="Shape 16"/>
          <p:cNvSpPr/>
          <p:nvPr/>
        </p:nvSpPr>
        <p:spPr>
          <a:xfrm>
            <a:off x="6254496" y="2231136"/>
            <a:ext cx="2377440" cy="530352"/>
          </a:xfrm>
          <a:prstGeom prst="rect">
            <a:avLst/>
          </a:prstGeom>
          <a:solidFill>
            <a:srgbClr val="111111"/>
          </a:solidFill>
          <a:ln w="6350">
            <a:solidFill>
              <a:srgbClr val="111111"/>
            </a:solidFill>
            <a:prstDash val="solid"/>
          </a:ln>
        </p:spPr>
      </p:sp>
      <p:sp>
        <p:nvSpPr>
          <p:cNvPr id="20" name="Shape 17"/>
          <p:cNvSpPr/>
          <p:nvPr/>
        </p:nvSpPr>
        <p:spPr>
          <a:xfrm>
            <a:off x="6217920" y="2194560"/>
            <a:ext cx="2377440" cy="530352"/>
          </a:xfrm>
          <a:prstGeom prst="rect">
            <a:avLst/>
          </a:prstGeom>
          <a:solidFill>
            <a:srgbClr val="6EE7B7"/>
          </a:solidFill>
          <a:ln w="19050">
            <a:solidFill>
              <a:srgbClr val="111111"/>
            </a:solidFill>
            <a:prstDash val="solid"/>
          </a:ln>
        </p:spPr>
      </p:sp>
      <p:sp>
        <p:nvSpPr>
          <p:cNvPr id="21" name="Text 18"/>
          <p:cNvSpPr txBox="1"/>
          <p:nvPr/>
        </p:nvSpPr>
        <p:spPr>
          <a:xfrm>
            <a:off x="6327648" y="2194560"/>
            <a:ext cx="1005840" cy="530352"/>
          </a:xfrm>
          <a:prstGeom prst="rect">
            <a:avLst/>
          </a:prstGeom>
          <a:noFill/>
          <a:ln/>
        </p:spPr>
        <p:txBody>
          <a:bodyPr wrap="square" lIns="0" tIns="0" rIns="0" bIns="0" rtlCol="0" anchor="ctr"/>
          <a:lstStyle/>
          <a:p>
            <a:pPr algn="l" indent="0" marL="0">
              <a:buNone/>
            </a:pPr>
            <a:r>
              <a:rPr sz="2000" b="1">
                <a:solidFill>
                  <a:srgbClr val="111111"/>
                </a:solidFill>
                <a:latin typeface="Georgia"/>
              </a:rPr>
              <a:t>0</a:t>
            </a:r>
            <a:endParaRPr lang="en-US" sz="2000" dirty="0"/>
          </a:p>
        </p:txBody>
      </p:sp>
      <p:sp>
        <p:nvSpPr>
          <p:cNvPr id="22" name="Text 19"/>
          <p:cNvSpPr txBox="1"/>
          <p:nvPr/>
        </p:nvSpPr>
        <p:spPr>
          <a:xfrm>
            <a:off x="7360920" y="2194560"/>
            <a:ext cx="1188720" cy="530352"/>
          </a:xfrm>
          <a:prstGeom prst="rect">
            <a:avLst/>
          </a:prstGeom>
          <a:noFill/>
          <a:ln/>
        </p:spPr>
        <p:txBody>
          <a:bodyPr wrap="square" lIns="0" tIns="0" rIns="0" bIns="0" rtlCol="0" anchor="ctr"/>
          <a:lstStyle/>
          <a:p>
            <a:pPr algn="l" indent="0" marL="0">
              <a:buNone/>
            </a:pPr>
            <a:r>
              <a:rPr sz="950">
                <a:solidFill>
                  <a:srgbClr val="111111"/>
                </a:solidFill>
                <a:latin typeface="Arial"/>
              </a:rPr>
              <a:t>False alarms (100% precision)</a:t>
            </a:r>
            <a:endParaRPr lang="en-US" sz="950" dirty="0"/>
          </a:p>
        </p:txBody>
      </p:sp>
      <p:sp>
        <p:nvSpPr>
          <p:cNvPr id="23" name="Shape 20"/>
          <p:cNvSpPr/>
          <p:nvPr/>
        </p:nvSpPr>
        <p:spPr>
          <a:xfrm>
            <a:off x="6254496" y="2852928"/>
            <a:ext cx="2377440" cy="530352"/>
          </a:xfrm>
          <a:prstGeom prst="rect">
            <a:avLst/>
          </a:prstGeom>
          <a:solidFill>
            <a:srgbClr val="111111"/>
          </a:solidFill>
          <a:ln w="6350">
            <a:solidFill>
              <a:srgbClr val="111111"/>
            </a:solidFill>
            <a:prstDash val="solid"/>
          </a:ln>
        </p:spPr>
      </p:sp>
      <p:sp>
        <p:nvSpPr>
          <p:cNvPr id="24" name="Shape 21"/>
          <p:cNvSpPr/>
          <p:nvPr/>
        </p:nvSpPr>
        <p:spPr>
          <a:xfrm>
            <a:off x="6217920" y="2816352"/>
            <a:ext cx="2377440" cy="530352"/>
          </a:xfrm>
          <a:prstGeom prst="rect">
            <a:avLst/>
          </a:prstGeom>
          <a:solidFill>
            <a:srgbClr val="FF9EDB"/>
          </a:solidFill>
          <a:ln w="19050">
            <a:solidFill>
              <a:srgbClr val="111111"/>
            </a:solidFill>
            <a:prstDash val="solid"/>
          </a:ln>
        </p:spPr>
      </p:sp>
      <p:sp>
        <p:nvSpPr>
          <p:cNvPr id="25" name="Text 22"/>
          <p:cNvSpPr txBox="1"/>
          <p:nvPr/>
        </p:nvSpPr>
        <p:spPr>
          <a:xfrm>
            <a:off x="6327648" y="2816352"/>
            <a:ext cx="1005840" cy="530352"/>
          </a:xfrm>
          <a:prstGeom prst="rect">
            <a:avLst/>
          </a:prstGeom>
          <a:noFill/>
          <a:ln/>
        </p:spPr>
        <p:txBody>
          <a:bodyPr wrap="square" lIns="0" tIns="0" rIns="0" bIns="0" rtlCol="0" anchor="ctr"/>
          <a:lstStyle/>
          <a:p>
            <a:pPr algn="l" indent="0" marL="0">
              <a:buNone/>
            </a:pPr>
            <a:r>
              <a:rPr sz="2000" b="1">
                <a:solidFill>
                  <a:srgbClr val="111111"/>
                </a:solidFill>
                <a:latin typeface="Georgia"/>
              </a:rPr>
              <a:t>16/16</a:t>
            </a:r>
            <a:endParaRPr lang="en-US" sz="2000" dirty="0"/>
          </a:p>
        </p:txBody>
      </p:sp>
      <p:sp>
        <p:nvSpPr>
          <p:cNvPr id="26" name="Text 23"/>
          <p:cNvSpPr txBox="1"/>
          <p:nvPr/>
        </p:nvSpPr>
        <p:spPr>
          <a:xfrm>
            <a:off x="7360920" y="2816352"/>
            <a:ext cx="1188720" cy="530352"/>
          </a:xfrm>
          <a:prstGeom prst="rect">
            <a:avLst/>
          </a:prstGeom>
          <a:noFill/>
          <a:ln/>
        </p:spPr>
        <p:txBody>
          <a:bodyPr wrap="square" lIns="0" tIns="0" rIns="0" bIns="0" rtlCol="0" anchor="ctr"/>
          <a:lstStyle/>
          <a:p>
            <a:pPr algn="l" indent="0" marL="0">
              <a:buNone/>
            </a:pPr>
            <a:r>
              <a:rPr sz="950">
                <a:solidFill>
                  <a:srgbClr val="111111"/>
                </a:solidFill>
                <a:latin typeface="Arial"/>
              </a:rPr>
              <a:t>Passing Pytest unit tests</a:t>
            </a:r>
            <a:endParaRPr lang="en-US" sz="950" dirty="0"/>
          </a:p>
        </p:txBody>
      </p:sp>
      <p:sp>
        <p:nvSpPr>
          <p:cNvPr id="27" name="Text 24"/>
          <p:cNvSpPr txBox="1"/>
          <p:nvPr/>
        </p:nvSpPr>
        <p:spPr>
          <a:xfrm>
            <a:off x="548640" y="3547872"/>
            <a:ext cx="54864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TEAM BRAKET, LED BY ISHAN NARAYAN SHUKLA</a:t>
            </a:r>
            <a:endParaRPr lang="en-US" sz="850" dirty="0"/>
          </a:p>
        </p:txBody>
      </p:sp>
      <p:sp>
        <p:nvSpPr>
          <p:cNvPr id="28" name="Shape 25"/>
          <p:cNvSpPr/>
          <p:nvPr/>
        </p:nvSpPr>
        <p:spPr>
          <a:xfrm>
            <a:off x="585216" y="3785616"/>
            <a:ext cx="1920240" cy="365760"/>
          </a:xfrm>
          <a:prstGeom prst="rect">
            <a:avLst/>
          </a:prstGeom>
          <a:solidFill>
            <a:srgbClr val="111111"/>
          </a:solidFill>
          <a:ln w="6350">
            <a:solidFill>
              <a:srgbClr val="111111"/>
            </a:solidFill>
            <a:prstDash val="solid"/>
          </a:ln>
        </p:spPr>
      </p:sp>
      <p:sp>
        <p:nvSpPr>
          <p:cNvPr id="29" name="Shape 26"/>
          <p:cNvSpPr/>
          <p:nvPr/>
        </p:nvSpPr>
        <p:spPr>
          <a:xfrm>
            <a:off x="548640" y="3749040"/>
            <a:ext cx="1920240" cy="365760"/>
          </a:xfrm>
          <a:prstGeom prst="rect">
            <a:avLst/>
          </a:prstGeom>
          <a:solidFill>
            <a:srgbClr val="FFD93D"/>
          </a:solidFill>
          <a:ln w="19050">
            <a:solidFill>
              <a:srgbClr val="111111"/>
            </a:solidFill>
            <a:prstDash val="solid"/>
          </a:ln>
        </p:spPr>
      </p:sp>
      <p:sp>
        <p:nvSpPr>
          <p:cNvPr id="30" name="Text 27"/>
          <p:cNvSpPr txBox="1"/>
          <p:nvPr/>
        </p:nvSpPr>
        <p:spPr>
          <a:xfrm>
            <a:off x="548640"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Frontend and UX</a:t>
            </a:r>
            <a:endParaRPr lang="en-US" sz="1050" dirty="0"/>
          </a:p>
        </p:txBody>
      </p:sp>
      <p:sp>
        <p:nvSpPr>
          <p:cNvPr id="31" name="Shape 28"/>
          <p:cNvSpPr/>
          <p:nvPr/>
        </p:nvSpPr>
        <p:spPr>
          <a:xfrm>
            <a:off x="2624328" y="3785616"/>
            <a:ext cx="1920240" cy="365760"/>
          </a:xfrm>
          <a:prstGeom prst="rect">
            <a:avLst/>
          </a:prstGeom>
          <a:solidFill>
            <a:srgbClr val="111111"/>
          </a:solidFill>
          <a:ln w="6350">
            <a:solidFill>
              <a:srgbClr val="111111"/>
            </a:solidFill>
            <a:prstDash val="solid"/>
          </a:ln>
        </p:spPr>
      </p:sp>
      <p:sp>
        <p:nvSpPr>
          <p:cNvPr id="32" name="Shape 29"/>
          <p:cNvSpPr/>
          <p:nvPr/>
        </p:nvSpPr>
        <p:spPr>
          <a:xfrm>
            <a:off x="2587752" y="3749040"/>
            <a:ext cx="1920240" cy="365760"/>
          </a:xfrm>
          <a:prstGeom prst="rect">
            <a:avLst/>
          </a:prstGeom>
          <a:solidFill>
            <a:srgbClr val="9DB0FF"/>
          </a:solidFill>
          <a:ln w="19050">
            <a:solidFill>
              <a:srgbClr val="111111"/>
            </a:solidFill>
            <a:prstDash val="solid"/>
          </a:ln>
        </p:spPr>
      </p:sp>
      <p:sp>
        <p:nvSpPr>
          <p:cNvPr id="33" name="Text 30"/>
          <p:cNvSpPr txBox="1"/>
          <p:nvPr/>
        </p:nvSpPr>
        <p:spPr>
          <a:xfrm>
            <a:off x="2587752"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Backend and workflow</a:t>
            </a:r>
            <a:endParaRPr lang="en-US" sz="1050" dirty="0"/>
          </a:p>
        </p:txBody>
      </p:sp>
      <p:sp>
        <p:nvSpPr>
          <p:cNvPr id="34" name="Shape 31"/>
          <p:cNvSpPr/>
          <p:nvPr/>
        </p:nvSpPr>
        <p:spPr>
          <a:xfrm>
            <a:off x="4663440" y="3785616"/>
            <a:ext cx="1920240" cy="365760"/>
          </a:xfrm>
          <a:prstGeom prst="rect">
            <a:avLst/>
          </a:prstGeom>
          <a:solidFill>
            <a:srgbClr val="111111"/>
          </a:solidFill>
          <a:ln w="6350">
            <a:solidFill>
              <a:srgbClr val="111111"/>
            </a:solidFill>
            <a:prstDash val="solid"/>
          </a:ln>
        </p:spPr>
      </p:sp>
      <p:sp>
        <p:nvSpPr>
          <p:cNvPr id="35" name="Shape 32"/>
          <p:cNvSpPr/>
          <p:nvPr/>
        </p:nvSpPr>
        <p:spPr>
          <a:xfrm>
            <a:off x="4626864" y="3749040"/>
            <a:ext cx="1920240" cy="365760"/>
          </a:xfrm>
          <a:prstGeom prst="rect">
            <a:avLst/>
          </a:prstGeom>
          <a:solidFill>
            <a:srgbClr val="FF9EDB"/>
          </a:solidFill>
          <a:ln w="19050">
            <a:solidFill>
              <a:srgbClr val="111111"/>
            </a:solidFill>
            <a:prstDash val="solid"/>
          </a:ln>
        </p:spPr>
      </p:sp>
      <p:sp>
        <p:nvSpPr>
          <p:cNvPr id="36" name="Text 33"/>
          <p:cNvSpPr txBox="1"/>
          <p:nvPr/>
        </p:nvSpPr>
        <p:spPr>
          <a:xfrm>
            <a:off x="4626864"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AI and rules engine</a:t>
            </a:r>
            <a:endParaRPr lang="en-US" sz="1050" dirty="0"/>
          </a:p>
        </p:txBody>
      </p:sp>
      <p:sp>
        <p:nvSpPr>
          <p:cNvPr id="37" name="Shape 34"/>
          <p:cNvSpPr/>
          <p:nvPr/>
        </p:nvSpPr>
        <p:spPr>
          <a:xfrm>
            <a:off x="6702552" y="3785616"/>
            <a:ext cx="1920240" cy="365760"/>
          </a:xfrm>
          <a:prstGeom prst="rect">
            <a:avLst/>
          </a:prstGeom>
          <a:solidFill>
            <a:srgbClr val="111111"/>
          </a:solidFill>
          <a:ln w="6350">
            <a:solidFill>
              <a:srgbClr val="111111"/>
            </a:solidFill>
            <a:prstDash val="solid"/>
          </a:ln>
        </p:spPr>
      </p:sp>
      <p:sp>
        <p:nvSpPr>
          <p:cNvPr id="38" name="Shape 35"/>
          <p:cNvSpPr/>
          <p:nvPr/>
        </p:nvSpPr>
        <p:spPr>
          <a:xfrm>
            <a:off x="6665976" y="3749040"/>
            <a:ext cx="1920240" cy="365760"/>
          </a:xfrm>
          <a:prstGeom prst="rect">
            <a:avLst/>
          </a:prstGeom>
          <a:solidFill>
            <a:srgbClr val="6EE7B7"/>
          </a:solidFill>
          <a:ln w="19050">
            <a:solidFill>
              <a:srgbClr val="111111"/>
            </a:solidFill>
            <a:prstDash val="solid"/>
          </a:ln>
        </p:spPr>
      </p:sp>
      <p:sp>
        <p:nvSpPr>
          <p:cNvPr id="39" name="Text 36"/>
          <p:cNvSpPr txBox="1"/>
          <p:nvPr/>
        </p:nvSpPr>
        <p:spPr>
          <a:xfrm>
            <a:off x="6665976"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Research and testing</a:t>
            </a:r>
            <a:endParaRPr lang="en-US" sz="1050" dirty="0"/>
          </a:p>
        </p:txBody>
      </p:sp>
      <p:sp>
        <p:nvSpPr>
          <p:cNvPr id="40" name="Text 37"/>
          <p:cNvSpPr txBox="1"/>
          <p:nvPr/>
        </p:nvSpPr>
        <p:spPr>
          <a:xfrm>
            <a:off x="548640" y="4206240"/>
            <a:ext cx="8046720" cy="228600"/>
          </a:xfrm>
          <a:prstGeom prst="rect">
            <a:avLst/>
          </a:prstGeom>
          <a:noFill/>
          <a:ln/>
        </p:spPr>
        <p:txBody>
          <a:bodyPr wrap="square" lIns="0" tIns="0" rIns="0" bIns="0" rtlCol="0" anchor="t"/>
          <a:lstStyle/>
          <a:p>
            <a:pPr algn="l" indent="0" marL="0">
              <a:buNone/>
            </a:pPr>
            <a:r>
              <a:rPr sz="950" i="1">
                <a:solidFill>
                  <a:srgbClr val="111111"/>
                </a:solidFill>
                <a:latin typeface="Arial"/>
              </a:rPr>
              <a:t>Dual-Set Benchmark: Seeded set (12/12) + Fresh unseen set (12/12), tested via scripts/run_accuracy_check.py.</a:t>
            </a:r>
            <a:endParaRPr lang="en-US" sz="950" dirty="0"/>
          </a:p>
        </p:txBody>
      </p:sp>
      <p:sp>
        <p:nvSpPr>
          <p:cNvPr id="41" name="Text 38"/>
          <p:cNvSpPr txBox="1"/>
          <p:nvPr/>
        </p:nvSpPr>
        <p:spPr>
          <a:xfrm>
            <a:off x="548640" y="4462272"/>
            <a:ext cx="8046720" cy="228600"/>
          </a:xfrm>
          <a:prstGeom prst="rect">
            <a:avLst/>
          </a:prstGeom>
          <a:noFill/>
          <a:ln/>
        </p:spPr>
        <p:txBody>
          <a:bodyPr wrap="square" lIns="0" tIns="0" rIns="0" bIns="0" rtlCol="0" anchor="t"/>
          <a:lstStyle/>
          <a:p>
            <a:pPr algn="l" indent="0" marL="0">
              <a:buNone/>
            </a:pPr>
            <a:pPr algn="l" indent="0" marL="0">
              <a:buNone/>
            </a:pPr>
            <a:r>
              <a:rPr sz="950" b="1">
                <a:solidFill>
                  <a:srgbClr val="111111"/>
                </a:solidFill>
                <a:latin typeface="Arial"/>
              </a:rPr>
              <a:t>Round 3 Commitments: All 3 major technical expansions completed and verified.</a:t>
            </a:r>
            <a:endParaRPr lang="en-US" sz="9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6949440" y="228600"/>
            <a:ext cx="1600200" cy="1600200"/>
          </a:xfrm>
          <a:prstGeom prst="star8">
            <a:avLst/>
          </a:prstGeom>
          <a:solidFill>
            <a:srgbClr val="FFD93D"/>
          </a:solidFill>
          <a:ln w="31750">
            <a:solidFill>
              <a:srgbClr val="111111"/>
            </a:solidFill>
            <a:prstDash val="solid"/>
          </a:ln>
        </p:spPr>
      </p:sp>
      <p:sp>
        <p:nvSpPr>
          <p:cNvPr id="4" name="Text 1"/>
          <p:cNvSpPr txBox="1"/>
          <p:nvPr/>
        </p:nvSpPr>
        <p:spPr>
          <a:xfrm>
            <a:off x="6949440" y="228600"/>
            <a:ext cx="1600200" cy="1600200"/>
          </a:xfrm>
          <a:prstGeom prst="rect">
            <a:avLst/>
          </a:prstGeom>
          <a:noFill/>
          <a:ln/>
        </p:spPr>
        <p:txBody>
          <a:bodyPr wrap="square" lIns="0" tIns="0" rIns="0" bIns="0" rtlCol="0" anchor="ctr"/>
          <a:lstStyle/>
          <a:p>
            <a:pPr algn="ctr" indent="0" marL="0">
              <a:buNone/>
            </a:pPr>
            <a:r>
              <a:rPr sz="1300" b="1">
                <a:solidFill>
                  <a:srgbClr val="111111"/>
                </a:solidFill>
                <a:latin typeface="Georgia"/>
              </a:rPr>
              <a:t>Submission Links</a:t>
            </a:r>
            <a:endParaRPr lang="en-US" sz="1300" dirty="0"/>
          </a:p>
        </p:txBody>
      </p:sp>
      <p:sp>
        <p:nvSpPr>
          <p:cNvPr id="5" name="Text 2"/>
          <p:cNvSpPr txBox="1"/>
          <p:nvPr/>
        </p:nvSpPr>
        <p:spPr>
          <a:xfrm>
            <a:off x="548640" y="502920"/>
            <a:ext cx="5943600" cy="1188720"/>
          </a:xfrm>
          <a:prstGeom prst="rect">
            <a:avLst/>
          </a:prstGeom>
          <a:noFill/>
          <a:ln/>
        </p:spPr>
        <p:txBody>
          <a:bodyPr wrap="square" lIns="0" tIns="0" rIns="0" bIns="0" rtlCol="0" anchor="t"/>
          <a:lstStyle/>
          <a:p>
            <a:pPr algn="l" indent="0" marL="0">
              <a:buNone/>
            </a:pPr>
            <a:r>
              <a:rPr lang="en-US" sz="6600" b="1" dirty="0">
                <a:solidFill>
                  <a:srgbClr val="111111"/>
                </a:solidFill>
                <a:latin typeface="Georgia" pitchFamily="34" charset="0"/>
                <a:ea typeface="Georgia" pitchFamily="34" charset="-122"/>
                <a:cs typeface="Georgia" pitchFamily="34" charset="-120"/>
              </a:rPr>
              <a:t>Thank you</a:t>
            </a:r>
            <a:endParaRPr lang="en-US" sz="6600" dirty="0"/>
          </a:p>
        </p:txBody>
      </p:sp>
      <p:sp>
        <p:nvSpPr>
          <p:cNvPr id="6" name="Text 3"/>
          <p:cNvSpPr txBox="1"/>
          <p:nvPr/>
        </p:nvSpPr>
        <p:spPr>
          <a:xfrm>
            <a:off x="594360" y="1828800"/>
            <a:ext cx="3657600" cy="182880"/>
          </a:xfrm>
          <a:prstGeom prst="rect">
            <a:avLst/>
          </a:prstGeom>
          <a:noFill/>
          <a:ln/>
        </p:spPr>
        <p:txBody>
          <a:bodyPr wrap="square" lIns="0" tIns="0" rIns="0" bIns="0" rtlCol="0" anchor="t"/>
          <a:lstStyle/>
          <a:p>
            <a:pPr algn="l" indent="0" marL="0">
              <a:buNone/>
            </a:pPr>
            <a:r>
              <a:rPr sz="850" b="1">
                <a:solidFill>
                  <a:srgbClr val="111111"/>
                </a:solidFill>
                <a:latin typeface="Courier New"/>
              </a:rPr>
              <a:t>VERITY DELIVERABLES</a:t>
            </a:r>
            <a:endParaRPr lang="en-US" sz="850" dirty="0"/>
          </a:p>
        </p:txBody>
      </p:sp>
      <p:sp>
        <p:nvSpPr>
          <p:cNvPr id="7" name="Shape 4"/>
          <p:cNvSpPr/>
          <p:nvPr/>
        </p:nvSpPr>
        <p:spPr>
          <a:xfrm>
            <a:off x="658368" y="2167128"/>
            <a:ext cx="2468880" cy="731520"/>
          </a:xfrm>
          <a:prstGeom prst="rect">
            <a:avLst/>
          </a:prstGeom>
          <a:solidFill>
            <a:srgbClr val="111111"/>
          </a:solidFill>
          <a:ln w="6350">
            <a:solidFill>
              <a:srgbClr val="111111"/>
            </a:solidFill>
            <a:prstDash val="solid"/>
          </a:ln>
        </p:spPr>
      </p:sp>
      <p:sp>
        <p:nvSpPr>
          <p:cNvPr id="8" name="Shape 5"/>
          <p:cNvSpPr/>
          <p:nvPr/>
        </p:nvSpPr>
        <p:spPr>
          <a:xfrm>
            <a:off x="594360" y="2103120"/>
            <a:ext cx="2468880" cy="731520"/>
          </a:xfrm>
          <a:prstGeom prst="rect">
            <a:avLst/>
          </a:prstGeom>
          <a:solidFill>
            <a:srgbClr val="FFD93D"/>
          </a:solidFill>
          <a:ln w="25400">
            <a:solidFill>
              <a:srgbClr val="111111"/>
            </a:solidFill>
            <a:prstDash val="solid"/>
          </a:ln>
        </p:spPr>
      </p:sp>
      <p:sp>
        <p:nvSpPr>
          <p:cNvPr id="9" name="Shape 6"/>
          <p:cNvSpPr/>
          <p:nvPr/>
        </p:nvSpPr>
        <p:spPr>
          <a:xfrm>
            <a:off x="731520" y="2240280"/>
            <a:ext cx="457200" cy="457200"/>
          </a:xfrm>
          <a:prstGeom prst="ellipse">
            <a:avLst/>
          </a:prstGeom>
          <a:solidFill>
            <a:srgbClr val="FFFFFF"/>
          </a:solidFill>
          <a:ln w="22225">
            <a:solidFill>
              <a:srgbClr val="111111"/>
            </a:solidFill>
            <a:prstDash val="solid"/>
          </a:ln>
        </p:spPr>
      </p:sp>
      <p:pic>
        <p:nvPicPr>
          <p:cNvPr id="10" name="Image 0" descr="preencoded.png">    </p:cNvPr>
          <p:cNvPicPr>
            <a:picLocks noChangeAspect="1"/>
          </p:cNvPicPr>
          <p:nvPr/>
        </p:nvPicPr>
        <p:blipFill>
          <a:blip r:embed="rId1"/>
          <a:stretch>
            <a:fillRect/>
          </a:stretch>
        </p:blipFill>
        <p:spPr>
          <a:xfrm>
            <a:off x="841248" y="2350008"/>
            <a:ext cx="237744" cy="237744"/>
          </a:xfrm>
          <a:prstGeom prst="rect">
            <a:avLst/>
          </a:prstGeom>
        </p:spPr>
      </p:pic>
      <p:sp>
        <p:nvSpPr>
          <p:cNvPr id="11" name="Text 7"/>
          <p:cNvSpPr txBox="1"/>
          <p:nvPr/>
        </p:nvSpPr>
        <p:spPr>
          <a:xfrm>
            <a:off x="1325880" y="2103120"/>
            <a:ext cx="1645920" cy="731520"/>
          </a:xfrm>
          <a:prstGeom prst="rect">
            <a:avLst/>
          </a:prstGeom>
          <a:noFill/>
          <a:ln/>
        </p:spPr>
        <p:txBody>
          <a:bodyPr wrap="square" lIns="0" tIns="0" rIns="0" bIns="0" rtlCol="0" anchor="ctr"/>
          <a:lstStyle/>
          <a:p>
            <a:pPr algn="l" indent="0" marL="0">
              <a:buNone/>
            </a:pPr>
            <a:r>
              <a:rPr sz="1300" b="1">
                <a:solidFill>
                  <a:srgbClr val="111111"/>
                </a:solidFill>
                <a:latin typeface="Georgia"/>
              </a:rPr>
              <a:t>Primary: cosmicboom.xyz</a:t>
            </a:r>
            <a:endParaRPr lang="en-US" sz="1300" dirty="0"/>
          </a:p>
          <a:p>
            <a:r>
              <a:rPr sz="1300" b="1">
                <a:solidFill>
                  <a:srgbClr val="111111"/>
                </a:solidFill>
                <a:latin typeface="Georgia"/>
              </a:rPr>
              <a:t>Mirror: verity-brand-governance.vercel.app</a:t>
            </a:r>
          </a:p>
        </p:txBody>
      </p:sp>
      <p:sp>
        <p:nvSpPr>
          <p:cNvPr id="12" name="Shape 8"/>
          <p:cNvSpPr/>
          <p:nvPr/>
        </p:nvSpPr>
        <p:spPr>
          <a:xfrm>
            <a:off x="3310128" y="2167128"/>
            <a:ext cx="2468880" cy="731520"/>
          </a:xfrm>
          <a:prstGeom prst="rect">
            <a:avLst/>
          </a:prstGeom>
          <a:solidFill>
            <a:srgbClr val="111111"/>
          </a:solidFill>
          <a:ln w="6350">
            <a:solidFill>
              <a:srgbClr val="111111"/>
            </a:solidFill>
            <a:prstDash val="solid"/>
          </a:ln>
        </p:spPr>
      </p:sp>
      <p:sp>
        <p:nvSpPr>
          <p:cNvPr id="13" name="Shape 9"/>
          <p:cNvSpPr/>
          <p:nvPr/>
        </p:nvSpPr>
        <p:spPr>
          <a:xfrm>
            <a:off x="3246120" y="2103120"/>
            <a:ext cx="2468880" cy="731520"/>
          </a:xfrm>
          <a:prstGeom prst="rect">
            <a:avLst/>
          </a:prstGeom>
          <a:solidFill>
            <a:srgbClr val="6EE7B7"/>
          </a:solidFill>
          <a:ln w="25400">
            <a:solidFill>
              <a:srgbClr val="111111"/>
            </a:solidFill>
            <a:prstDash val="solid"/>
          </a:ln>
        </p:spPr>
      </p:sp>
      <p:sp>
        <p:nvSpPr>
          <p:cNvPr id="14" name="Shape 10"/>
          <p:cNvSpPr/>
          <p:nvPr/>
        </p:nvSpPr>
        <p:spPr>
          <a:xfrm>
            <a:off x="3383280" y="2240280"/>
            <a:ext cx="457200" cy="457200"/>
          </a:xfrm>
          <a:prstGeom prst="ellipse">
            <a:avLst/>
          </a:prstGeom>
          <a:solidFill>
            <a:srgbClr val="FFFFFF"/>
          </a:solidFill>
          <a:ln w="22225">
            <a:solidFill>
              <a:srgbClr val="111111"/>
            </a:solidFill>
            <a:prstDash val="solid"/>
          </a:ln>
        </p:spPr>
      </p:sp>
      <p:pic>
        <p:nvPicPr>
          <p:cNvPr id="15" name="Image 1" descr="preencoded.png">    </p:cNvPr>
          <p:cNvPicPr>
            <a:picLocks noChangeAspect="1"/>
          </p:cNvPicPr>
          <p:nvPr/>
        </p:nvPicPr>
        <p:blipFill>
          <a:blip r:embed="rId2"/>
          <a:stretch>
            <a:fillRect/>
          </a:stretch>
        </p:blipFill>
        <p:spPr>
          <a:xfrm>
            <a:off x="3493008" y="2350008"/>
            <a:ext cx="237744" cy="237744"/>
          </a:xfrm>
          <a:prstGeom prst="rect">
            <a:avLst/>
          </a:prstGeom>
        </p:spPr>
      </p:pic>
      <p:sp>
        <p:nvSpPr>
          <p:cNvPr id="16" name="Text 11"/>
          <p:cNvSpPr txBox="1"/>
          <p:nvPr/>
        </p:nvSpPr>
        <p:spPr>
          <a:xfrm>
            <a:off x="3977640" y="2103120"/>
            <a:ext cx="1645920" cy="731520"/>
          </a:xfrm>
          <a:prstGeom prst="rect">
            <a:avLst/>
          </a:prstGeom>
          <a:noFill/>
          <a:ln/>
        </p:spPr>
        <p:txBody>
          <a:bodyPr wrap="square" lIns="0" tIns="0" rIns="0" bIns="0" rtlCol="0" anchor="ctr"/>
          <a:lstStyle/>
          <a:p>
            <a:pPr algn="l" indent="0" marL="0">
              <a:buNone/>
            </a:pPr>
            <a:r>
              <a:rPr sz="1300" b="1">
                <a:solidFill>
                  <a:srgbClr val="111111"/>
                </a:solidFill>
                <a:latin typeface="Georgia"/>
              </a:rPr>
              <a:t>Backend: verity-api.onrender.com</a:t>
            </a:r>
            <a:endParaRPr lang="en-US" sz="1300" dirty="0"/>
          </a:p>
          <a:p>
            <a:r>
              <a:rPr sz="1300" b="1">
                <a:solidFill>
                  <a:srgbClr val="111111"/>
                </a:solidFill>
                <a:latin typeface="Georgia"/>
              </a:rPr>
              <a:t>Repo: github.com/IshanShukla-1/VERITY</a:t>
            </a:r>
          </a:p>
        </p:txBody>
      </p:sp>
      <p:sp>
        <p:nvSpPr>
          <p:cNvPr id="17" name="Shape 12"/>
          <p:cNvSpPr/>
          <p:nvPr/>
        </p:nvSpPr>
        <p:spPr>
          <a:xfrm>
            <a:off x="5961888" y="2167128"/>
            <a:ext cx="2468880" cy="731520"/>
          </a:xfrm>
          <a:prstGeom prst="rect">
            <a:avLst/>
          </a:prstGeom>
          <a:solidFill>
            <a:srgbClr val="111111"/>
          </a:solidFill>
          <a:ln w="6350">
            <a:solidFill>
              <a:srgbClr val="111111"/>
            </a:solidFill>
            <a:prstDash val="solid"/>
          </a:ln>
        </p:spPr>
      </p:sp>
      <p:sp>
        <p:nvSpPr>
          <p:cNvPr id="18" name="Shape 13"/>
          <p:cNvSpPr/>
          <p:nvPr/>
        </p:nvSpPr>
        <p:spPr>
          <a:xfrm>
            <a:off x="5897880" y="2103120"/>
            <a:ext cx="2468880" cy="731520"/>
          </a:xfrm>
          <a:prstGeom prst="rect">
            <a:avLst/>
          </a:prstGeom>
          <a:solidFill>
            <a:srgbClr val="9DB0FF"/>
          </a:solidFill>
          <a:ln w="25400">
            <a:solidFill>
              <a:srgbClr val="111111"/>
            </a:solidFill>
            <a:prstDash val="solid"/>
          </a:ln>
        </p:spPr>
      </p:sp>
      <p:sp>
        <p:nvSpPr>
          <p:cNvPr id="19" name="Shape 14"/>
          <p:cNvSpPr/>
          <p:nvPr/>
        </p:nvSpPr>
        <p:spPr>
          <a:xfrm>
            <a:off x="6035040" y="2240280"/>
            <a:ext cx="457200" cy="457200"/>
          </a:xfrm>
          <a:prstGeom prst="ellipse">
            <a:avLst/>
          </a:prstGeom>
          <a:solidFill>
            <a:srgbClr val="FFFFFF"/>
          </a:solidFill>
          <a:ln w="22225">
            <a:solidFill>
              <a:srgbClr val="111111"/>
            </a:solidFill>
            <a:prstDash val="solid"/>
          </a:ln>
        </p:spPr>
      </p:sp>
      <p:pic>
        <p:nvPicPr>
          <p:cNvPr id="20" name="Image 2" descr="preencoded.png">    </p:cNvPr>
          <p:cNvPicPr>
            <a:picLocks noChangeAspect="1"/>
          </p:cNvPicPr>
          <p:nvPr/>
        </p:nvPicPr>
        <p:blipFill>
          <a:blip r:embed="rId3"/>
          <a:stretch>
            <a:fillRect/>
          </a:stretch>
        </p:blipFill>
        <p:spPr>
          <a:xfrm>
            <a:off x="6144768" y="2350008"/>
            <a:ext cx="237744" cy="237744"/>
          </a:xfrm>
          <a:prstGeom prst="rect">
            <a:avLst/>
          </a:prstGeom>
        </p:spPr>
      </p:pic>
      <p:sp>
        <p:nvSpPr>
          <p:cNvPr id="21" name="Text 15"/>
          <p:cNvSpPr txBox="1"/>
          <p:nvPr/>
        </p:nvSpPr>
        <p:spPr>
          <a:xfrm>
            <a:off x="6629400" y="2103120"/>
            <a:ext cx="1645920" cy="731520"/>
          </a:xfrm>
          <a:prstGeom prst="rect">
            <a:avLst/>
          </a:prstGeom>
          <a:noFill/>
          <a:ln/>
        </p:spPr>
        <p:txBody>
          <a:bodyPr wrap="square" lIns="0" tIns="0" rIns="0" bIns="0" rtlCol="0" anchor="ctr"/>
          <a:lstStyle/>
          <a:p>
            <a:pPr algn="l" indent="0" marL="0">
              <a:buNone/>
            </a:pPr>
            <a:r>
              <a:rPr sz="1300" b="1">
                <a:solidFill>
                  <a:srgbClr val="111111"/>
                </a:solidFill>
                <a:latin typeface="Georgia"/>
              </a:rPr>
              <a:t>Deliverables: Round 3 PDF Report,</a:t>
            </a:r>
            <a:endParaRPr lang="en-US" sz="1300" dirty="0"/>
          </a:p>
          <a:p>
            <a:r>
              <a:rPr sz="1300" b="1">
                <a:solidFill>
                  <a:srgbClr val="111111"/>
                </a:solidFill>
                <a:latin typeface="Georgia"/>
              </a:rPr>
              <a:t>Interactive Verifier, Extension &amp; Figma Plugin</a:t>
            </a:r>
          </a:p>
        </p:txBody>
      </p:sp>
      <p:sp>
        <p:nvSpPr>
          <p:cNvPr id="22" name="Shape 16"/>
          <p:cNvSpPr/>
          <p:nvPr/>
        </p:nvSpPr>
        <p:spPr>
          <a:xfrm>
            <a:off x="676656" y="3282696"/>
            <a:ext cx="3840480" cy="822960"/>
          </a:xfrm>
          <a:prstGeom prst="rect">
            <a:avLst/>
          </a:prstGeom>
          <a:solidFill>
            <a:srgbClr val="111111"/>
          </a:solidFill>
          <a:ln w="6350">
            <a:solidFill>
              <a:srgbClr val="111111"/>
            </a:solidFill>
            <a:prstDash val="solid"/>
          </a:ln>
        </p:spPr>
      </p:sp>
      <p:sp>
        <p:nvSpPr>
          <p:cNvPr id="23" name="Shape 17"/>
          <p:cNvSpPr/>
          <p:nvPr/>
        </p:nvSpPr>
        <p:spPr>
          <a:xfrm>
            <a:off x="594360" y="3200400"/>
            <a:ext cx="3840480" cy="822960"/>
          </a:xfrm>
          <a:prstGeom prst="rect">
            <a:avLst/>
          </a:prstGeom>
          <a:solidFill>
            <a:srgbClr val="FFFFFF"/>
          </a:solidFill>
          <a:ln w="28575">
            <a:solidFill>
              <a:srgbClr val="111111"/>
            </a:solidFill>
            <a:prstDash val="solid"/>
          </a:ln>
        </p:spPr>
      </p:sp>
      <p:sp>
        <p:nvSpPr>
          <p:cNvPr id="24" name="Text 18"/>
          <p:cNvSpPr txBox="1"/>
          <p:nvPr/>
        </p:nvSpPr>
        <p:spPr>
          <a:xfrm>
            <a:off x="777240" y="3273552"/>
            <a:ext cx="3474720" cy="228600"/>
          </a:xfrm>
          <a:prstGeom prst="rect">
            <a:avLst/>
          </a:prstGeom>
          <a:noFill/>
          <a:ln/>
        </p:spPr>
        <p:txBody>
          <a:bodyPr wrap="square" lIns="0" tIns="0" rIns="0" bIns="0" rtlCol="0" anchor="t"/>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TEAM BRAKET</a:t>
            </a:r>
            <a:endParaRPr lang="en-US" sz="1200" dirty="0"/>
          </a:p>
        </p:txBody>
      </p:sp>
      <p:sp>
        <p:nvSpPr>
          <p:cNvPr id="25" name="Text 19"/>
          <p:cNvSpPr txBox="1"/>
          <p:nvPr/>
        </p:nvSpPr>
        <p:spPr>
          <a:xfrm>
            <a:off x="777240" y="3611880"/>
            <a:ext cx="3474720" cy="274320"/>
          </a:xfrm>
          <a:prstGeom prst="rect">
            <a:avLst/>
          </a:prstGeom>
          <a:noFill/>
          <a:ln/>
        </p:spPr>
        <p:txBody>
          <a:bodyPr wrap="square" lIns="0" tIns="0" rIns="0" bIns="0" rtlCol="0" anchor="t"/>
          <a:lstStyle/>
          <a:p>
            <a:pPr algn="l" indent="0" marL="0">
              <a:buNone/>
            </a:pPr>
            <a:r>
              <a:rPr lang="en-US" sz="1250" dirty="0">
                <a:solidFill>
                  <a:srgbClr val="111111"/>
                </a:solidFill>
                <a:latin typeface="Arial" pitchFamily="34" charset="0"/>
                <a:ea typeface="Arial" pitchFamily="34" charset="-122"/>
                <a:cs typeface="Arial" pitchFamily="34" charset="-120"/>
              </a:rPr>
              <a:t>Leader: Ishan Narayan Shukla</a:t>
            </a:r>
            <a:endParaRPr lang="en-US" sz="1250" dirty="0"/>
          </a:p>
        </p:txBody>
      </p:sp>
      <p:sp>
        <p:nvSpPr>
          <p:cNvPr id="26" name="Shape 20"/>
          <p:cNvSpPr/>
          <p:nvPr/>
        </p:nvSpPr>
        <p:spPr>
          <a:xfrm rot="-180000">
            <a:off x="5120640" y="3291840"/>
            <a:ext cx="2926080" cy="594360"/>
          </a:xfrm>
          <a:prstGeom prst="rect">
            <a:avLst/>
          </a:prstGeom>
          <a:solidFill>
            <a:srgbClr val="111111"/>
          </a:solidFill>
          <a:ln w="25400">
            <a:solidFill>
              <a:srgbClr val="111111"/>
            </a:solidFill>
            <a:prstDash val="solid"/>
          </a:ln>
        </p:spPr>
      </p:sp>
      <p:sp>
        <p:nvSpPr>
          <p:cNvPr id="27" name="Text 21"/>
          <p:cNvSpPr txBox="1"/>
          <p:nvPr/>
        </p:nvSpPr>
        <p:spPr>
          <a:xfrm rot="-180000">
            <a:off x="5120640" y="3291840"/>
            <a:ext cx="2926080" cy="594360"/>
          </a:xfrm>
          <a:prstGeom prst="rect">
            <a:avLst/>
          </a:prstGeom>
          <a:noFill/>
          <a:ln/>
        </p:spPr>
        <p:txBody>
          <a:bodyPr wrap="square" lIns="0" tIns="0" rIns="0" bIns="0" rtlCol="0" anchor="ctr"/>
          <a:lstStyle/>
          <a:p>
            <a:pPr algn="ctr" indent="0" marL="0">
              <a:buNone/>
            </a:pPr>
            <a:r>
              <a:rPr lang="en-US" sz="1250" b="1" dirty="0">
                <a:solidFill>
                  <a:srgbClr val="FFD93D"/>
                </a:solidFill>
                <a:latin typeface="Arial" pitchFamily="34" charset="0"/>
                <a:ea typeface="Arial" pitchFamily="34" charset="-122"/>
                <a:cs typeface="Arial" pitchFamily="34" charset="-120"/>
              </a:rPr>
              <a:t>AI suggests. Humans decide.</a:t>
            </a:r>
            <a:endParaRPr lang="en-US" sz="1250" dirty="0"/>
          </a:p>
        </p:txBody>
      </p:sp>
      <p:sp>
        <p:nvSpPr>
          <p:cNvPr id="28" name="Text 22"/>
          <p:cNvSpPr txBox="1"/>
          <p:nvPr/>
        </p:nvSpPr>
        <p:spPr>
          <a:xfrm>
            <a:off x="594360" y="4434840"/>
            <a:ext cx="7315200" cy="274320"/>
          </a:xfrm>
          <a:prstGeom prst="rect">
            <a:avLst/>
          </a:prstGeom>
          <a:noFill/>
          <a:ln/>
        </p:spPr>
        <p:txBody>
          <a:bodyPr wrap="square" lIns="0" tIns="0" rIns="0" bIns="0" rtlCol="0" anchor="t"/>
          <a:lstStyle/>
          <a:p>
            <a:pPr algn="l" indent="0" marL="0">
              <a:buNone/>
            </a:pPr>
            <a:r>
              <a:rPr sz="1000">
                <a:solidFill>
                  <a:srgbClr val="111111"/>
                </a:solidFill>
                <a:latin typeface="Arial"/>
              </a:rPr>
              <a:t>Team BraKet | CodeAxis Round 3: Product Completion | Top 100 Finalist</a:t>
            </a:r>
            <a:endParaRPr lang="en-US" sz="1000" dirty="0"/>
          </a:p>
        </p:txBody>
      </p:sp>
    </p:spTree>
  </p:cSld>
  <p:clrMapOvr>
    <a:masterClrMapping/>
  </p:clrMapOvr>
</p:sld>
</file>

<file path=ppt/theme/theme1.xml><?xml version="1.0" encoding="utf-8"?>
<a:theme xmlns:a="http://schemas.openxmlformats.org/drawingml/2006/main" name="Verity">
  <a:themeElements>
    <a:clrScheme name="Verity">
      <a:dk1>
        <a:srgbClr val="111111"/>
      </a:dk1>
      <a:lt1>
        <a:srgbClr val="FFFFFF"/>
      </a:lt1>
      <a:dk2>
        <a:srgbClr val="111111"/>
      </a:dk2>
      <a:lt2>
        <a:srgbClr val="FFFBEF"/>
      </a:lt2>
      <a:accent1>
        <a:srgbClr val="FFD93D"/>
      </a:accent1>
      <a:accent2>
        <a:srgbClr val="6EE7B7"/>
      </a:accent2>
      <a:accent3>
        <a:srgbClr val="FF9EDB"/>
      </a:accent3>
      <a:accent4>
        <a:srgbClr val="D9D4C5"/>
      </a:accent4>
      <a:accent5>
        <a:srgbClr val="E5484D"/>
      </a:accent5>
      <a:accent6>
        <a:srgbClr val="555555"/>
      </a:accent6>
      <a:hlink>
        <a:srgbClr val="0000EE"/>
      </a:hlink>
      <a:folHlink>
        <a:srgbClr val="551A8B"/>
      </a:folHlink>
    </a:clrScheme>
    <a:fontScheme name="Verit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Verity: brand governance that cites before it flags</dc:title>
  <dc:subject>PptxGenJS Presentation</dc:subject>
  <dc:creator>Team BraKet</dc:creator>
  <cp:lastModifiedBy>Team BraKet</cp:lastModifiedBy>
  <cp:revision>1</cp:revision>
  <dcterms:created xsi:type="dcterms:W3CDTF">2026-10-20T11:30:07Z</dcterms:created>
  <dcterms:modified xsi:type="dcterms:W3CDTF">2026-10-20T11:30:07Z</dcterms:modified>
</cp:coreProperties>
</file>