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BraKet and our leader Ishan. Verity checks brand content before it is published, and every flag points to the rule or source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cases are documented in news reports and both are claims that reached the public with no source check. That is the gap Verity closes. Sources are listed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 college fest team, a startup marketing team, or an agency that serves several clients. Each role feels the problem differently, and Verity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2 captures what the creator meant before we suggest any change. Step 5 is always a person, so nothing is changed or published automatically. The value: errors caught before they are public, each with its proof and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maps to a capability in the problem statement: import guidelines, review multiple formats, detect issues, explain with fixes, keep humans in control, and protect confidential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three named improvements for Rounds 2 and 3. Intent Lock preserves the creator’s purpose, Claim Ledger catches outdated or unsupported claims, and Health Radar shows where guidelines are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we build first. It shows a flagged sentence, the rule that caught it, a fix that keeps the creator’s intent, and three human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handles what must be exact: terms, contrast, alt text. AI handles judgement: tone, messaging, claims. Nothing leaves the organisation without passing the privacy gateway. Slack, Canva and CMS integrations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Round 1 is this plan. Round 2 delivers one polished end-to-end path. Round 3 adds document formats and the two novel features that need more data. Targets are goals we will measure, not results. Role names are areas of responsibility; add each member’s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Repeat the promise: brand errors are caught before they are public. AI suggests, humans decide. Keep the AI disclosure line, since the rules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11111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111111"/>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111111"/>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FFFFFF"/>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FFFFFF"/>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D93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rgbClr val="FF9ED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675120" y="3383280"/>
            <a:ext cx="3108960" cy="3108960"/>
          </a:xfrm>
          <a:prstGeom prst="ellipse">
            <a:avLst/>
          </a:prstGeom>
          <a:solidFill>
            <a:srgbClr val="FF9EDB"/>
          </a:solidFill>
          <a:ln w="31750">
            <a:solidFill>
              <a:srgbClr val="111111"/>
            </a:solidFill>
            <a:prstDash val="solid"/>
          </a:ln>
        </p:spPr>
      </p:sp>
      <p:sp>
        <p:nvSpPr>
          <p:cNvPr id="4" name="Text 1"/>
          <p:cNvSpPr txBox="1"/>
          <p:nvPr/>
        </p:nvSpPr>
        <p:spPr>
          <a:xfrm>
            <a:off x="548640" y="640080"/>
            <a:ext cx="4572000" cy="1463040"/>
          </a:xfrm>
          <a:prstGeom prst="rect">
            <a:avLst/>
          </a:prstGeom>
          <a:noFill/>
          <a:ln/>
        </p:spPr>
        <p:txBody>
          <a:bodyPr wrap="square" lIns="0" tIns="0" rIns="0" bIns="0" rtlCol="0" anchor="t"/>
          <a:lstStyle/>
          <a:p>
            <a:pPr algn="l" indent="0" marL="0">
              <a:buNone/>
            </a:pPr>
            <a:r>
              <a:rPr lang="en-US" sz="8800" b="1" dirty="0">
                <a:solidFill>
                  <a:srgbClr val="111111"/>
                </a:solidFill>
                <a:latin typeface="Georgia" pitchFamily="34" charset="0"/>
                <a:ea typeface="Georgia" pitchFamily="34" charset="-122"/>
                <a:cs typeface="Georgia" pitchFamily="34" charset="-120"/>
              </a:rPr>
              <a:t>Verity</a:t>
            </a:r>
            <a:endParaRPr lang="en-US" sz="8800" dirty="0"/>
          </a:p>
        </p:txBody>
      </p:sp>
      <p:sp>
        <p:nvSpPr>
          <p:cNvPr id="5" name="Text 2"/>
          <p:cNvSpPr txBox="1"/>
          <p:nvPr/>
        </p:nvSpPr>
        <p:spPr>
          <a:xfrm>
            <a:off x="594360" y="2194560"/>
            <a:ext cx="4023360" cy="822960"/>
          </a:xfrm>
          <a:prstGeom prst="rect">
            <a:avLst/>
          </a:prstGeom>
          <a:noFill/>
          <a:ln/>
        </p:spPr>
        <p:txBody>
          <a:bodyPr wrap="square" lIns="0" tIns="0" rIns="0" bIns="0" rtlCol="0" anchor="t"/>
          <a:lstStyle/>
          <a:p>
            <a:pPr algn="l" indent="0" marL="0">
              <a:buNone/>
            </a:pPr>
            <a:r>
              <a:rPr lang="en-US" sz="2100" i="1" dirty="0">
                <a:solidFill>
                  <a:srgbClr val="111111"/>
                </a:solidFill>
                <a:latin typeface="Georgia" pitchFamily="34" charset="0"/>
                <a:ea typeface="Georgia" pitchFamily="34" charset="-122"/>
                <a:cs typeface="Georgia" pitchFamily="34" charset="-120"/>
              </a:rPr>
              <a:t>Brand governance that cites before it flags.</a:t>
            </a:r>
            <a:endParaRPr lang="en-US" sz="2100" dirty="0"/>
          </a:p>
        </p:txBody>
      </p:sp>
      <p:sp>
        <p:nvSpPr>
          <p:cNvPr id="6" name="Text 3"/>
          <p:cNvSpPr txBox="1"/>
          <p:nvPr/>
        </p:nvSpPr>
        <p:spPr>
          <a:xfrm>
            <a:off x="594360" y="3017520"/>
            <a:ext cx="3840480" cy="54864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Catch wrong claims, old facts and off-brand content before anything goes public.</a:t>
            </a:r>
            <a:endParaRPr lang="en-US" sz="1150" dirty="0"/>
          </a:p>
        </p:txBody>
      </p:sp>
      <p:sp>
        <p:nvSpPr>
          <p:cNvPr id="7" name="Text 4"/>
          <p:cNvSpPr txBox="1"/>
          <p:nvPr/>
        </p:nvSpPr>
        <p:spPr>
          <a:xfrm>
            <a:off x="594360" y="3749040"/>
            <a:ext cx="365760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8" name="Text 5"/>
          <p:cNvSpPr txBox="1"/>
          <p:nvPr/>
        </p:nvSpPr>
        <p:spPr>
          <a:xfrm>
            <a:off x="594360" y="4023360"/>
            <a:ext cx="3657600" cy="274320"/>
          </a:xfrm>
          <a:prstGeom prst="rect">
            <a:avLst/>
          </a:prstGeom>
          <a:noFill/>
          <a:ln/>
        </p:spPr>
        <p:txBody>
          <a:bodyPr wrap="square" lIns="0" tIns="0" rIns="0" bIns="0" rtlCol="0" anchor="t"/>
          <a:lstStyle/>
          <a:p>
            <a:pPr algn="l" indent="0" marL="0">
              <a:buNone/>
            </a:pPr>
            <a:r>
              <a:rPr lang="en-US" sz="1300" dirty="0">
                <a:solidFill>
                  <a:srgbClr val="111111"/>
                </a:solidFill>
                <a:latin typeface="Arial" pitchFamily="34" charset="0"/>
                <a:ea typeface="Arial" pitchFamily="34" charset="-122"/>
                <a:cs typeface="Arial" pitchFamily="34" charset="-120"/>
              </a:rPr>
              <a:t>Led by Ishan Narayan Shukla</a:t>
            </a:r>
            <a:endParaRPr lang="en-US" sz="1300" dirty="0"/>
          </a:p>
        </p:txBody>
      </p:sp>
      <p:sp>
        <p:nvSpPr>
          <p:cNvPr id="9" name="Text 6"/>
          <p:cNvSpPr txBox="1"/>
          <p:nvPr/>
        </p:nvSpPr>
        <p:spPr>
          <a:xfrm>
            <a:off x="594360" y="4434840"/>
            <a:ext cx="5486400" cy="228600"/>
          </a:xfrm>
          <a:prstGeom prst="rect">
            <a:avLst/>
          </a:prstGeom>
          <a:noFill/>
          <a:ln/>
        </p:spPr>
        <p:txBody>
          <a:bodyPr wrap="square" lIns="0" tIns="0" rIns="0" bIns="0" rtlCol="0" anchor="t"/>
          <a:lstStyle/>
          <a:p>
            <a:pPr algn="l" indent="0" marL="0">
              <a:buNone/>
            </a:pPr>
            <a:r>
              <a:rPr sz="950">
                <a:solidFill>
                  <a:srgbClr val="111111"/>
                </a:solidFill>
                <a:latin typeface="Arial"/>
              </a:rPr>
              <a:t>Round 3: Product Completion (Top 50 Finalist) | Live: cosmicboom.xyz &amp; verity-brand-governance.vercel.app</a:t>
            </a:r>
            <a:endParaRPr lang="en-US" sz="950" dirty="0"/>
          </a:p>
        </p:txBody>
      </p:sp>
      <p:sp>
        <p:nvSpPr>
          <p:cNvPr id="10" name="Shape 7"/>
          <p:cNvSpPr/>
          <p:nvPr/>
        </p:nvSpPr>
        <p:spPr>
          <a:xfrm>
            <a:off x="5029200" y="868680"/>
            <a:ext cx="3657600" cy="1645920"/>
          </a:xfrm>
          <a:prstGeom prst="rect">
            <a:avLst/>
          </a:prstGeom>
          <a:solidFill>
            <a:srgbClr val="111111"/>
          </a:solidFill>
          <a:ln w="6350">
            <a:solidFill>
              <a:srgbClr val="111111"/>
            </a:solidFill>
            <a:prstDash val="solid"/>
          </a:ln>
        </p:spPr>
      </p:sp>
      <p:sp>
        <p:nvSpPr>
          <p:cNvPr id="11" name="Shape 8"/>
          <p:cNvSpPr/>
          <p:nvPr/>
        </p:nvSpPr>
        <p:spPr>
          <a:xfrm>
            <a:off x="4937760" y="777240"/>
            <a:ext cx="3657600" cy="1645920"/>
          </a:xfrm>
          <a:prstGeom prst="rect">
            <a:avLst/>
          </a:prstGeom>
          <a:solidFill>
            <a:srgbClr val="FFFFFF"/>
          </a:solidFill>
          <a:ln w="31750">
            <a:solidFill>
              <a:srgbClr val="111111"/>
            </a:solidFill>
            <a:prstDash val="solid"/>
          </a:ln>
        </p:spPr>
      </p:sp>
      <p:sp>
        <p:nvSpPr>
          <p:cNvPr id="12" name="Text 9"/>
          <p:cNvSpPr txBox="1"/>
          <p:nvPr/>
        </p:nvSpPr>
        <p:spPr>
          <a:xfrm>
            <a:off x="5120640" y="914400"/>
            <a:ext cx="27432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CAPTION</a:t>
            </a:r>
            <a:endParaRPr lang="en-US" sz="850" dirty="0"/>
          </a:p>
        </p:txBody>
      </p:sp>
      <p:sp>
        <p:nvSpPr>
          <p:cNvPr id="13" name="Text 10"/>
          <p:cNvSpPr txBox="1"/>
          <p:nvPr/>
        </p:nvSpPr>
        <p:spPr>
          <a:xfrm>
            <a:off x="5120640" y="1234440"/>
            <a:ext cx="3337560" cy="10972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4" name="Shape 11"/>
          <p:cNvSpPr/>
          <p:nvPr/>
        </p:nvSpPr>
        <p:spPr>
          <a:xfrm rot="-180000">
            <a:off x="5742432" y="2770632"/>
            <a:ext cx="2834640" cy="566928"/>
          </a:xfrm>
          <a:prstGeom prst="rect">
            <a:avLst/>
          </a:prstGeom>
          <a:solidFill>
            <a:srgbClr val="111111"/>
          </a:solidFill>
          <a:ln w="6350">
            <a:solidFill>
              <a:srgbClr val="111111"/>
            </a:solidFill>
            <a:prstDash val="solid"/>
          </a:ln>
        </p:spPr>
      </p:sp>
      <p:sp>
        <p:nvSpPr>
          <p:cNvPr id="15" name="Shape 12"/>
          <p:cNvSpPr/>
          <p:nvPr/>
        </p:nvSpPr>
        <p:spPr>
          <a:xfrm rot="-180000">
            <a:off x="5669280" y="2697480"/>
            <a:ext cx="2834640" cy="566928"/>
          </a:xfrm>
          <a:prstGeom prst="rect">
            <a:avLst/>
          </a:prstGeom>
          <a:solidFill>
            <a:srgbClr val="6EE7B7"/>
          </a:solidFill>
          <a:ln w="25400">
            <a:solidFill>
              <a:srgbClr val="111111"/>
            </a:solidFill>
            <a:prstDash val="solid"/>
          </a:ln>
        </p:spPr>
      </p:sp>
      <p:sp>
        <p:nvSpPr>
          <p:cNvPr id="16" name="Text 13"/>
          <p:cNvSpPr txBox="1"/>
          <p:nvPr/>
        </p:nvSpPr>
        <p:spPr>
          <a:xfrm rot="-180000">
            <a:off x="5669280" y="2697480"/>
            <a:ext cx="2834640" cy="566928"/>
          </a:xfrm>
          <a:prstGeom prst="rect">
            <a:avLst/>
          </a:prstGeom>
          <a:noFill/>
          <a:ln/>
        </p:spPr>
        <p:txBody>
          <a:bodyPr wrap="square" lIns="0" tIns="0" rIns="0" bIns="0" rtlCol="0" anchor="ctr"/>
          <a:lstStyle/>
          <a:p>
            <a:pPr algn="ctr" indent="0" marL="0">
              <a:buNone/>
            </a:pPr>
            <a:r>
              <a:rPr sz="1150" b="1">
                <a:solidFill>
                  <a:srgbClr val="111111"/>
                </a:solidFill>
                <a:latin typeface="Arial"/>
              </a:rPr>
              <a:t>Rule C-12: no approved source (Brand Book pg. 14)</a:t>
            </a:r>
            <a:endParaRPr lang="en-US" sz="1150" dirty="0"/>
          </a:p>
        </p:txBody>
      </p:sp>
      <p:sp>
        <p:nvSpPr>
          <p:cNvPr id="17" name="Shape 14"/>
          <p:cNvSpPr/>
          <p:nvPr/>
        </p:nvSpPr>
        <p:spPr>
          <a:xfrm rot="120000">
            <a:off x="5029200" y="3611880"/>
            <a:ext cx="2743200" cy="457200"/>
          </a:xfrm>
          <a:prstGeom prst="rect">
            <a:avLst/>
          </a:prstGeom>
          <a:solidFill>
            <a:srgbClr val="111111"/>
          </a:solidFill>
          <a:ln w="25400">
            <a:solidFill>
              <a:srgbClr val="111111"/>
            </a:solidFill>
            <a:prstDash val="solid"/>
          </a:ln>
        </p:spPr>
      </p:sp>
      <p:sp>
        <p:nvSpPr>
          <p:cNvPr id="18" name="Text 15"/>
          <p:cNvSpPr txBox="1"/>
          <p:nvPr/>
        </p:nvSpPr>
        <p:spPr>
          <a:xfrm rot="120000">
            <a:off x="5029200" y="3611880"/>
            <a:ext cx="2743200" cy="457200"/>
          </a:xfrm>
          <a:prstGeom prst="rect">
            <a:avLst/>
          </a:prstGeom>
          <a:noFill/>
          <a:ln/>
        </p:spPr>
        <p:txBody>
          <a:bodyPr wrap="square" lIns="0" tIns="0" rIns="0" bIns="0" rtlCol="0" anchor="ctr"/>
          <a:lstStyle/>
          <a:p>
            <a:pPr algn="ctr" indent="0" marL="0">
              <a:buNone/>
            </a:pPr>
            <a:r>
              <a:rPr lang="en-US" sz="1100" b="1" dirty="0">
                <a:solidFill>
                  <a:srgbClr val="FFD93D"/>
                </a:solidFill>
                <a:latin typeface="Arial" pitchFamily="34" charset="0"/>
                <a:ea typeface="Arial" pitchFamily="34" charset="-122"/>
                <a:cs typeface="Arial" pitchFamily="34" charset="-120"/>
              </a:rPr>
              <a:t>AI suggests. Humans decide.</a:t>
            </a:r>
            <a:endParaRPr lang="en-US" sz="1100" dirty="0"/>
          </a:p>
        </p:txBody>
      </p:sp>
      <p:sp>
        <p:nvSpPr>
          <p:cNvPr id="19" name="Shape 16"/>
          <p:cNvSpPr/>
          <p:nvPr/>
        </p:nvSpPr>
        <p:spPr>
          <a:xfrm>
            <a:off x="0" y="4869180"/>
            <a:ext cx="269016" cy="274320"/>
          </a:xfrm>
          <a:prstGeom prst="rect">
            <a:avLst/>
          </a:prstGeom>
          <a:solidFill>
            <a:srgbClr val="111111"/>
          </a:solidFill>
          <a:ln w="12700">
            <a:solidFill>
              <a:srgbClr val="111111"/>
            </a:solidFill>
            <a:prstDash val="solid"/>
          </a:ln>
        </p:spPr>
      </p:sp>
      <p:sp>
        <p:nvSpPr>
          <p:cNvPr id="20" name="Shape 17"/>
          <p:cNvSpPr/>
          <p:nvPr/>
        </p:nvSpPr>
        <p:spPr>
          <a:xfrm>
            <a:off x="538033" y="4869180"/>
            <a:ext cx="269016" cy="274320"/>
          </a:xfrm>
          <a:prstGeom prst="rect">
            <a:avLst/>
          </a:prstGeom>
          <a:solidFill>
            <a:srgbClr val="111111"/>
          </a:solidFill>
          <a:ln w="12700">
            <a:solidFill>
              <a:srgbClr val="111111"/>
            </a:solidFill>
            <a:prstDash val="solid"/>
          </a:ln>
        </p:spPr>
      </p:sp>
      <p:sp>
        <p:nvSpPr>
          <p:cNvPr id="21" name="Shape 18"/>
          <p:cNvSpPr/>
          <p:nvPr/>
        </p:nvSpPr>
        <p:spPr>
          <a:xfrm>
            <a:off x="1076066" y="4869180"/>
            <a:ext cx="269016" cy="274320"/>
          </a:xfrm>
          <a:prstGeom prst="rect">
            <a:avLst/>
          </a:prstGeom>
          <a:solidFill>
            <a:srgbClr val="111111"/>
          </a:solidFill>
          <a:ln w="12700">
            <a:solidFill>
              <a:srgbClr val="111111"/>
            </a:solidFill>
            <a:prstDash val="solid"/>
          </a:ln>
        </p:spPr>
      </p:sp>
      <p:sp>
        <p:nvSpPr>
          <p:cNvPr id="22" name="Shape 19"/>
          <p:cNvSpPr/>
          <p:nvPr/>
        </p:nvSpPr>
        <p:spPr>
          <a:xfrm>
            <a:off x="1614099" y="4869180"/>
            <a:ext cx="269016" cy="274320"/>
          </a:xfrm>
          <a:prstGeom prst="rect">
            <a:avLst/>
          </a:prstGeom>
          <a:solidFill>
            <a:srgbClr val="111111"/>
          </a:solidFill>
          <a:ln w="12700">
            <a:solidFill>
              <a:srgbClr val="111111"/>
            </a:solidFill>
            <a:prstDash val="solid"/>
          </a:ln>
        </p:spPr>
      </p:sp>
      <p:sp>
        <p:nvSpPr>
          <p:cNvPr id="23" name="Shape 20"/>
          <p:cNvSpPr/>
          <p:nvPr/>
        </p:nvSpPr>
        <p:spPr>
          <a:xfrm>
            <a:off x="2152132" y="4869180"/>
            <a:ext cx="269016" cy="274320"/>
          </a:xfrm>
          <a:prstGeom prst="rect">
            <a:avLst/>
          </a:prstGeom>
          <a:solidFill>
            <a:srgbClr val="111111"/>
          </a:solidFill>
          <a:ln w="12700">
            <a:solidFill>
              <a:srgbClr val="111111"/>
            </a:solidFill>
            <a:prstDash val="solid"/>
          </a:ln>
        </p:spPr>
      </p:sp>
      <p:sp>
        <p:nvSpPr>
          <p:cNvPr id="24" name="Shape 21"/>
          <p:cNvSpPr/>
          <p:nvPr/>
        </p:nvSpPr>
        <p:spPr>
          <a:xfrm>
            <a:off x="2690165" y="4869180"/>
            <a:ext cx="269016" cy="274320"/>
          </a:xfrm>
          <a:prstGeom prst="rect">
            <a:avLst/>
          </a:prstGeom>
          <a:solidFill>
            <a:srgbClr val="111111"/>
          </a:solidFill>
          <a:ln w="12700">
            <a:solidFill>
              <a:srgbClr val="111111"/>
            </a:solidFill>
            <a:prstDash val="solid"/>
          </a:ln>
        </p:spPr>
      </p:sp>
      <p:sp>
        <p:nvSpPr>
          <p:cNvPr id="25" name="Shape 22"/>
          <p:cNvSpPr/>
          <p:nvPr/>
        </p:nvSpPr>
        <p:spPr>
          <a:xfrm>
            <a:off x="3228198" y="4869180"/>
            <a:ext cx="269016" cy="274320"/>
          </a:xfrm>
          <a:prstGeom prst="rect">
            <a:avLst/>
          </a:prstGeom>
          <a:solidFill>
            <a:srgbClr val="111111"/>
          </a:solidFill>
          <a:ln w="12700">
            <a:solidFill>
              <a:srgbClr val="111111"/>
            </a:solidFill>
            <a:prstDash val="solid"/>
          </a:ln>
        </p:spPr>
      </p:sp>
      <p:sp>
        <p:nvSpPr>
          <p:cNvPr id="26" name="Shape 23"/>
          <p:cNvSpPr/>
          <p:nvPr/>
        </p:nvSpPr>
        <p:spPr>
          <a:xfrm>
            <a:off x="3766231" y="4869180"/>
            <a:ext cx="269016" cy="274320"/>
          </a:xfrm>
          <a:prstGeom prst="rect">
            <a:avLst/>
          </a:prstGeom>
          <a:solidFill>
            <a:srgbClr val="111111"/>
          </a:solidFill>
          <a:ln w="12700">
            <a:solidFill>
              <a:srgbClr val="111111"/>
            </a:solidFill>
            <a:prstDash val="solid"/>
          </a:ln>
        </p:spPr>
      </p:sp>
      <p:sp>
        <p:nvSpPr>
          <p:cNvPr id="27" name="Shape 24"/>
          <p:cNvSpPr/>
          <p:nvPr/>
        </p:nvSpPr>
        <p:spPr>
          <a:xfrm>
            <a:off x="4304264" y="4869180"/>
            <a:ext cx="269016" cy="274320"/>
          </a:xfrm>
          <a:prstGeom prst="rect">
            <a:avLst/>
          </a:prstGeom>
          <a:solidFill>
            <a:srgbClr val="111111"/>
          </a:solidFill>
          <a:ln w="12700">
            <a:solidFill>
              <a:srgbClr val="111111"/>
            </a:solidFill>
            <a:prstDash val="solid"/>
          </a:ln>
        </p:spPr>
      </p:sp>
      <p:sp>
        <p:nvSpPr>
          <p:cNvPr id="28" name="Shape 25"/>
          <p:cNvSpPr/>
          <p:nvPr/>
        </p:nvSpPr>
        <p:spPr>
          <a:xfrm>
            <a:off x="4842297" y="4869180"/>
            <a:ext cx="269016" cy="274320"/>
          </a:xfrm>
          <a:prstGeom prst="rect">
            <a:avLst/>
          </a:prstGeom>
          <a:solidFill>
            <a:srgbClr val="111111"/>
          </a:solidFill>
          <a:ln w="12700">
            <a:solidFill>
              <a:srgbClr val="111111"/>
            </a:solidFill>
            <a:prstDash val="solid"/>
          </a:ln>
        </p:spPr>
      </p:sp>
      <p:sp>
        <p:nvSpPr>
          <p:cNvPr id="29" name="Shape 26"/>
          <p:cNvSpPr/>
          <p:nvPr/>
        </p:nvSpPr>
        <p:spPr>
          <a:xfrm>
            <a:off x="5380330" y="4869180"/>
            <a:ext cx="269016" cy="274320"/>
          </a:xfrm>
          <a:prstGeom prst="rect">
            <a:avLst/>
          </a:prstGeom>
          <a:solidFill>
            <a:srgbClr val="111111"/>
          </a:solidFill>
          <a:ln w="12700">
            <a:solidFill>
              <a:srgbClr val="111111"/>
            </a:solidFill>
            <a:prstDash val="solid"/>
          </a:ln>
        </p:spPr>
      </p:sp>
      <p:sp>
        <p:nvSpPr>
          <p:cNvPr id="30" name="Shape 27"/>
          <p:cNvSpPr/>
          <p:nvPr/>
        </p:nvSpPr>
        <p:spPr>
          <a:xfrm>
            <a:off x="5918363" y="4869180"/>
            <a:ext cx="269016" cy="274320"/>
          </a:xfrm>
          <a:prstGeom prst="rect">
            <a:avLst/>
          </a:prstGeom>
          <a:solidFill>
            <a:srgbClr val="111111"/>
          </a:solidFill>
          <a:ln w="12700">
            <a:solidFill>
              <a:srgbClr val="111111"/>
            </a:solidFill>
            <a:prstDash val="solid"/>
          </a:ln>
        </p:spPr>
      </p:sp>
      <p:sp>
        <p:nvSpPr>
          <p:cNvPr id="31" name="Shape 28"/>
          <p:cNvSpPr/>
          <p:nvPr/>
        </p:nvSpPr>
        <p:spPr>
          <a:xfrm>
            <a:off x="6456396" y="4869180"/>
            <a:ext cx="269016" cy="274320"/>
          </a:xfrm>
          <a:prstGeom prst="rect">
            <a:avLst/>
          </a:prstGeom>
          <a:solidFill>
            <a:srgbClr val="111111"/>
          </a:solidFill>
          <a:ln w="12700">
            <a:solidFill>
              <a:srgbClr val="111111"/>
            </a:solidFill>
            <a:prstDash val="solid"/>
          </a:ln>
        </p:spPr>
      </p:sp>
      <p:sp>
        <p:nvSpPr>
          <p:cNvPr id="32" name="Shape 29"/>
          <p:cNvSpPr/>
          <p:nvPr/>
        </p:nvSpPr>
        <p:spPr>
          <a:xfrm>
            <a:off x="6994428" y="4869180"/>
            <a:ext cx="269016" cy="274320"/>
          </a:xfrm>
          <a:prstGeom prst="rect">
            <a:avLst/>
          </a:prstGeom>
          <a:solidFill>
            <a:srgbClr val="111111"/>
          </a:solidFill>
          <a:ln w="12700">
            <a:solidFill>
              <a:srgbClr val="111111"/>
            </a:solidFill>
            <a:prstDash val="solid"/>
          </a:ln>
        </p:spPr>
      </p:sp>
      <p:sp>
        <p:nvSpPr>
          <p:cNvPr id="33" name="Shape 30"/>
          <p:cNvSpPr/>
          <p:nvPr/>
        </p:nvSpPr>
        <p:spPr>
          <a:xfrm>
            <a:off x="7532461" y="4869180"/>
            <a:ext cx="269016" cy="274320"/>
          </a:xfrm>
          <a:prstGeom prst="rect">
            <a:avLst/>
          </a:prstGeom>
          <a:solidFill>
            <a:srgbClr val="111111"/>
          </a:solidFill>
          <a:ln w="12700">
            <a:solidFill>
              <a:srgbClr val="111111"/>
            </a:solidFill>
            <a:prstDash val="solid"/>
          </a:ln>
        </p:spPr>
      </p:sp>
      <p:sp>
        <p:nvSpPr>
          <p:cNvPr id="34" name="Shape 31"/>
          <p:cNvSpPr/>
          <p:nvPr/>
        </p:nvSpPr>
        <p:spPr>
          <a:xfrm>
            <a:off x="8070494" y="4869180"/>
            <a:ext cx="269016" cy="274320"/>
          </a:xfrm>
          <a:prstGeom prst="rect">
            <a:avLst/>
          </a:prstGeom>
          <a:solidFill>
            <a:srgbClr val="111111"/>
          </a:solidFill>
          <a:ln w="12700">
            <a:solidFill>
              <a:srgbClr val="111111"/>
            </a:solidFill>
            <a:prstDash val="solid"/>
          </a:ln>
        </p:spPr>
      </p:sp>
      <p:sp>
        <p:nvSpPr>
          <p:cNvPr id="35" name="Shape 32"/>
          <p:cNvSpPr/>
          <p:nvPr/>
        </p:nvSpPr>
        <p:spPr>
          <a:xfrm>
            <a:off x="8608527" y="4869180"/>
            <a:ext cx="269016" cy="274320"/>
          </a:xfrm>
          <a:prstGeom prst="rect">
            <a:avLst/>
          </a:prstGeom>
          <a:solidFill>
            <a:srgbClr val="111111"/>
          </a:solidFill>
          <a:ln w="12700">
            <a:solidFill>
              <a:srgbClr val="111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A wrong claim goes public unchecked</a:t>
            </a:r>
            <a:endParaRPr lang="en-US" sz="2800" dirty="0"/>
          </a:p>
        </p:txBody>
      </p:sp>
      <p:sp>
        <p:nvSpPr>
          <p:cNvPr id="4" name="Text 1"/>
          <p:cNvSpPr txBox="1"/>
          <p:nvPr/>
        </p:nvSpPr>
        <p:spPr>
          <a:xfrm>
            <a:off x="548640" y="1371600"/>
            <a:ext cx="2926080" cy="1188720"/>
          </a:xfrm>
          <a:prstGeom prst="rect">
            <a:avLst/>
          </a:prstGeom>
          <a:noFill/>
          <a:ln/>
        </p:spPr>
        <p:txBody>
          <a:bodyPr wrap="square" lIns="0" tIns="0" rIns="0" bIns="0" rtlCol="0" anchor="t"/>
          <a:lstStyle/>
          <a:p>
            <a:pPr algn="l" indent="0" marL="0">
              <a:buNone/>
            </a:pPr>
            <a:r>
              <a:rPr lang="en-US" sz="1500" dirty="0">
                <a:solidFill>
                  <a:srgbClr val="111111"/>
                </a:solidFill>
                <a:latin typeface="Georgia" pitchFamily="34" charset="0"/>
                <a:ea typeface="Georgia" pitchFamily="34" charset="-122"/>
                <a:cs typeface="Georgia" pitchFamily="34" charset="-120"/>
              </a:rPr>
              <a:t>Employees, agencies and AI tools now publish for a brand all day. Review still happens by hand, after the fact.</a:t>
            </a:r>
            <a:endParaRPr lang="en-US" sz="1500" dirty="0"/>
          </a:p>
        </p:txBody>
      </p:sp>
      <p:sp>
        <p:nvSpPr>
          <p:cNvPr id="5" name="Text 2"/>
          <p:cNvSpPr txBox="1"/>
          <p:nvPr/>
        </p:nvSpPr>
        <p:spPr>
          <a:xfrm>
            <a:off x="548640" y="2743200"/>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SLIPS THROUGH</a:t>
            </a:r>
            <a:endParaRPr lang="en-US" sz="850" dirty="0"/>
          </a:p>
        </p:txBody>
      </p:sp>
      <p:sp>
        <p:nvSpPr>
          <p:cNvPr id="6" name="Shape 3"/>
          <p:cNvSpPr/>
          <p:nvPr/>
        </p:nvSpPr>
        <p:spPr>
          <a:xfrm>
            <a:off x="548640" y="3017520"/>
            <a:ext cx="2926080" cy="0"/>
          </a:xfrm>
          <a:prstGeom prst="line">
            <a:avLst/>
          </a:prstGeom>
          <a:noFill/>
          <a:ln w="12700">
            <a:solidFill>
              <a:srgbClr val="111111"/>
            </a:solidFill>
            <a:prstDash val="solid"/>
          </a:ln>
        </p:spPr>
      </p:sp>
      <p:sp>
        <p:nvSpPr>
          <p:cNvPr id="7" name="Shape 4"/>
          <p:cNvSpPr/>
          <p:nvPr/>
        </p:nvSpPr>
        <p:spPr>
          <a:xfrm>
            <a:off x="548640" y="3108960"/>
            <a:ext cx="146304" cy="146304"/>
          </a:xfrm>
          <a:prstGeom prst="rect">
            <a:avLst/>
          </a:prstGeom>
          <a:solidFill>
            <a:srgbClr val="FFD93D"/>
          </a:solidFill>
          <a:ln w="15875">
            <a:solidFill>
              <a:srgbClr val="111111"/>
            </a:solidFill>
            <a:prstDash val="solid"/>
          </a:ln>
        </p:spPr>
      </p:sp>
      <p:sp>
        <p:nvSpPr>
          <p:cNvPr id="8" name="Text 5"/>
          <p:cNvSpPr txBox="1"/>
          <p:nvPr/>
        </p:nvSpPr>
        <p:spPr>
          <a:xfrm>
            <a:off x="804672" y="3081528"/>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Claims with no proof behind them</a:t>
            </a:r>
            <a:endParaRPr lang="en-US" sz="1150" dirty="0"/>
          </a:p>
        </p:txBody>
      </p:sp>
      <p:sp>
        <p:nvSpPr>
          <p:cNvPr id="9" name="Shape 6"/>
          <p:cNvSpPr/>
          <p:nvPr/>
        </p:nvSpPr>
        <p:spPr>
          <a:xfrm>
            <a:off x="548640" y="3401568"/>
            <a:ext cx="2926080" cy="0"/>
          </a:xfrm>
          <a:prstGeom prst="line">
            <a:avLst/>
          </a:prstGeom>
          <a:noFill/>
          <a:ln w="12700">
            <a:solidFill>
              <a:srgbClr val="111111"/>
            </a:solidFill>
            <a:prstDash val="solid"/>
          </a:ln>
        </p:spPr>
      </p:sp>
      <p:sp>
        <p:nvSpPr>
          <p:cNvPr id="10" name="Shape 7"/>
          <p:cNvSpPr/>
          <p:nvPr/>
        </p:nvSpPr>
        <p:spPr>
          <a:xfrm>
            <a:off x="548640" y="3493008"/>
            <a:ext cx="146304" cy="146304"/>
          </a:xfrm>
          <a:prstGeom prst="rect">
            <a:avLst/>
          </a:prstGeom>
          <a:solidFill>
            <a:srgbClr val="FF9EDB"/>
          </a:solidFill>
          <a:ln w="15875">
            <a:solidFill>
              <a:srgbClr val="111111"/>
            </a:solidFill>
            <a:prstDash val="solid"/>
          </a:ln>
        </p:spPr>
      </p:sp>
      <p:sp>
        <p:nvSpPr>
          <p:cNvPr id="11" name="Text 8"/>
          <p:cNvSpPr txBox="1"/>
          <p:nvPr/>
        </p:nvSpPr>
        <p:spPr>
          <a:xfrm>
            <a:off x="804672" y="3465576"/>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Prices and dates from last year</a:t>
            </a:r>
            <a:endParaRPr lang="en-US" sz="1150" dirty="0"/>
          </a:p>
        </p:txBody>
      </p:sp>
      <p:sp>
        <p:nvSpPr>
          <p:cNvPr id="12" name="Shape 9"/>
          <p:cNvSpPr/>
          <p:nvPr/>
        </p:nvSpPr>
        <p:spPr>
          <a:xfrm>
            <a:off x="548640" y="3785616"/>
            <a:ext cx="2926080" cy="0"/>
          </a:xfrm>
          <a:prstGeom prst="line">
            <a:avLst/>
          </a:prstGeom>
          <a:noFill/>
          <a:ln w="12700">
            <a:solidFill>
              <a:srgbClr val="111111"/>
            </a:solidFill>
            <a:prstDash val="solid"/>
          </a:ln>
        </p:spPr>
      </p:sp>
      <p:sp>
        <p:nvSpPr>
          <p:cNvPr id="13" name="Shape 10"/>
          <p:cNvSpPr/>
          <p:nvPr/>
        </p:nvSpPr>
        <p:spPr>
          <a:xfrm>
            <a:off x="548640" y="3877056"/>
            <a:ext cx="146304" cy="146304"/>
          </a:xfrm>
          <a:prstGeom prst="rect">
            <a:avLst/>
          </a:prstGeom>
          <a:solidFill>
            <a:srgbClr val="6EE7B7"/>
          </a:solidFill>
          <a:ln w="15875">
            <a:solidFill>
              <a:srgbClr val="111111"/>
            </a:solidFill>
            <a:prstDash val="solid"/>
          </a:ln>
        </p:spPr>
      </p:sp>
      <p:sp>
        <p:nvSpPr>
          <p:cNvPr id="14" name="Text 11"/>
          <p:cNvSpPr txBox="1"/>
          <p:nvPr/>
        </p:nvSpPr>
        <p:spPr>
          <a:xfrm>
            <a:off x="804672" y="3849624"/>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Logos and colours that are off-brand</a:t>
            </a:r>
            <a:endParaRPr lang="en-US" sz="1150" dirty="0"/>
          </a:p>
        </p:txBody>
      </p:sp>
      <p:sp>
        <p:nvSpPr>
          <p:cNvPr id="15" name="Shape 12"/>
          <p:cNvSpPr/>
          <p:nvPr/>
        </p:nvSpPr>
        <p:spPr>
          <a:xfrm>
            <a:off x="548640" y="4169664"/>
            <a:ext cx="2926080" cy="0"/>
          </a:xfrm>
          <a:prstGeom prst="line">
            <a:avLst/>
          </a:prstGeom>
          <a:noFill/>
          <a:ln w="12700">
            <a:solidFill>
              <a:srgbClr val="111111"/>
            </a:solidFill>
            <a:prstDash val="solid"/>
          </a:ln>
        </p:spPr>
      </p:sp>
      <p:sp>
        <p:nvSpPr>
          <p:cNvPr id="16" name="Shape 13"/>
          <p:cNvSpPr/>
          <p:nvPr/>
        </p:nvSpPr>
        <p:spPr>
          <a:xfrm>
            <a:off x="3858768" y="1344168"/>
            <a:ext cx="2331720" cy="2286000"/>
          </a:xfrm>
          <a:prstGeom prst="rect">
            <a:avLst/>
          </a:prstGeom>
          <a:solidFill>
            <a:srgbClr val="111111"/>
          </a:solidFill>
          <a:ln w="6350">
            <a:solidFill>
              <a:srgbClr val="111111"/>
            </a:solidFill>
            <a:prstDash val="solid"/>
          </a:ln>
        </p:spPr>
      </p:sp>
      <p:sp>
        <p:nvSpPr>
          <p:cNvPr id="17" name="Shape 14"/>
          <p:cNvSpPr/>
          <p:nvPr/>
        </p:nvSpPr>
        <p:spPr>
          <a:xfrm>
            <a:off x="3794760" y="1280160"/>
            <a:ext cx="2331720" cy="2286000"/>
          </a:xfrm>
          <a:prstGeom prst="rect">
            <a:avLst/>
          </a:prstGeom>
          <a:solidFill>
            <a:srgbClr val="FFD93D"/>
          </a:solidFill>
          <a:ln w="25400">
            <a:solidFill>
              <a:srgbClr val="111111"/>
            </a:solidFill>
            <a:prstDash val="solid"/>
          </a:ln>
        </p:spPr>
      </p:sp>
      <p:sp>
        <p:nvSpPr>
          <p:cNvPr id="18" name="Shape 15"/>
          <p:cNvSpPr/>
          <p:nvPr/>
        </p:nvSpPr>
        <p:spPr>
          <a:xfrm>
            <a:off x="3959352" y="1417320"/>
            <a:ext cx="1371600" cy="237744"/>
          </a:xfrm>
          <a:prstGeom prst="rect">
            <a:avLst/>
          </a:prstGeom>
          <a:solidFill>
            <a:srgbClr val="111111"/>
          </a:solidFill>
          <a:ln w="6350">
            <a:solidFill>
              <a:srgbClr val="111111"/>
            </a:solidFill>
            <a:prstDash val="solid"/>
          </a:ln>
        </p:spPr>
      </p:sp>
      <p:sp>
        <p:nvSpPr>
          <p:cNvPr id="19" name="Shape 16"/>
          <p:cNvSpPr/>
          <p:nvPr/>
        </p:nvSpPr>
        <p:spPr>
          <a:xfrm>
            <a:off x="3931920" y="1389888"/>
            <a:ext cx="1371600" cy="237744"/>
          </a:xfrm>
          <a:prstGeom prst="rect">
            <a:avLst/>
          </a:prstGeom>
          <a:solidFill>
            <a:srgbClr val="FFFFFF"/>
          </a:solidFill>
          <a:ln w="15875">
            <a:solidFill>
              <a:srgbClr val="111111"/>
            </a:solidFill>
            <a:prstDash val="solid"/>
          </a:ln>
        </p:spPr>
      </p:sp>
      <p:sp>
        <p:nvSpPr>
          <p:cNvPr id="20" name="Text 17"/>
          <p:cNvSpPr txBox="1"/>
          <p:nvPr/>
        </p:nvSpPr>
        <p:spPr>
          <a:xfrm>
            <a:off x="39319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2023</a:t>
            </a:r>
            <a:endParaRPr lang="en-US" sz="850" dirty="0"/>
          </a:p>
        </p:txBody>
      </p:sp>
      <p:sp>
        <p:nvSpPr>
          <p:cNvPr id="21" name="Text 18"/>
          <p:cNvSpPr txBox="1"/>
          <p:nvPr/>
        </p:nvSpPr>
        <p:spPr>
          <a:xfrm>
            <a:off x="39319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$100B</a:t>
            </a:r>
            <a:endParaRPr lang="en-US" sz="4200" dirty="0"/>
          </a:p>
        </p:txBody>
      </p:sp>
      <p:sp>
        <p:nvSpPr>
          <p:cNvPr id="22" name="Text 19"/>
          <p:cNvSpPr txBox="1"/>
          <p:nvPr/>
        </p:nvSpPr>
        <p:spPr>
          <a:xfrm>
            <a:off x="39319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Market value Alphabet lost in a day after its AI demo ad stated a wrong fact.</a:t>
            </a:r>
            <a:endParaRPr lang="en-US" sz="1100" dirty="0"/>
          </a:p>
        </p:txBody>
      </p:sp>
      <p:sp>
        <p:nvSpPr>
          <p:cNvPr id="23" name="Shape 20"/>
          <p:cNvSpPr/>
          <p:nvPr/>
        </p:nvSpPr>
        <p:spPr>
          <a:xfrm>
            <a:off x="6373368" y="1344168"/>
            <a:ext cx="2331720" cy="2286000"/>
          </a:xfrm>
          <a:prstGeom prst="rect">
            <a:avLst/>
          </a:prstGeom>
          <a:solidFill>
            <a:srgbClr val="111111"/>
          </a:solidFill>
          <a:ln w="6350">
            <a:solidFill>
              <a:srgbClr val="111111"/>
            </a:solidFill>
            <a:prstDash val="solid"/>
          </a:ln>
        </p:spPr>
      </p:sp>
      <p:sp>
        <p:nvSpPr>
          <p:cNvPr id="24" name="Shape 21"/>
          <p:cNvSpPr/>
          <p:nvPr/>
        </p:nvSpPr>
        <p:spPr>
          <a:xfrm>
            <a:off x="6309360" y="1280160"/>
            <a:ext cx="2331720" cy="2286000"/>
          </a:xfrm>
          <a:prstGeom prst="rect">
            <a:avLst/>
          </a:prstGeom>
          <a:solidFill>
            <a:srgbClr val="FF9EDB"/>
          </a:solidFill>
          <a:ln w="25400">
            <a:solidFill>
              <a:srgbClr val="111111"/>
            </a:solidFill>
            <a:prstDash val="solid"/>
          </a:ln>
        </p:spPr>
      </p:sp>
      <p:sp>
        <p:nvSpPr>
          <p:cNvPr id="25" name="Shape 22"/>
          <p:cNvSpPr/>
          <p:nvPr/>
        </p:nvSpPr>
        <p:spPr>
          <a:xfrm>
            <a:off x="6473952" y="1417320"/>
            <a:ext cx="1371600" cy="237744"/>
          </a:xfrm>
          <a:prstGeom prst="rect">
            <a:avLst/>
          </a:prstGeom>
          <a:solidFill>
            <a:srgbClr val="111111"/>
          </a:solidFill>
          <a:ln w="6350">
            <a:solidFill>
              <a:srgbClr val="111111"/>
            </a:solidFill>
            <a:prstDash val="solid"/>
          </a:ln>
        </p:spPr>
      </p:sp>
      <p:sp>
        <p:nvSpPr>
          <p:cNvPr id="26" name="Shape 23"/>
          <p:cNvSpPr/>
          <p:nvPr/>
        </p:nvSpPr>
        <p:spPr>
          <a:xfrm>
            <a:off x="6446520" y="1389888"/>
            <a:ext cx="1371600" cy="237744"/>
          </a:xfrm>
          <a:prstGeom prst="rect">
            <a:avLst/>
          </a:prstGeom>
          <a:solidFill>
            <a:srgbClr val="FFFFFF"/>
          </a:solidFill>
          <a:ln w="15875">
            <a:solidFill>
              <a:srgbClr val="111111"/>
            </a:solidFill>
            <a:prstDash val="solid"/>
          </a:ln>
        </p:spPr>
      </p:sp>
      <p:sp>
        <p:nvSpPr>
          <p:cNvPr id="27" name="Text 24"/>
          <p:cNvSpPr txBox="1"/>
          <p:nvPr/>
        </p:nvSpPr>
        <p:spPr>
          <a:xfrm>
            <a:off x="64465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2024</a:t>
            </a:r>
            <a:endParaRPr lang="en-US" sz="850" dirty="0"/>
          </a:p>
        </p:txBody>
      </p:sp>
      <p:sp>
        <p:nvSpPr>
          <p:cNvPr id="28" name="Text 25"/>
          <p:cNvSpPr txBox="1"/>
          <p:nvPr/>
        </p:nvSpPr>
        <p:spPr>
          <a:xfrm>
            <a:off x="64465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$812</a:t>
            </a:r>
            <a:endParaRPr lang="en-US" sz="4200" dirty="0"/>
          </a:p>
        </p:txBody>
      </p:sp>
      <p:sp>
        <p:nvSpPr>
          <p:cNvPr id="29" name="Text 26"/>
          <p:cNvSpPr txBox="1"/>
          <p:nvPr/>
        </p:nvSpPr>
        <p:spPr>
          <a:xfrm>
            <a:off x="64465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Air Canada was ordered to pay after its chatbot gave a refund policy that did not exist.</a:t>
            </a:r>
            <a:endParaRPr lang="en-US" sz="1100" dirty="0"/>
          </a:p>
        </p:txBody>
      </p:sp>
      <p:sp>
        <p:nvSpPr>
          <p:cNvPr id="30" name="Text 27"/>
          <p:cNvSpPr txBox="1"/>
          <p:nvPr/>
        </p:nvSpPr>
        <p:spPr>
          <a:xfrm>
            <a:off x="3794760" y="3703320"/>
            <a:ext cx="4846320" cy="27432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Sources: NPR, 9 Feb 2023. Moffatt v. Air Canada ruling, reported by Yahoo News and AI Business, Feb 2024.</a:t>
            </a:r>
            <a:endParaRPr lang="en-US" sz="800" dirty="0"/>
          </a:p>
        </p:txBody>
      </p:sp>
      <p:sp>
        <p:nvSpPr>
          <p:cNvPr id="31" name="Shape 28"/>
          <p:cNvSpPr/>
          <p:nvPr/>
        </p:nvSpPr>
        <p:spPr>
          <a:xfrm>
            <a:off x="3794760" y="4023360"/>
            <a:ext cx="4800600" cy="502920"/>
          </a:xfrm>
          <a:prstGeom prst="rect">
            <a:avLst/>
          </a:prstGeom>
          <a:solidFill>
            <a:srgbClr val="111111"/>
          </a:solidFill>
          <a:ln w="22225">
            <a:solidFill>
              <a:srgbClr val="111111"/>
            </a:solidFill>
            <a:prstDash val="solid"/>
          </a:ln>
        </p:spPr>
      </p:sp>
      <p:sp>
        <p:nvSpPr>
          <p:cNvPr id="32" name="Text 29"/>
          <p:cNvSpPr txBox="1"/>
          <p:nvPr/>
        </p:nvSpPr>
        <p:spPr>
          <a:xfrm>
            <a:off x="3913632" y="4023360"/>
            <a:ext cx="4572000" cy="502920"/>
          </a:xfrm>
          <a:prstGeom prst="rect">
            <a:avLst/>
          </a:prstGeom>
          <a:noFill/>
          <a:ln/>
        </p:spPr>
        <p:txBody>
          <a:bodyPr wrap="square" lIns="0" tIns="0" rIns="0" bIns="0" rtlCol="0" anchor="ctr"/>
          <a:lstStyle/>
          <a:p>
            <a:pPr algn="l" indent="0" marL="0">
              <a:buNone/>
            </a:pPr>
            <a:pPr algn="l" indent="0" marL="0">
              <a:buNone/>
            </a:pPr>
            <a:r>
              <a:rPr sz="950" b="1">
                <a:solidFill>
                  <a:srgbClr val="FFD93D"/>
                </a:solidFill>
                <a:latin typeface="Courier New"/>
              </a:rPr>
              <a:t>ROUND 3 PRODUCT COMPLETION  Dual-set benchmark on 24 planted defects: 100% precision, 0 false alarms, 16/16 Pytest passing.</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Four people, one shared problem</a:t>
            </a:r>
            <a:endParaRPr lang="en-US" sz="2800" dirty="0"/>
          </a:p>
        </p:txBody>
      </p:sp>
      <p:sp>
        <p:nvSpPr>
          <p:cNvPr id="4" name="Text 1"/>
          <p:cNvSpPr txBox="1"/>
          <p:nvPr/>
        </p:nvSpPr>
        <p:spPr>
          <a:xfrm>
            <a:off x="1280160" y="1261872"/>
            <a:ext cx="18288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WHO</a:t>
            </a:r>
            <a:endParaRPr lang="en-US" sz="850" dirty="0"/>
          </a:p>
        </p:txBody>
      </p:sp>
      <p:sp>
        <p:nvSpPr>
          <p:cNvPr id="5" name="Text 2"/>
          <p:cNvSpPr txBox="1"/>
          <p:nvPr/>
        </p:nvSpPr>
        <p:spPr>
          <a:xfrm>
            <a:off x="301752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HURTS TODAY</a:t>
            </a:r>
            <a:endParaRPr lang="en-US" sz="850" dirty="0"/>
          </a:p>
        </p:txBody>
      </p:sp>
      <p:sp>
        <p:nvSpPr>
          <p:cNvPr id="6" name="Text 3"/>
          <p:cNvSpPr txBox="1"/>
          <p:nvPr/>
        </p:nvSpPr>
        <p:spPr>
          <a:xfrm>
            <a:off x="594360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VERITY GIVES</a:t>
            </a:r>
            <a:endParaRPr lang="en-US" sz="850" dirty="0"/>
          </a:p>
        </p:txBody>
      </p:sp>
      <p:sp>
        <p:nvSpPr>
          <p:cNvPr id="7" name="Shape 4"/>
          <p:cNvSpPr/>
          <p:nvPr/>
        </p:nvSpPr>
        <p:spPr>
          <a:xfrm>
            <a:off x="594360" y="1554480"/>
            <a:ext cx="8046720" cy="566928"/>
          </a:xfrm>
          <a:prstGeom prst="rect">
            <a:avLst/>
          </a:prstGeom>
          <a:solidFill>
            <a:srgbClr val="111111"/>
          </a:solidFill>
          <a:ln w="6350">
            <a:solidFill>
              <a:srgbClr val="111111"/>
            </a:solidFill>
            <a:prstDash val="solid"/>
          </a:ln>
        </p:spPr>
      </p:sp>
      <p:sp>
        <p:nvSpPr>
          <p:cNvPr id="8" name="Shape 5"/>
          <p:cNvSpPr/>
          <p:nvPr/>
        </p:nvSpPr>
        <p:spPr>
          <a:xfrm>
            <a:off x="548640" y="1508760"/>
            <a:ext cx="8046720" cy="566928"/>
          </a:xfrm>
          <a:prstGeom prst="rect">
            <a:avLst/>
          </a:prstGeom>
          <a:solidFill>
            <a:srgbClr val="FFFFFF"/>
          </a:solidFill>
          <a:ln w="19050">
            <a:solidFill>
              <a:srgbClr val="111111"/>
            </a:solidFill>
            <a:prstDash val="solid"/>
          </a:ln>
        </p:spPr>
      </p:sp>
      <p:sp>
        <p:nvSpPr>
          <p:cNvPr id="9" name="Shape 6"/>
          <p:cNvSpPr/>
          <p:nvPr/>
        </p:nvSpPr>
        <p:spPr>
          <a:xfrm>
            <a:off x="548640" y="1508760"/>
            <a:ext cx="109728" cy="566928"/>
          </a:xfrm>
          <a:prstGeom prst="rect">
            <a:avLst/>
          </a:prstGeom>
          <a:solidFill>
            <a:srgbClr val="FFD93D"/>
          </a:solidFill>
          <a:ln w="19050">
            <a:solidFill>
              <a:srgbClr val="111111"/>
            </a:solidFill>
            <a:prstDash val="solid"/>
          </a:ln>
        </p:spPr>
      </p:sp>
      <p:sp>
        <p:nvSpPr>
          <p:cNvPr id="10" name="Shape 7"/>
          <p:cNvSpPr/>
          <p:nvPr/>
        </p:nvSpPr>
        <p:spPr>
          <a:xfrm>
            <a:off x="777240" y="1591056"/>
            <a:ext cx="402336" cy="402336"/>
          </a:xfrm>
          <a:prstGeom prst="ellipse">
            <a:avLst/>
          </a:prstGeom>
          <a:solidFill>
            <a:srgbClr val="FFD93D"/>
          </a:solidFill>
          <a:ln w="22225">
            <a:solidFill>
              <a:srgbClr val="111111"/>
            </a:solidFill>
            <a:prstDash val="solid"/>
          </a:ln>
        </p:spPr>
      </p:sp>
      <p:pic>
        <p:nvPicPr>
          <p:cNvPr id="11" name="Image 0" descr="preencoded.png">    </p:cNvPr>
          <p:cNvPicPr>
            <a:picLocks noChangeAspect="1"/>
          </p:cNvPicPr>
          <p:nvPr/>
        </p:nvPicPr>
        <p:blipFill>
          <a:blip r:embed="rId1"/>
          <a:stretch>
            <a:fillRect/>
          </a:stretch>
        </p:blipFill>
        <p:spPr>
          <a:xfrm>
            <a:off x="873801" y="1687617"/>
            <a:ext cx="209215" cy="209215"/>
          </a:xfrm>
          <a:prstGeom prst="rect">
            <a:avLst/>
          </a:prstGeom>
        </p:spPr>
      </p:pic>
      <p:sp>
        <p:nvSpPr>
          <p:cNvPr id="12" name="Text 8"/>
          <p:cNvSpPr txBox="1"/>
          <p:nvPr/>
        </p:nvSpPr>
        <p:spPr>
          <a:xfrm>
            <a:off x="1280160" y="1508760"/>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Creator</a:t>
            </a:r>
            <a:endParaRPr lang="en-US" sz="1250" dirty="0"/>
          </a:p>
        </p:txBody>
      </p:sp>
      <p:sp>
        <p:nvSpPr>
          <p:cNvPr id="13" name="Text 9"/>
          <p:cNvSpPr txBox="1"/>
          <p:nvPr/>
        </p:nvSpPr>
        <p:spPr>
          <a:xfrm>
            <a:off x="3017520" y="1508760"/>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Guessing what is allowed, then hearing “no” after submitting.</a:t>
            </a:r>
            <a:endParaRPr lang="en-US" sz="1050" dirty="0"/>
          </a:p>
        </p:txBody>
      </p:sp>
      <p:sp>
        <p:nvSpPr>
          <p:cNvPr id="14" name="Text 10"/>
          <p:cNvSpPr txBox="1"/>
          <p:nvPr/>
        </p:nvSpPr>
        <p:spPr>
          <a:xfrm>
            <a:off x="5943600" y="1508760"/>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Clear, cited feedback before they submit.</a:t>
            </a:r>
            <a:endParaRPr lang="en-US" sz="1050" dirty="0"/>
          </a:p>
        </p:txBody>
      </p:sp>
      <p:sp>
        <p:nvSpPr>
          <p:cNvPr id="15" name="Shape 11"/>
          <p:cNvSpPr/>
          <p:nvPr/>
        </p:nvSpPr>
        <p:spPr>
          <a:xfrm>
            <a:off x="594360" y="2212848"/>
            <a:ext cx="8046720" cy="566928"/>
          </a:xfrm>
          <a:prstGeom prst="rect">
            <a:avLst/>
          </a:prstGeom>
          <a:solidFill>
            <a:srgbClr val="111111"/>
          </a:solidFill>
          <a:ln w="6350">
            <a:solidFill>
              <a:srgbClr val="111111"/>
            </a:solidFill>
            <a:prstDash val="solid"/>
          </a:ln>
        </p:spPr>
      </p:sp>
      <p:sp>
        <p:nvSpPr>
          <p:cNvPr id="16" name="Shape 12"/>
          <p:cNvSpPr/>
          <p:nvPr/>
        </p:nvSpPr>
        <p:spPr>
          <a:xfrm>
            <a:off x="548640" y="2167128"/>
            <a:ext cx="8046720" cy="566928"/>
          </a:xfrm>
          <a:prstGeom prst="rect">
            <a:avLst/>
          </a:prstGeom>
          <a:solidFill>
            <a:srgbClr val="FFFFFF"/>
          </a:solidFill>
          <a:ln w="19050">
            <a:solidFill>
              <a:srgbClr val="111111"/>
            </a:solidFill>
            <a:prstDash val="solid"/>
          </a:ln>
        </p:spPr>
      </p:sp>
      <p:sp>
        <p:nvSpPr>
          <p:cNvPr id="17" name="Shape 13"/>
          <p:cNvSpPr/>
          <p:nvPr/>
        </p:nvSpPr>
        <p:spPr>
          <a:xfrm>
            <a:off x="548640" y="2167128"/>
            <a:ext cx="109728" cy="566928"/>
          </a:xfrm>
          <a:prstGeom prst="rect">
            <a:avLst/>
          </a:prstGeom>
          <a:solidFill>
            <a:srgbClr val="6EE7B7"/>
          </a:solidFill>
          <a:ln w="19050">
            <a:solidFill>
              <a:srgbClr val="111111"/>
            </a:solidFill>
            <a:prstDash val="solid"/>
          </a:ln>
        </p:spPr>
      </p:sp>
      <p:sp>
        <p:nvSpPr>
          <p:cNvPr id="18" name="Shape 14"/>
          <p:cNvSpPr/>
          <p:nvPr/>
        </p:nvSpPr>
        <p:spPr>
          <a:xfrm>
            <a:off x="777240" y="2249424"/>
            <a:ext cx="402336" cy="402336"/>
          </a:xfrm>
          <a:prstGeom prst="ellipse">
            <a:avLst/>
          </a:prstGeom>
          <a:solidFill>
            <a:srgbClr val="6EE7B7"/>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873801" y="2345985"/>
            <a:ext cx="209215" cy="209215"/>
          </a:xfrm>
          <a:prstGeom prst="rect">
            <a:avLst/>
          </a:prstGeom>
        </p:spPr>
      </p:pic>
      <p:sp>
        <p:nvSpPr>
          <p:cNvPr id="20" name="Text 15"/>
          <p:cNvSpPr txBox="1"/>
          <p:nvPr/>
        </p:nvSpPr>
        <p:spPr>
          <a:xfrm>
            <a:off x="1280160" y="2167128"/>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Brand manager</a:t>
            </a:r>
            <a:endParaRPr lang="en-US" sz="1250" dirty="0"/>
          </a:p>
        </p:txBody>
      </p:sp>
      <p:sp>
        <p:nvSpPr>
          <p:cNvPr id="21" name="Text 16"/>
          <p:cNvSpPr txBox="1"/>
          <p:nvPr/>
        </p:nvSpPr>
        <p:spPr>
          <a:xfrm>
            <a:off x="3017520" y="2167128"/>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Checking every team’s work by hand.</a:t>
            </a:r>
            <a:endParaRPr lang="en-US" sz="1050" dirty="0"/>
          </a:p>
        </p:txBody>
      </p:sp>
      <p:sp>
        <p:nvSpPr>
          <p:cNvPr id="22" name="Text 17"/>
          <p:cNvSpPr txBox="1"/>
          <p:nvPr/>
        </p:nvSpPr>
        <p:spPr>
          <a:xfrm>
            <a:off x="5943600" y="2167128"/>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One rulebook, applied the same way everywhere.</a:t>
            </a:r>
            <a:endParaRPr lang="en-US" sz="1050" dirty="0"/>
          </a:p>
        </p:txBody>
      </p:sp>
      <p:sp>
        <p:nvSpPr>
          <p:cNvPr id="23" name="Shape 18"/>
          <p:cNvSpPr/>
          <p:nvPr/>
        </p:nvSpPr>
        <p:spPr>
          <a:xfrm>
            <a:off x="594360" y="2871216"/>
            <a:ext cx="8046720" cy="566928"/>
          </a:xfrm>
          <a:prstGeom prst="rect">
            <a:avLst/>
          </a:prstGeom>
          <a:solidFill>
            <a:srgbClr val="111111"/>
          </a:solidFill>
          <a:ln w="6350">
            <a:solidFill>
              <a:srgbClr val="111111"/>
            </a:solidFill>
            <a:prstDash val="solid"/>
          </a:ln>
        </p:spPr>
      </p:sp>
      <p:sp>
        <p:nvSpPr>
          <p:cNvPr id="24" name="Shape 19"/>
          <p:cNvSpPr/>
          <p:nvPr/>
        </p:nvSpPr>
        <p:spPr>
          <a:xfrm>
            <a:off x="548640" y="2825496"/>
            <a:ext cx="8046720" cy="566928"/>
          </a:xfrm>
          <a:prstGeom prst="rect">
            <a:avLst/>
          </a:prstGeom>
          <a:solidFill>
            <a:srgbClr val="FFFFFF"/>
          </a:solidFill>
          <a:ln w="19050">
            <a:solidFill>
              <a:srgbClr val="111111"/>
            </a:solidFill>
            <a:prstDash val="solid"/>
          </a:ln>
        </p:spPr>
      </p:sp>
      <p:sp>
        <p:nvSpPr>
          <p:cNvPr id="25" name="Shape 20"/>
          <p:cNvSpPr/>
          <p:nvPr/>
        </p:nvSpPr>
        <p:spPr>
          <a:xfrm>
            <a:off x="548640" y="2825496"/>
            <a:ext cx="109728" cy="566928"/>
          </a:xfrm>
          <a:prstGeom prst="rect">
            <a:avLst/>
          </a:prstGeom>
          <a:solidFill>
            <a:srgbClr val="FF9EDB"/>
          </a:solidFill>
          <a:ln w="19050">
            <a:solidFill>
              <a:srgbClr val="111111"/>
            </a:solidFill>
            <a:prstDash val="solid"/>
          </a:ln>
        </p:spPr>
      </p:sp>
      <p:sp>
        <p:nvSpPr>
          <p:cNvPr id="26" name="Shape 21"/>
          <p:cNvSpPr/>
          <p:nvPr/>
        </p:nvSpPr>
        <p:spPr>
          <a:xfrm>
            <a:off x="777240" y="2907792"/>
            <a:ext cx="402336" cy="402336"/>
          </a:xfrm>
          <a:prstGeom prst="ellipse">
            <a:avLst/>
          </a:prstGeom>
          <a:solidFill>
            <a:srgbClr val="FF9EDB"/>
          </a:solidFill>
          <a:ln w="22225">
            <a:solidFill>
              <a:srgbClr val="111111"/>
            </a:solidFill>
            <a:prstDash val="solid"/>
          </a:ln>
        </p:spPr>
      </p:sp>
      <p:pic>
        <p:nvPicPr>
          <p:cNvPr id="27" name="Image 2" descr="preencoded.png">    </p:cNvPr>
          <p:cNvPicPr>
            <a:picLocks noChangeAspect="1"/>
          </p:cNvPicPr>
          <p:nvPr/>
        </p:nvPicPr>
        <p:blipFill>
          <a:blip r:embed="rId3"/>
          <a:stretch>
            <a:fillRect/>
          </a:stretch>
        </p:blipFill>
        <p:spPr>
          <a:xfrm>
            <a:off x="873801" y="3004353"/>
            <a:ext cx="209215" cy="209215"/>
          </a:xfrm>
          <a:prstGeom prst="rect">
            <a:avLst/>
          </a:prstGeom>
        </p:spPr>
      </p:pic>
      <p:sp>
        <p:nvSpPr>
          <p:cNvPr id="28" name="Text 22"/>
          <p:cNvSpPr txBox="1"/>
          <p:nvPr/>
        </p:nvSpPr>
        <p:spPr>
          <a:xfrm>
            <a:off x="1280160" y="2825496"/>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Authorised reviewer</a:t>
            </a:r>
            <a:endParaRPr lang="en-US" sz="1250" dirty="0"/>
          </a:p>
        </p:txBody>
      </p:sp>
      <p:sp>
        <p:nvSpPr>
          <p:cNvPr id="29" name="Text 23"/>
          <p:cNvSpPr txBox="1"/>
          <p:nvPr/>
        </p:nvSpPr>
        <p:spPr>
          <a:xfrm>
            <a:off x="3017520" y="2825496"/>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Approving claims without the source in front of them.</a:t>
            </a:r>
            <a:endParaRPr lang="en-US" sz="1050" dirty="0"/>
          </a:p>
        </p:txBody>
      </p:sp>
      <p:sp>
        <p:nvSpPr>
          <p:cNvPr id="30" name="Text 24"/>
          <p:cNvSpPr txBox="1"/>
          <p:nvPr/>
        </p:nvSpPr>
        <p:spPr>
          <a:xfrm>
            <a:off x="5943600" y="2825496"/>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rule, the source and a fix beside each flag.</a:t>
            </a:r>
            <a:endParaRPr lang="en-US" sz="1050" dirty="0"/>
          </a:p>
        </p:txBody>
      </p:sp>
      <p:sp>
        <p:nvSpPr>
          <p:cNvPr id="31" name="Shape 25"/>
          <p:cNvSpPr/>
          <p:nvPr/>
        </p:nvSpPr>
        <p:spPr>
          <a:xfrm>
            <a:off x="594360" y="3529584"/>
            <a:ext cx="8046720" cy="566928"/>
          </a:xfrm>
          <a:prstGeom prst="rect">
            <a:avLst/>
          </a:prstGeom>
          <a:solidFill>
            <a:srgbClr val="111111"/>
          </a:solidFill>
          <a:ln w="6350">
            <a:solidFill>
              <a:srgbClr val="111111"/>
            </a:solidFill>
            <a:prstDash val="solid"/>
          </a:ln>
        </p:spPr>
      </p:sp>
      <p:sp>
        <p:nvSpPr>
          <p:cNvPr id="32" name="Shape 26"/>
          <p:cNvSpPr/>
          <p:nvPr/>
        </p:nvSpPr>
        <p:spPr>
          <a:xfrm>
            <a:off x="548640" y="3483864"/>
            <a:ext cx="8046720" cy="566928"/>
          </a:xfrm>
          <a:prstGeom prst="rect">
            <a:avLst/>
          </a:prstGeom>
          <a:solidFill>
            <a:srgbClr val="FFFFFF"/>
          </a:solidFill>
          <a:ln w="19050">
            <a:solidFill>
              <a:srgbClr val="111111"/>
            </a:solidFill>
            <a:prstDash val="solid"/>
          </a:ln>
        </p:spPr>
      </p:sp>
      <p:sp>
        <p:nvSpPr>
          <p:cNvPr id="33" name="Shape 27"/>
          <p:cNvSpPr/>
          <p:nvPr/>
        </p:nvSpPr>
        <p:spPr>
          <a:xfrm>
            <a:off x="548640" y="3483864"/>
            <a:ext cx="109728" cy="566928"/>
          </a:xfrm>
          <a:prstGeom prst="rect">
            <a:avLst/>
          </a:prstGeom>
          <a:solidFill>
            <a:srgbClr val="9DB0FF"/>
          </a:solidFill>
          <a:ln w="19050">
            <a:solidFill>
              <a:srgbClr val="111111"/>
            </a:solidFill>
            <a:prstDash val="solid"/>
          </a:ln>
        </p:spPr>
      </p:sp>
      <p:sp>
        <p:nvSpPr>
          <p:cNvPr id="34" name="Shape 28"/>
          <p:cNvSpPr/>
          <p:nvPr/>
        </p:nvSpPr>
        <p:spPr>
          <a:xfrm>
            <a:off x="777240" y="3566160"/>
            <a:ext cx="402336" cy="402336"/>
          </a:xfrm>
          <a:prstGeom prst="ellipse">
            <a:avLst/>
          </a:prstGeom>
          <a:solidFill>
            <a:srgbClr val="9DB0FF"/>
          </a:solidFill>
          <a:ln w="22225">
            <a:solidFill>
              <a:srgbClr val="111111"/>
            </a:solidFill>
            <a:prstDash val="solid"/>
          </a:ln>
        </p:spPr>
      </p:sp>
      <p:pic>
        <p:nvPicPr>
          <p:cNvPr id="35" name="Image 3" descr="preencoded.png">    </p:cNvPr>
          <p:cNvPicPr>
            <a:picLocks noChangeAspect="1"/>
          </p:cNvPicPr>
          <p:nvPr/>
        </p:nvPicPr>
        <p:blipFill>
          <a:blip r:embed="rId4"/>
          <a:stretch>
            <a:fillRect/>
          </a:stretch>
        </p:blipFill>
        <p:spPr>
          <a:xfrm>
            <a:off x="873801" y="3662721"/>
            <a:ext cx="209215" cy="209215"/>
          </a:xfrm>
          <a:prstGeom prst="rect">
            <a:avLst/>
          </a:prstGeom>
        </p:spPr>
      </p:pic>
      <p:sp>
        <p:nvSpPr>
          <p:cNvPr id="36" name="Text 29"/>
          <p:cNvSpPr txBox="1"/>
          <p:nvPr/>
        </p:nvSpPr>
        <p:spPr>
          <a:xfrm>
            <a:off x="1280160" y="3483864"/>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Agency or freelancer</a:t>
            </a:r>
            <a:endParaRPr lang="en-US" sz="1250" dirty="0"/>
          </a:p>
        </p:txBody>
      </p:sp>
      <p:sp>
        <p:nvSpPr>
          <p:cNvPr id="37" name="Text 30"/>
          <p:cNvSpPr txBox="1"/>
          <p:nvPr/>
        </p:nvSpPr>
        <p:spPr>
          <a:xfrm>
            <a:off x="3017520" y="3483864"/>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Working from an old PDF of the guidelines.</a:t>
            </a:r>
            <a:endParaRPr lang="en-US" sz="1050" dirty="0"/>
          </a:p>
        </p:txBody>
      </p:sp>
      <p:sp>
        <p:nvSpPr>
          <p:cNvPr id="38" name="Text 31"/>
          <p:cNvSpPr txBox="1"/>
          <p:nvPr/>
        </p:nvSpPr>
        <p:spPr>
          <a:xfrm>
            <a:off x="5943600" y="3483864"/>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current rules in one shared workspace.</a:t>
            </a:r>
            <a:endParaRPr lang="en-US" sz="1050" dirty="0"/>
          </a:p>
        </p:txBody>
      </p:sp>
      <p:sp>
        <p:nvSpPr>
          <p:cNvPr id="39" name="Shape 32"/>
          <p:cNvSpPr/>
          <p:nvPr/>
        </p:nvSpPr>
        <p:spPr>
          <a:xfrm>
            <a:off x="548640" y="4251960"/>
            <a:ext cx="8046720" cy="292608"/>
          </a:xfrm>
          <a:prstGeom prst="rect">
            <a:avLst/>
          </a:prstGeom>
          <a:solidFill>
            <a:srgbClr val="111111"/>
          </a:solidFill>
          <a:ln w="22225">
            <a:solidFill>
              <a:srgbClr val="111111"/>
            </a:solidFill>
            <a:prstDash val="solid"/>
          </a:ln>
        </p:spPr>
      </p:sp>
      <p:sp>
        <p:nvSpPr>
          <p:cNvPr id="40" name="Text 33"/>
          <p:cNvSpPr txBox="1"/>
          <p:nvPr/>
        </p:nvSpPr>
        <p:spPr>
          <a:xfrm>
            <a:off x="685800" y="4251960"/>
            <a:ext cx="7772400" cy="292608"/>
          </a:xfrm>
          <a:prstGeom prst="rect">
            <a:avLst/>
          </a:prstGeom>
          <a:noFill/>
          <a:ln/>
        </p:spPr>
        <p:txBody>
          <a:bodyPr wrap="square" lIns="0" tIns="0" rIns="0" bIns="0" rtlCol="0" anchor="ctr"/>
          <a:lstStyle/>
          <a:p>
            <a:pPr algn="l" indent="0" marL="0">
              <a:buNone/>
            </a:pPr>
            <a:pPr algn="l" indent="0" marL="0">
              <a:buNone/>
            </a:pPr>
            <a:r>
              <a:rPr sz="900" b="1">
                <a:solidFill>
                  <a:srgbClr val="FFD93D"/>
                </a:solidFill>
                <a:latin typeface="Courier New"/>
              </a:rPr>
              <a:t>ZERO-ASSISTANCE JUDGE TOUR  In-situ guided tutorial with 4 persona tracks (Creator, Reviewer, Owner, All) &amp; sandbox simulator.</a:t>
            </a:r>
            <a:endParaRPr lang="en-US" sz="9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From upload to approval in six steps</a:t>
            </a:r>
            <a:endParaRPr lang="en-US" sz="2800" dirty="0"/>
          </a:p>
        </p:txBody>
      </p:sp>
      <p:sp>
        <p:nvSpPr>
          <p:cNvPr id="4" name="Shape 1"/>
          <p:cNvSpPr/>
          <p:nvPr/>
        </p:nvSpPr>
        <p:spPr>
          <a:xfrm>
            <a:off x="822960" y="1920240"/>
            <a:ext cx="6949440" cy="0"/>
          </a:xfrm>
          <a:prstGeom prst="line">
            <a:avLst/>
          </a:prstGeom>
          <a:noFill/>
          <a:ln w="38100">
            <a:solidFill>
              <a:srgbClr val="FFFFFF"/>
            </a:solidFill>
            <a:prstDash val="solid"/>
          </a:ln>
        </p:spPr>
      </p:sp>
      <p:sp>
        <p:nvSpPr>
          <p:cNvPr id="5" name="Shape 2"/>
          <p:cNvSpPr/>
          <p:nvPr/>
        </p:nvSpPr>
        <p:spPr>
          <a:xfrm>
            <a:off x="548640" y="1572768"/>
            <a:ext cx="694944" cy="694944"/>
          </a:xfrm>
          <a:prstGeom prst="ellipse">
            <a:avLst/>
          </a:prstGeom>
          <a:solidFill>
            <a:srgbClr val="FFFFFF"/>
          </a:solidFill>
          <a:ln w="22225">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715427" y="1739555"/>
            <a:ext cx="361371" cy="361371"/>
          </a:xfrm>
          <a:prstGeom prst="rect">
            <a:avLst/>
          </a:prstGeom>
        </p:spPr>
      </p:pic>
      <p:sp>
        <p:nvSpPr>
          <p:cNvPr id="7" name="Text 3"/>
          <p:cNvSpPr txBox="1"/>
          <p:nvPr/>
        </p:nvSpPr>
        <p:spPr>
          <a:xfrm>
            <a:off x="502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Upload / Draft</a:t>
            </a:r>
            <a:endParaRPr lang="en-US" sz="1300" dirty="0"/>
          </a:p>
        </p:txBody>
      </p:sp>
      <p:sp>
        <p:nvSpPr>
          <p:cNvPr id="8" name="Text 4"/>
          <p:cNvSpPr txBox="1"/>
          <p:nvPr/>
        </p:nvSpPr>
        <p:spPr>
          <a:xfrm>
            <a:off x="502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Text, graphics, banners, alt-text, hex contrast, docx, pdf.</a:t>
            </a:r>
            <a:endParaRPr lang="en-US" sz="1000" dirty="0"/>
          </a:p>
        </p:txBody>
      </p:sp>
      <p:sp>
        <p:nvSpPr>
          <p:cNvPr id="9" name="Shape 5"/>
          <p:cNvSpPr/>
          <p:nvPr/>
        </p:nvSpPr>
        <p:spPr>
          <a:xfrm>
            <a:off x="1920240" y="1572768"/>
            <a:ext cx="694944" cy="694944"/>
          </a:xfrm>
          <a:prstGeom prst="ellipse">
            <a:avLst/>
          </a:prstGeom>
          <a:solidFill>
            <a:srgbClr val="FFD93D"/>
          </a:solidFill>
          <a:ln w="22225">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2087027" y="1739555"/>
            <a:ext cx="361371" cy="361371"/>
          </a:xfrm>
          <a:prstGeom prst="rect">
            <a:avLst/>
          </a:prstGeom>
        </p:spPr>
      </p:pic>
      <p:sp>
        <p:nvSpPr>
          <p:cNvPr id="11" name="Text 6"/>
          <p:cNvSpPr txBox="1"/>
          <p:nvPr/>
        </p:nvSpPr>
        <p:spPr>
          <a:xfrm>
            <a:off x="18745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Pre-Checks</a:t>
            </a:r>
            <a:endParaRPr lang="en-US" sz="1300" dirty="0"/>
          </a:p>
        </p:txBody>
      </p:sp>
      <p:sp>
        <p:nvSpPr>
          <p:cNvPr id="12" name="Text 7"/>
          <p:cNvSpPr txBox="1"/>
          <p:nvPr/>
        </p:nvSpPr>
        <p:spPr>
          <a:xfrm>
            <a:off x="18745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Deterministic regex checks casing &amp; codenames first.</a:t>
            </a:r>
            <a:endParaRPr lang="en-US" sz="1000" dirty="0"/>
          </a:p>
        </p:txBody>
      </p:sp>
      <p:sp>
        <p:nvSpPr>
          <p:cNvPr id="13" name="Shape 8"/>
          <p:cNvSpPr/>
          <p:nvPr/>
        </p:nvSpPr>
        <p:spPr>
          <a:xfrm>
            <a:off x="3291840" y="1572768"/>
            <a:ext cx="694944" cy="694944"/>
          </a:xfrm>
          <a:prstGeom prst="ellipse">
            <a:avLst/>
          </a:prstGeom>
          <a:solidFill>
            <a:srgbClr val="6EE7B7"/>
          </a:solidFill>
          <a:ln w="22225">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3458627" y="1739555"/>
            <a:ext cx="361371" cy="361371"/>
          </a:xfrm>
          <a:prstGeom prst="rect">
            <a:avLst/>
          </a:prstGeom>
        </p:spPr>
      </p:pic>
      <p:sp>
        <p:nvSpPr>
          <p:cNvPr id="15" name="Text 9"/>
          <p:cNvSpPr txBox="1"/>
          <p:nvPr/>
        </p:nvSpPr>
        <p:spPr>
          <a:xfrm>
            <a:off x="32461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Claim Ledger™</a:t>
            </a:r>
            <a:endParaRPr lang="en-US" sz="1300" dirty="0"/>
          </a:p>
        </p:txBody>
      </p:sp>
      <p:sp>
        <p:nvSpPr>
          <p:cNvPr id="16" name="Text 10"/>
          <p:cNvSpPr txBox="1"/>
          <p:nvPr/>
        </p:nvSpPr>
        <p:spPr>
          <a:xfrm>
            <a:off x="32461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Dense vector matching (bge-small-en) &amp; 30-day expiry check.</a:t>
            </a:r>
            <a:endParaRPr lang="en-US" sz="1000" dirty="0"/>
          </a:p>
        </p:txBody>
      </p:sp>
      <p:sp>
        <p:nvSpPr>
          <p:cNvPr id="17" name="Shape 11"/>
          <p:cNvSpPr/>
          <p:nvPr/>
        </p:nvSpPr>
        <p:spPr>
          <a:xfrm>
            <a:off x="4663440" y="1572768"/>
            <a:ext cx="694944" cy="694944"/>
          </a:xfrm>
          <a:prstGeom prst="ellipse">
            <a:avLst/>
          </a:prstGeom>
          <a:solidFill>
            <a:srgbClr val="9DB0FF"/>
          </a:solidFill>
          <a:ln w="22225">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4830227" y="1739555"/>
            <a:ext cx="361371" cy="361371"/>
          </a:xfrm>
          <a:prstGeom prst="rect">
            <a:avLst/>
          </a:prstGeom>
        </p:spPr>
      </p:pic>
      <p:sp>
        <p:nvSpPr>
          <p:cNvPr id="19" name="Text 12"/>
          <p:cNvSpPr txBox="1"/>
          <p:nvPr/>
        </p:nvSpPr>
        <p:spPr>
          <a:xfrm>
            <a:off x="46177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Groq AI Voice</a:t>
            </a:r>
            <a:endParaRPr lang="en-US" sz="1300" dirty="0"/>
          </a:p>
        </p:txBody>
      </p:sp>
      <p:sp>
        <p:nvSpPr>
          <p:cNvPr id="20" name="Text 13"/>
          <p:cNvSpPr txBox="1"/>
          <p:nvPr/>
        </p:nvSpPr>
        <p:spPr>
          <a:xfrm>
            <a:off x="46177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Sub-second (&lt;800ms) Llama 3.3 tone review via Groq.</a:t>
            </a:r>
            <a:endParaRPr lang="en-US" sz="1000" dirty="0"/>
          </a:p>
        </p:txBody>
      </p:sp>
      <p:sp>
        <p:nvSpPr>
          <p:cNvPr id="21" name="Shape 14"/>
          <p:cNvSpPr/>
          <p:nvPr/>
        </p:nvSpPr>
        <p:spPr>
          <a:xfrm>
            <a:off x="6035040" y="1572768"/>
            <a:ext cx="694944" cy="694944"/>
          </a:xfrm>
          <a:prstGeom prst="ellipse">
            <a:avLst/>
          </a:prstGeom>
          <a:solidFill>
            <a:srgbClr val="FF9EDB"/>
          </a:solidFill>
          <a:ln w="22225">
            <a:solidFill>
              <a:srgbClr val="111111"/>
            </a:solidFill>
            <a:prstDash val="solid"/>
          </a:ln>
        </p:spPr>
      </p:sp>
      <p:pic>
        <p:nvPicPr>
          <p:cNvPr id="22" name="Image 4" descr="preencoded.png">    </p:cNvPr>
          <p:cNvPicPr>
            <a:picLocks noChangeAspect="1"/>
          </p:cNvPicPr>
          <p:nvPr/>
        </p:nvPicPr>
        <p:blipFill>
          <a:blip r:embed="rId5"/>
          <a:stretch>
            <a:fillRect/>
          </a:stretch>
        </p:blipFill>
        <p:spPr>
          <a:xfrm>
            <a:off x="6201827" y="1739555"/>
            <a:ext cx="361371" cy="361371"/>
          </a:xfrm>
          <a:prstGeom prst="rect">
            <a:avLst/>
          </a:prstGeom>
        </p:spPr>
      </p:pic>
      <p:sp>
        <p:nvSpPr>
          <p:cNvPr id="23" name="Text 15"/>
          <p:cNvSpPr txBox="1"/>
          <p:nvPr/>
        </p:nvSpPr>
        <p:spPr>
          <a:xfrm>
            <a:off x="59893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Intent Lock™</a:t>
            </a:r>
            <a:endParaRPr lang="en-US" sz="1300" dirty="0"/>
          </a:p>
        </p:txBody>
      </p:sp>
      <p:sp>
        <p:nvSpPr>
          <p:cNvPr id="24" name="Text 16"/>
          <p:cNvSpPr txBox="1"/>
          <p:nvPr/>
        </p:nvSpPr>
        <p:spPr>
          <a:xfrm>
            <a:off x="59893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Guarantees suggested fixes preserve marketing hook.</a:t>
            </a:r>
            <a:endParaRPr lang="en-US" sz="1000" dirty="0"/>
          </a:p>
        </p:txBody>
      </p:sp>
      <p:sp>
        <p:nvSpPr>
          <p:cNvPr id="25" name="Shape 17"/>
          <p:cNvSpPr/>
          <p:nvPr/>
        </p:nvSpPr>
        <p:spPr>
          <a:xfrm>
            <a:off x="7406640" y="1572768"/>
            <a:ext cx="694944" cy="694944"/>
          </a:xfrm>
          <a:prstGeom prst="ellipse">
            <a:avLst/>
          </a:prstGeom>
          <a:solidFill>
            <a:srgbClr val="FFFFFF"/>
          </a:solidFill>
          <a:ln w="22225">
            <a:solidFill>
              <a:srgbClr val="111111"/>
            </a:solidFill>
            <a:prstDash val="solid"/>
          </a:ln>
        </p:spPr>
      </p:sp>
      <p:pic>
        <p:nvPicPr>
          <p:cNvPr id="26" name="Image 5" descr="preencoded.png">    </p:cNvPr>
          <p:cNvPicPr>
            <a:picLocks noChangeAspect="1"/>
          </p:cNvPicPr>
          <p:nvPr/>
        </p:nvPicPr>
        <p:blipFill>
          <a:blip r:embed="rId6"/>
          <a:stretch>
            <a:fillRect/>
          </a:stretch>
        </p:blipFill>
        <p:spPr>
          <a:xfrm>
            <a:off x="7573427" y="1739555"/>
            <a:ext cx="361371" cy="361371"/>
          </a:xfrm>
          <a:prstGeom prst="rect">
            <a:avLst/>
          </a:prstGeom>
        </p:spPr>
      </p:pic>
      <p:sp>
        <p:nvSpPr>
          <p:cNvPr id="27" name="Text 18"/>
          <p:cNvSpPr txBox="1"/>
          <p:nvPr/>
        </p:nvSpPr>
        <p:spPr>
          <a:xfrm>
            <a:off x="7360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Publish Passport</a:t>
            </a:r>
            <a:endParaRPr lang="en-US" sz="1300" dirty="0"/>
          </a:p>
        </p:txBody>
      </p:sp>
      <p:sp>
        <p:nvSpPr>
          <p:cNvPr id="28" name="Text 19"/>
          <p:cNvSpPr txBox="1"/>
          <p:nvPr/>
        </p:nvSpPr>
        <p:spPr>
          <a:xfrm>
            <a:off x="7360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Reviewer signs off; computes SHA-256 tamper seal.</a:t>
            </a:r>
            <a:endParaRPr lang="en-US" sz="1000" dirty="0"/>
          </a:p>
        </p:txBody>
      </p:sp>
      <p:sp>
        <p:nvSpPr>
          <p:cNvPr id="29" name="Text 20"/>
          <p:cNvSpPr txBox="1"/>
          <p:nvPr/>
        </p:nvSpPr>
        <p:spPr>
          <a:xfrm>
            <a:off x="548640" y="3703320"/>
            <a:ext cx="8046720" cy="411480"/>
          </a:xfrm>
          <a:prstGeom prst="rect">
            <a:avLst/>
          </a:prstGeom>
          <a:noFill/>
          <a:ln/>
        </p:spPr>
        <p:txBody>
          <a:bodyPr wrap="square" lIns="0" tIns="0" rIns="0" bIns="0" rtlCol="0" anchor="t"/>
          <a:lstStyle/>
          <a:p>
            <a:pPr algn="l" indent="0" marL="0">
              <a:buNone/>
            </a:pPr>
            <a:r>
              <a:rPr sz="1900" i="1">
                <a:solidFill>
                  <a:srgbClr val="FFD93D"/>
                </a:solidFill>
                <a:latin typeface="Georgia"/>
              </a:rPr>
              <a:t>Steps 2 to 5 take &lt;800ms. Step 6 computes an immutable SHA-256 seal. Humans always decide.</a:t>
            </a:r>
            <a:endParaRPr lang="en-US" sz="1900" dirty="0"/>
          </a:p>
        </p:txBody>
      </p:sp>
      <p:sp>
        <p:nvSpPr>
          <p:cNvPr id="30" name="Text 21"/>
          <p:cNvSpPr txBox="1"/>
          <p:nvPr/>
        </p:nvSpPr>
        <p:spPr>
          <a:xfrm>
            <a:off x="548640" y="4206240"/>
            <a:ext cx="8046720" cy="274320"/>
          </a:xfrm>
          <a:prstGeom prst="rect">
            <a:avLst/>
          </a:prstGeom>
          <a:noFill/>
          <a:ln/>
        </p:spPr>
        <p:txBody>
          <a:bodyPr wrap="square" lIns="0" tIns="0" rIns="0" bIns="0" rtlCol="0" anchor="t"/>
          <a:lstStyle/>
          <a:p>
            <a:pPr algn="l" indent="0" marL="0">
              <a:buNone/>
            </a:pPr>
            <a:r>
              <a:rPr sz="1150">
                <a:solidFill>
                  <a:srgbClr val="FFFFFF"/>
                </a:solidFill>
                <a:latin typeface="Arial"/>
              </a:rPr>
              <a:t>Value: 100% pre-publication safety, cryptographic audit proof, and zero AI sterilization.</a:t>
            </a:r>
            <a:endParaRPr lang="en-US" sz="11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Core features: Round 3 production platform</a:t>
            </a:r>
            <a:endParaRPr lang="en-US" sz="2800" dirty="0"/>
          </a:p>
        </p:txBody>
      </p:sp>
      <p:sp>
        <p:nvSpPr>
          <p:cNvPr id="4" name="Shape 1"/>
          <p:cNvSpPr/>
          <p:nvPr/>
        </p:nvSpPr>
        <p:spPr>
          <a:xfrm>
            <a:off x="612648" y="1344168"/>
            <a:ext cx="2560320" cy="1417320"/>
          </a:xfrm>
          <a:prstGeom prst="rect">
            <a:avLst/>
          </a:prstGeom>
          <a:solidFill>
            <a:srgbClr val="111111"/>
          </a:solidFill>
          <a:ln w="6350">
            <a:solidFill>
              <a:srgbClr val="111111"/>
            </a:solidFill>
            <a:prstDash val="solid"/>
          </a:ln>
        </p:spPr>
      </p:sp>
      <p:sp>
        <p:nvSpPr>
          <p:cNvPr id="5" name="Shape 2"/>
          <p:cNvSpPr/>
          <p:nvPr/>
        </p:nvSpPr>
        <p:spPr>
          <a:xfrm>
            <a:off x="548640" y="1280160"/>
            <a:ext cx="2560320" cy="1417320"/>
          </a:xfrm>
          <a:prstGeom prst="rect">
            <a:avLst/>
          </a:prstGeom>
          <a:solidFill>
            <a:srgbClr val="FFD93D"/>
          </a:solidFill>
          <a:ln w="22225">
            <a:solidFill>
              <a:srgbClr val="111111"/>
            </a:solidFill>
            <a:prstDash val="solid"/>
          </a:ln>
        </p:spPr>
      </p:sp>
      <p:sp>
        <p:nvSpPr>
          <p:cNvPr id="6" name="Shape 3"/>
          <p:cNvSpPr/>
          <p:nvPr/>
        </p:nvSpPr>
        <p:spPr>
          <a:xfrm>
            <a:off x="685800" y="1417320"/>
            <a:ext cx="475488" cy="475488"/>
          </a:xfrm>
          <a:prstGeom prst="ellipse">
            <a:avLst/>
          </a:prstGeom>
          <a:solidFill>
            <a:srgbClr val="FFFFFF"/>
          </a:solidFill>
          <a:ln w="22225">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799917" y="1531437"/>
            <a:ext cx="247254" cy="247254"/>
          </a:xfrm>
          <a:prstGeom prst="rect">
            <a:avLst/>
          </a:prstGeom>
        </p:spPr>
      </p:pic>
      <p:sp>
        <p:nvSpPr>
          <p:cNvPr id="8" name="Text 4"/>
          <p:cNvSpPr txBox="1"/>
          <p:nvPr/>
        </p:nvSpPr>
        <p:spPr>
          <a:xfrm>
            <a:off x="12801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Brand Constitution</a:t>
            </a:r>
            <a:endParaRPr lang="en-US" sz="1350" dirty="0"/>
          </a:p>
        </p:txBody>
      </p:sp>
      <p:sp>
        <p:nvSpPr>
          <p:cNvPr id="9" name="Text 5"/>
          <p:cNvSpPr txBox="1"/>
          <p:nvPr/>
        </p:nvSpPr>
        <p:spPr>
          <a:xfrm>
            <a:off x="6858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Live rules with ON/OFF toggles, Brand Book citations, and session scoping.</a:t>
            </a:r>
            <a:endParaRPr lang="en-US" sz="1050" dirty="0"/>
          </a:p>
        </p:txBody>
      </p:sp>
      <p:sp>
        <p:nvSpPr>
          <p:cNvPr id="10" name="Shape 6"/>
          <p:cNvSpPr/>
          <p:nvPr/>
        </p:nvSpPr>
        <p:spPr>
          <a:xfrm>
            <a:off x="3355848" y="1344168"/>
            <a:ext cx="2560320" cy="1417320"/>
          </a:xfrm>
          <a:prstGeom prst="rect">
            <a:avLst/>
          </a:prstGeom>
          <a:solidFill>
            <a:srgbClr val="111111"/>
          </a:solidFill>
          <a:ln w="6350">
            <a:solidFill>
              <a:srgbClr val="111111"/>
            </a:solidFill>
            <a:prstDash val="solid"/>
          </a:ln>
        </p:spPr>
      </p:sp>
      <p:sp>
        <p:nvSpPr>
          <p:cNvPr id="11" name="Shape 7"/>
          <p:cNvSpPr/>
          <p:nvPr/>
        </p:nvSpPr>
        <p:spPr>
          <a:xfrm>
            <a:off x="3291840" y="1280160"/>
            <a:ext cx="2560320" cy="1417320"/>
          </a:xfrm>
          <a:prstGeom prst="rect">
            <a:avLst/>
          </a:prstGeom>
          <a:solidFill>
            <a:srgbClr val="6EE7B7"/>
          </a:solidFill>
          <a:ln w="22225">
            <a:solidFill>
              <a:srgbClr val="111111"/>
            </a:solidFill>
            <a:prstDash val="solid"/>
          </a:ln>
        </p:spPr>
      </p:sp>
      <p:sp>
        <p:nvSpPr>
          <p:cNvPr id="12" name="Shape 8"/>
          <p:cNvSpPr/>
          <p:nvPr/>
        </p:nvSpPr>
        <p:spPr>
          <a:xfrm>
            <a:off x="3429000" y="1417320"/>
            <a:ext cx="475488" cy="475488"/>
          </a:xfrm>
          <a:prstGeom prst="ellipse">
            <a:avLst/>
          </a:prstGeom>
          <a:solidFill>
            <a:srgbClr val="FFFFFF"/>
          </a:solidFill>
          <a:ln w="22225">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3543117" y="1531437"/>
            <a:ext cx="247254" cy="247254"/>
          </a:xfrm>
          <a:prstGeom prst="rect">
            <a:avLst/>
          </a:prstGeom>
        </p:spPr>
      </p:pic>
      <p:sp>
        <p:nvSpPr>
          <p:cNvPr id="14" name="Text 9"/>
          <p:cNvSpPr txBox="1"/>
          <p:nvPr/>
        </p:nvSpPr>
        <p:spPr>
          <a:xfrm>
            <a:off x="40233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Vector Claim Ledger™</a:t>
            </a:r>
            <a:endParaRPr lang="en-US" sz="1350" dirty="0"/>
          </a:p>
        </p:txBody>
      </p:sp>
      <p:sp>
        <p:nvSpPr>
          <p:cNvPr id="15" name="Text 10"/>
          <p:cNvSpPr txBox="1"/>
          <p:nvPr/>
        </p:nvSpPr>
        <p:spPr>
          <a:xfrm>
            <a:off x="34290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BAAI/bge-small-en-v1.5 dense cosine similarity with digit conflict guard.</a:t>
            </a:r>
            <a:endParaRPr lang="en-US" sz="1050" dirty="0"/>
          </a:p>
        </p:txBody>
      </p:sp>
      <p:sp>
        <p:nvSpPr>
          <p:cNvPr id="16" name="Shape 11"/>
          <p:cNvSpPr/>
          <p:nvPr/>
        </p:nvSpPr>
        <p:spPr>
          <a:xfrm>
            <a:off x="6099048" y="1344168"/>
            <a:ext cx="2560320" cy="1417320"/>
          </a:xfrm>
          <a:prstGeom prst="rect">
            <a:avLst/>
          </a:prstGeom>
          <a:solidFill>
            <a:srgbClr val="111111"/>
          </a:solidFill>
          <a:ln w="6350">
            <a:solidFill>
              <a:srgbClr val="111111"/>
            </a:solidFill>
            <a:prstDash val="solid"/>
          </a:ln>
        </p:spPr>
      </p:sp>
      <p:sp>
        <p:nvSpPr>
          <p:cNvPr id="17" name="Shape 12"/>
          <p:cNvSpPr/>
          <p:nvPr/>
        </p:nvSpPr>
        <p:spPr>
          <a:xfrm>
            <a:off x="6035040" y="1280160"/>
            <a:ext cx="2560320" cy="1417320"/>
          </a:xfrm>
          <a:prstGeom prst="rect">
            <a:avLst/>
          </a:prstGeom>
          <a:solidFill>
            <a:srgbClr val="FF9EDB"/>
          </a:solidFill>
          <a:ln w="22225">
            <a:solidFill>
              <a:srgbClr val="111111"/>
            </a:solidFill>
            <a:prstDash val="solid"/>
          </a:ln>
        </p:spPr>
      </p:sp>
      <p:sp>
        <p:nvSpPr>
          <p:cNvPr id="18" name="Shape 13"/>
          <p:cNvSpPr/>
          <p:nvPr/>
        </p:nvSpPr>
        <p:spPr>
          <a:xfrm>
            <a:off x="6172200" y="1417320"/>
            <a:ext cx="475488" cy="475488"/>
          </a:xfrm>
          <a:prstGeom prst="ellipse">
            <a:avLst/>
          </a:prstGeom>
          <a:solidFill>
            <a:srgbClr val="FFFFFF"/>
          </a:solidFill>
          <a:ln w="22225">
            <a:solidFill>
              <a:srgbClr val="111111"/>
            </a:solidFill>
            <a:prstDash val="solid"/>
          </a:ln>
        </p:spPr>
      </p:sp>
      <p:pic>
        <p:nvPicPr>
          <p:cNvPr id="19" name="Image 2" descr="preencoded.png">    </p:cNvPr>
          <p:cNvPicPr>
            <a:picLocks noChangeAspect="1"/>
          </p:cNvPicPr>
          <p:nvPr/>
        </p:nvPicPr>
        <p:blipFill>
          <a:blip r:embed="rId3"/>
          <a:stretch>
            <a:fillRect/>
          </a:stretch>
        </p:blipFill>
        <p:spPr>
          <a:xfrm>
            <a:off x="6286317" y="1531437"/>
            <a:ext cx="247254" cy="247254"/>
          </a:xfrm>
          <a:prstGeom prst="rect">
            <a:avLst/>
          </a:prstGeom>
        </p:spPr>
      </p:pic>
      <p:sp>
        <p:nvSpPr>
          <p:cNvPr id="20" name="Text 14"/>
          <p:cNvSpPr txBox="1"/>
          <p:nvPr/>
        </p:nvSpPr>
        <p:spPr>
          <a:xfrm>
            <a:off x="67665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Asset Vision Engine</a:t>
            </a:r>
            <a:endParaRPr lang="en-US" sz="1350" dirty="0"/>
          </a:p>
        </p:txBody>
      </p:sp>
      <p:sp>
        <p:nvSpPr>
          <p:cNvPr id="21" name="Text 15"/>
          <p:cNvSpPr txBox="1"/>
          <p:nvPr/>
        </p:nvSpPr>
        <p:spPr>
          <a:xfrm>
            <a:off x="61722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16-bin brand palette tokenization, WCAG 2.1 AA contrast, and safe zones.</a:t>
            </a:r>
            <a:endParaRPr lang="en-US" sz="1050" dirty="0"/>
          </a:p>
        </p:txBody>
      </p:sp>
      <p:sp>
        <p:nvSpPr>
          <p:cNvPr id="22" name="Shape 16"/>
          <p:cNvSpPr/>
          <p:nvPr/>
        </p:nvSpPr>
        <p:spPr>
          <a:xfrm>
            <a:off x="612648" y="2944368"/>
            <a:ext cx="2560320" cy="1417320"/>
          </a:xfrm>
          <a:prstGeom prst="rect">
            <a:avLst/>
          </a:prstGeom>
          <a:solidFill>
            <a:srgbClr val="111111"/>
          </a:solidFill>
          <a:ln w="6350">
            <a:solidFill>
              <a:srgbClr val="111111"/>
            </a:solidFill>
            <a:prstDash val="solid"/>
          </a:ln>
        </p:spPr>
      </p:sp>
      <p:sp>
        <p:nvSpPr>
          <p:cNvPr id="23" name="Shape 17"/>
          <p:cNvSpPr/>
          <p:nvPr/>
        </p:nvSpPr>
        <p:spPr>
          <a:xfrm>
            <a:off x="548640" y="2880360"/>
            <a:ext cx="2560320" cy="1417320"/>
          </a:xfrm>
          <a:prstGeom prst="rect">
            <a:avLst/>
          </a:prstGeom>
          <a:solidFill>
            <a:srgbClr val="9DB0FF"/>
          </a:solidFill>
          <a:ln w="22225">
            <a:solidFill>
              <a:srgbClr val="111111"/>
            </a:solidFill>
            <a:prstDash val="solid"/>
          </a:ln>
        </p:spPr>
      </p:sp>
      <p:sp>
        <p:nvSpPr>
          <p:cNvPr id="24" name="Shape 18"/>
          <p:cNvSpPr/>
          <p:nvPr/>
        </p:nvSpPr>
        <p:spPr>
          <a:xfrm>
            <a:off x="685800" y="3017520"/>
            <a:ext cx="475488" cy="475488"/>
          </a:xfrm>
          <a:prstGeom prst="ellipse">
            <a:avLst/>
          </a:prstGeom>
          <a:solidFill>
            <a:srgbClr val="FFFFFF"/>
          </a:solidFill>
          <a:ln w="22225">
            <a:solidFill>
              <a:srgbClr val="111111"/>
            </a:solidFill>
            <a:prstDash val="solid"/>
          </a:ln>
        </p:spPr>
      </p:sp>
      <p:pic>
        <p:nvPicPr>
          <p:cNvPr id="25" name="Image 3" descr="preencoded.png">    </p:cNvPr>
          <p:cNvPicPr>
            <a:picLocks noChangeAspect="1"/>
          </p:cNvPicPr>
          <p:nvPr/>
        </p:nvPicPr>
        <p:blipFill>
          <a:blip r:embed="rId4"/>
          <a:stretch>
            <a:fillRect/>
          </a:stretch>
        </p:blipFill>
        <p:spPr>
          <a:xfrm>
            <a:off x="799917" y="3131637"/>
            <a:ext cx="247254" cy="247254"/>
          </a:xfrm>
          <a:prstGeom prst="rect">
            <a:avLst/>
          </a:prstGeom>
        </p:spPr>
      </p:pic>
      <p:sp>
        <p:nvSpPr>
          <p:cNvPr id="26" name="Text 19"/>
          <p:cNvSpPr txBox="1"/>
          <p:nvPr/>
        </p:nvSpPr>
        <p:spPr>
          <a:xfrm>
            <a:off x="12801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Client Extensions</a:t>
            </a:r>
            <a:endParaRPr lang="en-US" sz="1350" dirty="0"/>
          </a:p>
        </p:txBody>
      </p:sp>
      <p:sp>
        <p:nvSpPr>
          <p:cNvPr id="27" name="Text 20"/>
          <p:cNvSpPr txBox="1"/>
          <p:nvPr/>
        </p:nvSpPr>
        <p:spPr>
          <a:xfrm>
            <a:off x="6858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Chromium Manifest V3 extension, native Figma plugin &amp; web sandbox.</a:t>
            </a:r>
            <a:endParaRPr lang="en-US" sz="1050" dirty="0"/>
          </a:p>
        </p:txBody>
      </p:sp>
      <p:sp>
        <p:nvSpPr>
          <p:cNvPr id="28" name="Shape 21"/>
          <p:cNvSpPr/>
          <p:nvPr/>
        </p:nvSpPr>
        <p:spPr>
          <a:xfrm>
            <a:off x="3355848" y="2944368"/>
            <a:ext cx="2560320" cy="1417320"/>
          </a:xfrm>
          <a:prstGeom prst="rect">
            <a:avLst/>
          </a:prstGeom>
          <a:solidFill>
            <a:srgbClr val="111111"/>
          </a:solidFill>
          <a:ln w="6350">
            <a:solidFill>
              <a:srgbClr val="111111"/>
            </a:solidFill>
            <a:prstDash val="solid"/>
          </a:ln>
        </p:spPr>
      </p:sp>
      <p:sp>
        <p:nvSpPr>
          <p:cNvPr id="29" name="Shape 22"/>
          <p:cNvSpPr/>
          <p:nvPr/>
        </p:nvSpPr>
        <p:spPr>
          <a:xfrm>
            <a:off x="3291840" y="2880360"/>
            <a:ext cx="2560320" cy="1417320"/>
          </a:xfrm>
          <a:prstGeom prst="rect">
            <a:avLst/>
          </a:prstGeom>
          <a:solidFill>
            <a:srgbClr val="FFD93D"/>
          </a:solidFill>
          <a:ln w="22225">
            <a:solidFill>
              <a:srgbClr val="111111"/>
            </a:solidFill>
            <a:prstDash val="solid"/>
          </a:ln>
        </p:spPr>
      </p:sp>
      <p:sp>
        <p:nvSpPr>
          <p:cNvPr id="30" name="Shape 23"/>
          <p:cNvSpPr/>
          <p:nvPr/>
        </p:nvSpPr>
        <p:spPr>
          <a:xfrm>
            <a:off x="3429000" y="3017520"/>
            <a:ext cx="475488" cy="475488"/>
          </a:xfrm>
          <a:prstGeom prst="ellipse">
            <a:avLst/>
          </a:prstGeom>
          <a:solidFill>
            <a:srgbClr val="FFFFFF"/>
          </a:solidFill>
          <a:ln w="22225">
            <a:solidFill>
              <a:srgbClr val="111111"/>
            </a:solidFill>
            <a:prstDash val="solid"/>
          </a:ln>
        </p:spPr>
      </p:sp>
      <p:pic>
        <p:nvPicPr>
          <p:cNvPr id="31" name="Image 4" descr="preencoded.png">    </p:cNvPr>
          <p:cNvPicPr>
            <a:picLocks noChangeAspect="1"/>
          </p:cNvPicPr>
          <p:nvPr/>
        </p:nvPicPr>
        <p:blipFill>
          <a:blip r:embed="rId5"/>
          <a:stretch>
            <a:fillRect/>
          </a:stretch>
        </p:blipFill>
        <p:spPr>
          <a:xfrm>
            <a:off x="3543117" y="3131637"/>
            <a:ext cx="247254" cy="247254"/>
          </a:xfrm>
          <a:prstGeom prst="rect">
            <a:avLst/>
          </a:prstGeom>
        </p:spPr>
      </p:pic>
      <p:sp>
        <p:nvSpPr>
          <p:cNvPr id="32" name="Text 24"/>
          <p:cNvSpPr txBox="1"/>
          <p:nvPr/>
        </p:nvSpPr>
        <p:spPr>
          <a:xfrm>
            <a:off x="40233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Reviewer Queue</a:t>
            </a:r>
            <a:endParaRPr lang="en-US" sz="1350" dirty="0"/>
          </a:p>
        </p:txBody>
      </p:sp>
      <p:sp>
        <p:nvSpPr>
          <p:cNvPr id="33" name="Text 25"/>
          <p:cNvSpPr txBox="1"/>
          <p:nvPr/>
        </p:nvSpPr>
        <p:spPr>
          <a:xfrm>
            <a:off x="34290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Side-by-side diffs, Intent Lock badges, and editorial feedback notes.</a:t>
            </a:r>
            <a:endParaRPr lang="en-US" sz="1050" dirty="0"/>
          </a:p>
        </p:txBody>
      </p:sp>
      <p:sp>
        <p:nvSpPr>
          <p:cNvPr id="34" name="Shape 26"/>
          <p:cNvSpPr/>
          <p:nvPr/>
        </p:nvSpPr>
        <p:spPr>
          <a:xfrm>
            <a:off x="6099048" y="2944368"/>
            <a:ext cx="2560320" cy="1417320"/>
          </a:xfrm>
          <a:prstGeom prst="rect">
            <a:avLst/>
          </a:prstGeom>
          <a:solidFill>
            <a:srgbClr val="111111"/>
          </a:solidFill>
          <a:ln w="6350">
            <a:solidFill>
              <a:srgbClr val="111111"/>
            </a:solidFill>
            <a:prstDash val="solid"/>
          </a:ln>
        </p:spPr>
      </p:sp>
      <p:sp>
        <p:nvSpPr>
          <p:cNvPr id="35" name="Shape 27"/>
          <p:cNvSpPr/>
          <p:nvPr/>
        </p:nvSpPr>
        <p:spPr>
          <a:xfrm>
            <a:off x="6035040" y="2880360"/>
            <a:ext cx="2560320" cy="1417320"/>
          </a:xfrm>
          <a:prstGeom prst="rect">
            <a:avLst/>
          </a:prstGeom>
          <a:solidFill>
            <a:srgbClr val="6EE7B7"/>
          </a:solidFill>
          <a:ln w="22225">
            <a:solidFill>
              <a:srgbClr val="111111"/>
            </a:solidFill>
            <a:prstDash val="solid"/>
          </a:ln>
        </p:spPr>
      </p:sp>
      <p:sp>
        <p:nvSpPr>
          <p:cNvPr id="36" name="Shape 28"/>
          <p:cNvSpPr/>
          <p:nvPr/>
        </p:nvSpPr>
        <p:spPr>
          <a:xfrm>
            <a:off x="6172200" y="3017520"/>
            <a:ext cx="475488" cy="475488"/>
          </a:xfrm>
          <a:prstGeom prst="ellipse">
            <a:avLst/>
          </a:prstGeom>
          <a:solidFill>
            <a:srgbClr val="FFFFFF"/>
          </a:solidFill>
          <a:ln w="22225">
            <a:solidFill>
              <a:srgbClr val="111111"/>
            </a:solidFill>
            <a:prstDash val="solid"/>
          </a:ln>
        </p:spPr>
      </p:sp>
      <p:pic>
        <p:nvPicPr>
          <p:cNvPr id="37" name="Image 5" descr="preencoded.png">    </p:cNvPr>
          <p:cNvPicPr>
            <a:picLocks noChangeAspect="1"/>
          </p:cNvPicPr>
          <p:nvPr/>
        </p:nvPicPr>
        <p:blipFill>
          <a:blip r:embed="rId6"/>
          <a:stretch>
            <a:fillRect/>
          </a:stretch>
        </p:blipFill>
        <p:spPr>
          <a:xfrm>
            <a:off x="6286317" y="3131637"/>
            <a:ext cx="247254" cy="247254"/>
          </a:xfrm>
          <a:prstGeom prst="rect">
            <a:avLst/>
          </a:prstGeom>
        </p:spPr>
      </p:pic>
      <p:sp>
        <p:nvSpPr>
          <p:cNvPr id="38" name="Text 29"/>
          <p:cNvSpPr txBox="1"/>
          <p:nvPr/>
        </p:nvSpPr>
        <p:spPr>
          <a:xfrm>
            <a:off x="67665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Publish Passport</a:t>
            </a:r>
            <a:endParaRPr lang="en-US" sz="1350" dirty="0"/>
          </a:p>
        </p:txBody>
      </p:sp>
      <p:sp>
        <p:nvSpPr>
          <p:cNvPr id="39" name="Text 30"/>
          <p:cNvSpPr txBox="1"/>
          <p:nvPr/>
        </p:nvSpPr>
        <p:spPr>
          <a:xfrm>
            <a:off x="6172200" y="3630168"/>
            <a:ext cx="1417320" cy="640080"/>
          </a:xfrm>
          <a:prstGeom prst="rect">
            <a:avLst/>
          </a:prstGeom>
          <a:noFill/>
          <a:ln/>
        </p:spPr>
        <p:txBody>
          <a:bodyPr wrap="square" lIns="0" tIns="0" rIns="0" bIns="0" rtlCol="0" anchor="t"/>
          <a:lstStyle/>
          <a:p>
            <a:pPr algn="l" indent="0" marL="0">
              <a:buNone/>
            </a:pPr>
            <a:r>
              <a:rPr sz="1000">
                <a:solidFill>
                  <a:srgbClr val="111111"/>
                </a:solidFill>
                <a:latin typeface="Arial"/>
              </a:rPr>
              <a:t>Cryptographic SHA-256 seal with interactive real-time Tamper Simulator.</a:t>
            </a:r>
            <a:endParaRPr lang="en-US" sz="1000" dirty="0"/>
          </a:p>
        </p:txBody>
      </p:sp>
      <p:sp>
        <p:nvSpPr>
          <p:cNvPr id="40" name="Shape 31"/>
          <p:cNvSpPr/>
          <p:nvPr/>
        </p:nvSpPr>
        <p:spPr>
          <a:xfrm>
            <a:off x="7726680" y="3611880"/>
            <a:ext cx="128016" cy="566928"/>
          </a:xfrm>
          <a:prstGeom prst="rect">
            <a:avLst/>
          </a:prstGeom>
          <a:solidFill>
            <a:srgbClr val="FFD93D"/>
          </a:solidFill>
          <a:ln w="15875">
            <a:solidFill>
              <a:srgbClr val="111111"/>
            </a:solidFill>
            <a:prstDash val="solid"/>
          </a:ln>
        </p:spPr>
      </p:sp>
      <p:sp>
        <p:nvSpPr>
          <p:cNvPr id="41" name="Shape 32"/>
          <p:cNvSpPr/>
          <p:nvPr/>
        </p:nvSpPr>
        <p:spPr>
          <a:xfrm>
            <a:off x="7909560" y="3767328"/>
            <a:ext cx="128016" cy="411480"/>
          </a:xfrm>
          <a:prstGeom prst="rect">
            <a:avLst/>
          </a:prstGeom>
          <a:solidFill>
            <a:srgbClr val="FF9EDB"/>
          </a:solidFill>
          <a:ln w="15875">
            <a:solidFill>
              <a:srgbClr val="111111"/>
            </a:solidFill>
            <a:prstDash val="solid"/>
          </a:ln>
        </p:spPr>
      </p:sp>
      <p:sp>
        <p:nvSpPr>
          <p:cNvPr id="42" name="Shape 33"/>
          <p:cNvSpPr/>
          <p:nvPr/>
        </p:nvSpPr>
        <p:spPr>
          <a:xfrm>
            <a:off x="8092440" y="3867912"/>
            <a:ext cx="128016" cy="310896"/>
          </a:xfrm>
          <a:prstGeom prst="rect">
            <a:avLst/>
          </a:prstGeom>
          <a:solidFill>
            <a:srgbClr val="9DB0FF"/>
          </a:solidFill>
          <a:ln w="15875">
            <a:solidFill>
              <a:srgbClr val="111111"/>
            </a:solidFill>
            <a:prstDash val="solid"/>
          </a:ln>
        </p:spPr>
      </p:sp>
      <p:sp>
        <p:nvSpPr>
          <p:cNvPr id="43" name="Shape 34"/>
          <p:cNvSpPr/>
          <p:nvPr/>
        </p:nvSpPr>
        <p:spPr>
          <a:xfrm>
            <a:off x="8275320" y="3977640"/>
            <a:ext cx="128016" cy="201168"/>
          </a:xfrm>
          <a:prstGeom prst="rect">
            <a:avLst/>
          </a:prstGeom>
          <a:solidFill>
            <a:srgbClr val="FFFFFF"/>
          </a:solidFill>
          <a:ln w="15875">
            <a:solidFill>
              <a:srgbClr val="111111"/>
            </a:solidFill>
            <a:prstDash val="solid"/>
          </a:ln>
        </p:spPr>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Three ideas that set Verity apart</a:t>
            </a:r>
            <a:endParaRPr lang="en-US" sz="2800" dirty="0"/>
          </a:p>
        </p:txBody>
      </p:sp>
      <p:sp>
        <p:nvSpPr>
          <p:cNvPr id="4" name="Shape 1"/>
          <p:cNvSpPr/>
          <p:nvPr/>
        </p:nvSpPr>
        <p:spPr>
          <a:xfrm>
            <a:off x="612648" y="1344168"/>
            <a:ext cx="2560320" cy="2926080"/>
          </a:xfrm>
          <a:prstGeom prst="rect">
            <a:avLst/>
          </a:prstGeom>
          <a:solidFill>
            <a:srgbClr val="111111"/>
          </a:solidFill>
          <a:ln w="6350">
            <a:solidFill>
              <a:srgbClr val="111111"/>
            </a:solidFill>
            <a:prstDash val="solid"/>
          </a:ln>
        </p:spPr>
      </p:sp>
      <p:sp>
        <p:nvSpPr>
          <p:cNvPr id="5" name="Shape 2"/>
          <p:cNvSpPr/>
          <p:nvPr/>
        </p:nvSpPr>
        <p:spPr>
          <a:xfrm>
            <a:off x="548640" y="1280160"/>
            <a:ext cx="2560320" cy="2926080"/>
          </a:xfrm>
          <a:prstGeom prst="rect">
            <a:avLst/>
          </a:prstGeom>
          <a:solidFill>
            <a:srgbClr val="FFFFFF"/>
          </a:solidFill>
          <a:ln w="22225">
            <a:solidFill>
              <a:srgbClr val="111111"/>
            </a:solidFill>
            <a:prstDash val="solid"/>
          </a:ln>
        </p:spPr>
      </p:sp>
      <p:sp>
        <p:nvSpPr>
          <p:cNvPr id="6" name="Shape 3"/>
          <p:cNvSpPr/>
          <p:nvPr/>
        </p:nvSpPr>
        <p:spPr>
          <a:xfrm>
            <a:off x="548640" y="1280160"/>
            <a:ext cx="2560320" cy="685800"/>
          </a:xfrm>
          <a:prstGeom prst="rect">
            <a:avLst/>
          </a:prstGeom>
          <a:solidFill>
            <a:srgbClr val="FFD93D"/>
          </a:solidFill>
          <a:ln w="22225">
            <a:solidFill>
              <a:srgbClr val="111111"/>
            </a:solidFill>
            <a:prstDash val="solid"/>
          </a:ln>
        </p:spPr>
      </p:sp>
      <p:sp>
        <p:nvSpPr>
          <p:cNvPr id="7" name="Shape 4"/>
          <p:cNvSpPr/>
          <p:nvPr/>
        </p:nvSpPr>
        <p:spPr>
          <a:xfrm>
            <a:off x="685800" y="1371600"/>
            <a:ext cx="502920" cy="502920"/>
          </a:xfrm>
          <a:prstGeom prst="ellipse">
            <a:avLst/>
          </a:prstGeom>
          <a:solidFill>
            <a:srgbClr val="FFFFFF"/>
          </a:solidFill>
          <a:ln w="22225">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6501" y="1492301"/>
            <a:ext cx="261518" cy="261518"/>
          </a:xfrm>
          <a:prstGeom prst="rect">
            <a:avLst/>
          </a:prstGeom>
        </p:spPr>
      </p:pic>
      <p:sp>
        <p:nvSpPr>
          <p:cNvPr id="9" name="Text 5"/>
          <p:cNvSpPr txBox="1"/>
          <p:nvPr/>
        </p:nvSpPr>
        <p:spPr>
          <a:xfrm>
            <a:off x="13258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Intent Lock</a:t>
            </a:r>
            <a:endParaRPr lang="en-US" sz="1500" dirty="0"/>
          </a:p>
        </p:txBody>
      </p:sp>
      <p:sp>
        <p:nvSpPr>
          <p:cNvPr id="10" name="Text 6"/>
          <p:cNvSpPr txBox="1"/>
          <p:nvPr/>
        </p:nvSpPr>
        <p:spPr>
          <a:xfrm>
            <a:off x="6858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Rewrites keep what the creator meant.</a:t>
            </a:r>
            <a:endParaRPr lang="en-US" sz="1000" dirty="0"/>
          </a:p>
        </p:txBody>
      </p:sp>
      <p:sp>
        <p:nvSpPr>
          <p:cNvPr id="11" name="Text 7"/>
          <p:cNvSpPr txBox="1"/>
          <p:nvPr/>
        </p:nvSpPr>
        <p:spPr>
          <a:xfrm>
            <a:off x="6858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12" name="Text 8"/>
          <p:cNvSpPr txBox="1"/>
          <p:nvPr/>
        </p:nvSpPr>
        <p:spPr>
          <a:xfrm>
            <a:off x="6858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A plain AI fix turns “Register now!” into “Our app is great.” The call to action is gone.</a:t>
            </a:r>
            <a:endParaRPr lang="en-US" sz="1000" dirty="0"/>
          </a:p>
        </p:txBody>
      </p:sp>
      <p:sp>
        <p:nvSpPr>
          <p:cNvPr id="13" name="Text 9"/>
          <p:cNvSpPr txBox="1"/>
          <p:nvPr/>
        </p:nvSpPr>
        <p:spPr>
          <a:xfrm>
            <a:off x="6858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14" name="Text 10"/>
          <p:cNvSpPr txBox="1"/>
          <p:nvPr/>
        </p:nvSpPr>
        <p:spPr>
          <a:xfrm>
            <a:off x="6858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notes the goal first, then rewrites: “Booking is quick and easy. Register now!”</a:t>
            </a:r>
            <a:endParaRPr lang="en-US" sz="1000" dirty="0"/>
          </a:p>
        </p:txBody>
      </p:sp>
      <p:sp>
        <p:nvSpPr>
          <p:cNvPr id="15" name="Shape 11"/>
          <p:cNvSpPr/>
          <p:nvPr/>
        </p:nvSpPr>
        <p:spPr>
          <a:xfrm>
            <a:off x="3355848" y="1344168"/>
            <a:ext cx="2560320" cy="2926080"/>
          </a:xfrm>
          <a:prstGeom prst="rect">
            <a:avLst/>
          </a:prstGeom>
          <a:solidFill>
            <a:srgbClr val="111111"/>
          </a:solidFill>
          <a:ln w="6350">
            <a:solidFill>
              <a:srgbClr val="111111"/>
            </a:solidFill>
            <a:prstDash val="solid"/>
          </a:ln>
        </p:spPr>
      </p:sp>
      <p:sp>
        <p:nvSpPr>
          <p:cNvPr id="16" name="Shape 12"/>
          <p:cNvSpPr/>
          <p:nvPr/>
        </p:nvSpPr>
        <p:spPr>
          <a:xfrm>
            <a:off x="3291840" y="1280160"/>
            <a:ext cx="2560320" cy="2926080"/>
          </a:xfrm>
          <a:prstGeom prst="rect">
            <a:avLst/>
          </a:prstGeom>
          <a:solidFill>
            <a:srgbClr val="FFFFFF"/>
          </a:solidFill>
          <a:ln w="22225">
            <a:solidFill>
              <a:srgbClr val="111111"/>
            </a:solidFill>
            <a:prstDash val="solid"/>
          </a:ln>
        </p:spPr>
      </p:sp>
      <p:sp>
        <p:nvSpPr>
          <p:cNvPr id="17" name="Shape 13"/>
          <p:cNvSpPr/>
          <p:nvPr/>
        </p:nvSpPr>
        <p:spPr>
          <a:xfrm>
            <a:off x="3291840" y="1280160"/>
            <a:ext cx="2560320" cy="685800"/>
          </a:xfrm>
          <a:prstGeom prst="rect">
            <a:avLst/>
          </a:prstGeom>
          <a:solidFill>
            <a:srgbClr val="6EE7B7"/>
          </a:solidFill>
          <a:ln w="22225">
            <a:solidFill>
              <a:srgbClr val="111111"/>
            </a:solidFill>
            <a:prstDash val="solid"/>
          </a:ln>
        </p:spPr>
      </p:sp>
      <p:sp>
        <p:nvSpPr>
          <p:cNvPr id="18" name="Shape 14"/>
          <p:cNvSpPr/>
          <p:nvPr/>
        </p:nvSpPr>
        <p:spPr>
          <a:xfrm>
            <a:off x="3429000" y="1371600"/>
            <a:ext cx="502920" cy="502920"/>
          </a:xfrm>
          <a:prstGeom prst="ellipse">
            <a:avLst/>
          </a:prstGeom>
          <a:solidFill>
            <a:srgbClr val="FFFFFF"/>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3549701" y="1492301"/>
            <a:ext cx="261518" cy="261518"/>
          </a:xfrm>
          <a:prstGeom prst="rect">
            <a:avLst/>
          </a:prstGeom>
        </p:spPr>
      </p:pic>
      <p:sp>
        <p:nvSpPr>
          <p:cNvPr id="20" name="Text 15"/>
          <p:cNvSpPr txBox="1"/>
          <p:nvPr/>
        </p:nvSpPr>
        <p:spPr>
          <a:xfrm>
            <a:off x="40690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Claim Ledger</a:t>
            </a:r>
            <a:endParaRPr lang="en-US" sz="1500" dirty="0"/>
          </a:p>
        </p:txBody>
      </p:sp>
      <p:sp>
        <p:nvSpPr>
          <p:cNvPr id="21" name="Text 16"/>
          <p:cNvSpPr txBox="1"/>
          <p:nvPr/>
        </p:nvSpPr>
        <p:spPr>
          <a:xfrm>
            <a:off x="34290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Every fact has a source and an expiry date.</a:t>
            </a:r>
            <a:endParaRPr lang="en-US" sz="1000" dirty="0"/>
          </a:p>
        </p:txBody>
      </p:sp>
      <p:sp>
        <p:nvSpPr>
          <p:cNvPr id="22" name="Text 17"/>
          <p:cNvSpPr txBox="1"/>
          <p:nvPr/>
        </p:nvSpPr>
        <p:spPr>
          <a:xfrm>
            <a:off x="34290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23" name="Text 18"/>
          <p:cNvSpPr txBox="1"/>
          <p:nvPr/>
        </p:nvSpPr>
        <p:spPr>
          <a:xfrm>
            <a:off x="34290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“Rated #1 in 2024” is reused in 2026 and nobody checks it.</a:t>
            </a:r>
            <a:endParaRPr lang="en-US" sz="1000" dirty="0"/>
          </a:p>
        </p:txBody>
      </p:sp>
      <p:sp>
        <p:nvSpPr>
          <p:cNvPr id="24" name="Text 19"/>
          <p:cNvSpPr txBox="1"/>
          <p:nvPr/>
        </p:nvSpPr>
        <p:spPr>
          <a:xfrm>
            <a:off x="34290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25" name="Text 20"/>
          <p:cNvSpPr txBox="1"/>
          <p:nvPr/>
        </p:nvSpPr>
        <p:spPr>
          <a:xfrm>
            <a:off x="34290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The ledger shows the approval ended on 31 Dec 2025 and flags the claim.</a:t>
            </a:r>
            <a:endParaRPr lang="en-US" sz="1000" dirty="0"/>
          </a:p>
        </p:txBody>
      </p:sp>
      <p:sp>
        <p:nvSpPr>
          <p:cNvPr id="26" name="Shape 21"/>
          <p:cNvSpPr/>
          <p:nvPr/>
        </p:nvSpPr>
        <p:spPr>
          <a:xfrm>
            <a:off x="6099048" y="1344168"/>
            <a:ext cx="2560320" cy="2926080"/>
          </a:xfrm>
          <a:prstGeom prst="rect">
            <a:avLst/>
          </a:prstGeom>
          <a:solidFill>
            <a:srgbClr val="111111"/>
          </a:solidFill>
          <a:ln w="6350">
            <a:solidFill>
              <a:srgbClr val="111111"/>
            </a:solidFill>
            <a:prstDash val="solid"/>
          </a:ln>
        </p:spPr>
      </p:sp>
      <p:sp>
        <p:nvSpPr>
          <p:cNvPr id="27" name="Shape 22"/>
          <p:cNvSpPr/>
          <p:nvPr/>
        </p:nvSpPr>
        <p:spPr>
          <a:xfrm>
            <a:off x="6035040" y="1280160"/>
            <a:ext cx="2560320" cy="2926080"/>
          </a:xfrm>
          <a:prstGeom prst="rect">
            <a:avLst/>
          </a:prstGeom>
          <a:solidFill>
            <a:srgbClr val="FFFFFF"/>
          </a:solidFill>
          <a:ln w="22225">
            <a:solidFill>
              <a:srgbClr val="111111"/>
            </a:solidFill>
            <a:prstDash val="solid"/>
          </a:ln>
        </p:spPr>
      </p:sp>
      <p:sp>
        <p:nvSpPr>
          <p:cNvPr id="28" name="Shape 23"/>
          <p:cNvSpPr/>
          <p:nvPr/>
        </p:nvSpPr>
        <p:spPr>
          <a:xfrm>
            <a:off x="6035040" y="1280160"/>
            <a:ext cx="2560320" cy="685800"/>
          </a:xfrm>
          <a:prstGeom prst="rect">
            <a:avLst/>
          </a:prstGeom>
          <a:solidFill>
            <a:srgbClr val="FF9EDB"/>
          </a:solidFill>
          <a:ln w="22225">
            <a:solidFill>
              <a:srgbClr val="111111"/>
            </a:solidFill>
            <a:prstDash val="solid"/>
          </a:ln>
        </p:spPr>
      </p:sp>
      <p:sp>
        <p:nvSpPr>
          <p:cNvPr id="29" name="Shape 24"/>
          <p:cNvSpPr/>
          <p:nvPr/>
        </p:nvSpPr>
        <p:spPr>
          <a:xfrm>
            <a:off x="6172200" y="1371600"/>
            <a:ext cx="502920" cy="502920"/>
          </a:xfrm>
          <a:prstGeom prst="ellipse">
            <a:avLst/>
          </a:prstGeom>
          <a:solidFill>
            <a:srgbClr val="FFFFFF"/>
          </a:solidFill>
          <a:ln w="22225">
            <a:solidFill>
              <a:srgbClr val="111111"/>
            </a:solidFill>
            <a:prstDash val="solid"/>
          </a:ln>
        </p:spPr>
      </p:sp>
      <p:pic>
        <p:nvPicPr>
          <p:cNvPr id="30" name="Image 2" descr="preencoded.png">    </p:cNvPr>
          <p:cNvPicPr>
            <a:picLocks noChangeAspect="1"/>
          </p:cNvPicPr>
          <p:nvPr/>
        </p:nvPicPr>
        <p:blipFill>
          <a:blip r:embed="rId3"/>
          <a:stretch>
            <a:fillRect/>
          </a:stretch>
        </p:blipFill>
        <p:spPr>
          <a:xfrm>
            <a:off x="6292901" y="1492301"/>
            <a:ext cx="261518" cy="261518"/>
          </a:xfrm>
          <a:prstGeom prst="rect">
            <a:avLst/>
          </a:prstGeom>
        </p:spPr>
      </p:pic>
      <p:sp>
        <p:nvSpPr>
          <p:cNvPr id="31" name="Text 25"/>
          <p:cNvSpPr txBox="1"/>
          <p:nvPr/>
        </p:nvSpPr>
        <p:spPr>
          <a:xfrm>
            <a:off x="68122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Health Radar</a:t>
            </a:r>
            <a:endParaRPr lang="en-US" sz="1500" dirty="0"/>
          </a:p>
        </p:txBody>
      </p:sp>
      <p:sp>
        <p:nvSpPr>
          <p:cNvPr id="32" name="Text 26"/>
          <p:cNvSpPr txBox="1"/>
          <p:nvPr/>
        </p:nvSpPr>
        <p:spPr>
          <a:xfrm>
            <a:off x="61722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Unclear rules get rewritten.</a:t>
            </a:r>
            <a:endParaRPr lang="en-US" sz="1000" dirty="0"/>
          </a:p>
        </p:txBody>
      </p:sp>
      <p:sp>
        <p:nvSpPr>
          <p:cNvPr id="33" name="Text 27"/>
          <p:cNvSpPr txBox="1"/>
          <p:nvPr/>
        </p:nvSpPr>
        <p:spPr>
          <a:xfrm>
            <a:off x="61722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34" name="Text 28"/>
          <p:cNvSpPr txBox="1"/>
          <p:nvPr/>
        </p:nvSpPr>
        <p:spPr>
          <a:xfrm>
            <a:off x="61722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Reviewers override the “friendly tone” rule in 9 of 12 reviews.</a:t>
            </a:r>
            <a:endParaRPr lang="en-US" sz="1000" dirty="0"/>
          </a:p>
        </p:txBody>
      </p:sp>
      <p:sp>
        <p:nvSpPr>
          <p:cNvPr id="35" name="Text 29"/>
          <p:cNvSpPr txBox="1"/>
          <p:nvPr/>
        </p:nvSpPr>
        <p:spPr>
          <a:xfrm>
            <a:off x="61722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36" name="Text 30"/>
          <p:cNvSpPr txBox="1"/>
          <p:nvPr/>
        </p:nvSpPr>
        <p:spPr>
          <a:xfrm>
            <a:off x="61722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drafts a clearer version for the brand owner to approve.</a:t>
            </a:r>
            <a:endParaRPr lang="en-US" sz="1000" dirty="0"/>
          </a:p>
        </p:txBody>
      </p:sp>
      <p:sp>
        <p:nvSpPr>
          <p:cNvPr id="37" name="Text 31"/>
          <p:cNvSpPr txBox="1"/>
          <p:nvPr/>
        </p:nvSpPr>
        <p:spPr>
          <a:xfrm>
            <a:off x="548640" y="4343400"/>
            <a:ext cx="8046720" cy="320040"/>
          </a:xfrm>
          <a:prstGeom prst="rect">
            <a:avLst/>
          </a:prstGeom>
          <a:noFill/>
          <a:ln/>
        </p:spPr>
        <p:txBody>
          <a:bodyPr wrap="square" lIns="0" tIns="0" rIns="0" bIns="0" rtlCol="0" anchor="t"/>
          <a:lstStyle/>
          <a:p>
            <a:pPr algn="l" indent="0" marL="0">
              <a:buNone/>
            </a:pPr>
            <a:r>
              <a:rPr sz="1100" i="1">
                <a:solidFill>
                  <a:srgbClr val="111111"/>
                </a:solidFill>
                <a:latin typeface="Arial"/>
              </a:rPr>
              <a:t>Plus: In-situ self-guided tutorial with spotlight box &amp; dual-link deployment (cosmicboom.xyz &amp; Vercel mirror).</a:t>
            </a:r>
            <a:endParaRPr lang="en-US" sz="11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What a reviewer &amp; creator see</a:t>
            </a:r>
            <a:endParaRPr lang="en-US" sz="2800" dirty="0"/>
          </a:p>
        </p:txBody>
      </p:sp>
      <p:sp>
        <p:nvSpPr>
          <p:cNvPr id="4" name="Shape 1"/>
          <p:cNvSpPr/>
          <p:nvPr/>
        </p:nvSpPr>
        <p:spPr>
          <a:xfrm>
            <a:off x="0" y="1188720"/>
            <a:ext cx="9144000" cy="2743200"/>
          </a:xfrm>
          <a:prstGeom prst="rect">
            <a:avLst/>
          </a:prstGeom>
          <a:solidFill>
            <a:srgbClr val="FFD93D"/>
          </a:solidFill>
          <a:ln w="12700">
            <a:solidFill>
              <a:srgbClr val="111111"/>
            </a:solidFill>
            <a:prstDash val="solid"/>
          </a:ln>
        </p:spPr>
      </p:sp>
      <p:sp>
        <p:nvSpPr>
          <p:cNvPr id="5" name="Shape 2"/>
          <p:cNvSpPr/>
          <p:nvPr/>
        </p:nvSpPr>
        <p:spPr>
          <a:xfrm>
            <a:off x="0" y="1188720"/>
            <a:ext cx="9144000" cy="0"/>
          </a:xfrm>
          <a:prstGeom prst="line">
            <a:avLst/>
          </a:prstGeom>
          <a:noFill/>
          <a:ln w="25400">
            <a:solidFill>
              <a:srgbClr val="111111"/>
            </a:solidFill>
            <a:prstDash val="solid"/>
          </a:ln>
        </p:spPr>
      </p:sp>
      <p:sp>
        <p:nvSpPr>
          <p:cNvPr id="6" name="Shape 3"/>
          <p:cNvSpPr/>
          <p:nvPr/>
        </p:nvSpPr>
        <p:spPr>
          <a:xfrm>
            <a:off x="0" y="3931920"/>
            <a:ext cx="9144000" cy="0"/>
          </a:xfrm>
          <a:prstGeom prst="line">
            <a:avLst/>
          </a:prstGeom>
          <a:noFill/>
          <a:ln w="25400">
            <a:solidFill>
              <a:srgbClr val="111111"/>
            </a:solidFill>
            <a:prstDash val="solid"/>
          </a:ln>
        </p:spPr>
      </p:sp>
      <p:sp>
        <p:nvSpPr>
          <p:cNvPr id="7" name="Shape 4"/>
          <p:cNvSpPr/>
          <p:nvPr/>
        </p:nvSpPr>
        <p:spPr>
          <a:xfrm>
            <a:off x="612648" y="1435608"/>
            <a:ext cx="4206240" cy="2377440"/>
          </a:xfrm>
          <a:prstGeom prst="rect">
            <a:avLst/>
          </a:prstGeom>
          <a:solidFill>
            <a:srgbClr val="111111"/>
          </a:solidFill>
          <a:ln w="6350">
            <a:solidFill>
              <a:srgbClr val="111111"/>
            </a:solidFill>
            <a:prstDash val="solid"/>
          </a:ln>
        </p:spPr>
      </p:sp>
      <p:sp>
        <p:nvSpPr>
          <p:cNvPr id="8" name="Shape 5"/>
          <p:cNvSpPr/>
          <p:nvPr/>
        </p:nvSpPr>
        <p:spPr>
          <a:xfrm>
            <a:off x="548640" y="1371600"/>
            <a:ext cx="4206240" cy="2377440"/>
          </a:xfrm>
          <a:prstGeom prst="rect">
            <a:avLst/>
          </a:prstGeom>
          <a:solidFill>
            <a:srgbClr val="FFFFFF"/>
          </a:solidFill>
          <a:ln w="25400">
            <a:solidFill>
              <a:srgbClr val="111111"/>
            </a:solidFill>
            <a:prstDash val="solid"/>
          </a:ln>
        </p:spPr>
      </p:sp>
      <p:sp>
        <p:nvSpPr>
          <p:cNvPr id="9" name="Shape 6"/>
          <p:cNvSpPr/>
          <p:nvPr/>
        </p:nvSpPr>
        <p:spPr>
          <a:xfrm>
            <a:off x="548640" y="1371600"/>
            <a:ext cx="4206240" cy="274320"/>
          </a:xfrm>
          <a:prstGeom prst="rect">
            <a:avLst/>
          </a:prstGeom>
          <a:solidFill>
            <a:srgbClr val="D9D4C5"/>
          </a:solidFill>
          <a:ln w="22225">
            <a:solidFill>
              <a:srgbClr val="111111"/>
            </a:solidFill>
            <a:prstDash val="solid"/>
          </a:ln>
        </p:spPr>
      </p:sp>
      <p:sp>
        <p:nvSpPr>
          <p:cNvPr id="10" name="Shape 7"/>
          <p:cNvSpPr/>
          <p:nvPr/>
        </p:nvSpPr>
        <p:spPr>
          <a:xfrm>
            <a:off x="658368" y="1453896"/>
            <a:ext cx="109728" cy="109728"/>
          </a:xfrm>
          <a:prstGeom prst="ellipse">
            <a:avLst/>
          </a:prstGeom>
          <a:solidFill>
            <a:srgbClr val="E5484D"/>
          </a:solidFill>
          <a:ln w="12700">
            <a:solidFill>
              <a:srgbClr val="111111"/>
            </a:solidFill>
            <a:prstDash val="solid"/>
          </a:ln>
        </p:spPr>
      </p:sp>
      <p:sp>
        <p:nvSpPr>
          <p:cNvPr id="11" name="Shape 8"/>
          <p:cNvSpPr/>
          <p:nvPr/>
        </p:nvSpPr>
        <p:spPr>
          <a:xfrm>
            <a:off x="841248" y="1453896"/>
            <a:ext cx="109728" cy="109728"/>
          </a:xfrm>
          <a:prstGeom prst="ellipse">
            <a:avLst/>
          </a:prstGeom>
          <a:solidFill>
            <a:srgbClr val="FFD93D"/>
          </a:solidFill>
          <a:ln w="12700">
            <a:solidFill>
              <a:srgbClr val="111111"/>
            </a:solidFill>
            <a:prstDash val="solid"/>
          </a:ln>
        </p:spPr>
      </p:sp>
      <p:sp>
        <p:nvSpPr>
          <p:cNvPr id="12" name="Shape 9"/>
          <p:cNvSpPr/>
          <p:nvPr/>
        </p:nvSpPr>
        <p:spPr>
          <a:xfrm>
            <a:off x="1024128" y="1453896"/>
            <a:ext cx="109728" cy="109728"/>
          </a:xfrm>
          <a:prstGeom prst="ellipse">
            <a:avLst/>
          </a:prstGeom>
          <a:solidFill>
            <a:srgbClr val="6EE7B7"/>
          </a:solidFill>
          <a:ln w="12700">
            <a:solidFill>
              <a:srgbClr val="111111"/>
            </a:solidFill>
            <a:prstDash val="solid"/>
          </a:ln>
        </p:spPr>
      </p:sp>
      <p:sp>
        <p:nvSpPr>
          <p:cNvPr id="13" name="Text 10"/>
          <p:cNvSpPr txBox="1"/>
          <p:nvPr/>
        </p:nvSpPr>
        <p:spPr>
          <a:xfrm>
            <a:off x="749808" y="1828800"/>
            <a:ext cx="32004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Instagram caption</a:t>
            </a:r>
            <a:endParaRPr lang="en-US" sz="850" dirty="0"/>
          </a:p>
        </p:txBody>
      </p:sp>
      <p:sp>
        <p:nvSpPr>
          <p:cNvPr id="14" name="Text 11"/>
          <p:cNvSpPr txBox="1"/>
          <p:nvPr/>
        </p:nvSpPr>
        <p:spPr>
          <a:xfrm>
            <a:off x="749808" y="2194560"/>
            <a:ext cx="3840480" cy="137160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new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makes booking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5" name="Shape 12"/>
          <p:cNvSpPr/>
          <p:nvPr/>
        </p:nvSpPr>
        <p:spPr>
          <a:xfrm>
            <a:off x="5093208" y="1435608"/>
            <a:ext cx="3566160" cy="2377440"/>
          </a:xfrm>
          <a:prstGeom prst="rect">
            <a:avLst/>
          </a:prstGeom>
          <a:solidFill>
            <a:srgbClr val="111111"/>
          </a:solidFill>
          <a:ln w="6350">
            <a:solidFill>
              <a:srgbClr val="111111"/>
            </a:solidFill>
            <a:prstDash val="solid"/>
          </a:ln>
        </p:spPr>
      </p:sp>
      <p:sp>
        <p:nvSpPr>
          <p:cNvPr id="16" name="Shape 13"/>
          <p:cNvSpPr/>
          <p:nvPr/>
        </p:nvSpPr>
        <p:spPr>
          <a:xfrm>
            <a:off x="5029200" y="1371600"/>
            <a:ext cx="3566160" cy="2377440"/>
          </a:xfrm>
          <a:prstGeom prst="rect">
            <a:avLst/>
          </a:prstGeom>
          <a:solidFill>
            <a:srgbClr val="111111"/>
          </a:solidFill>
          <a:ln w="25400">
            <a:solidFill>
              <a:srgbClr val="111111"/>
            </a:solidFill>
            <a:prstDash val="solid"/>
          </a:ln>
        </p:spPr>
      </p:sp>
      <p:sp>
        <p:nvSpPr>
          <p:cNvPr id="17" name="Shape 14"/>
          <p:cNvSpPr/>
          <p:nvPr/>
        </p:nvSpPr>
        <p:spPr>
          <a:xfrm>
            <a:off x="5239512" y="1554480"/>
            <a:ext cx="1737360" cy="237744"/>
          </a:xfrm>
          <a:prstGeom prst="rect">
            <a:avLst/>
          </a:prstGeom>
          <a:solidFill>
            <a:srgbClr val="111111"/>
          </a:solidFill>
          <a:ln w="6350">
            <a:solidFill>
              <a:srgbClr val="111111"/>
            </a:solidFill>
            <a:prstDash val="solid"/>
          </a:ln>
        </p:spPr>
      </p:sp>
      <p:sp>
        <p:nvSpPr>
          <p:cNvPr id="18" name="Shape 15"/>
          <p:cNvSpPr/>
          <p:nvPr/>
        </p:nvSpPr>
        <p:spPr>
          <a:xfrm>
            <a:off x="5212080" y="1527048"/>
            <a:ext cx="1737360" cy="237744"/>
          </a:xfrm>
          <a:prstGeom prst="rect">
            <a:avLst/>
          </a:prstGeom>
          <a:solidFill>
            <a:srgbClr val="E5484D"/>
          </a:solidFill>
          <a:ln w="15875">
            <a:solidFill>
              <a:srgbClr val="111111"/>
            </a:solidFill>
            <a:prstDash val="solid"/>
          </a:ln>
        </p:spPr>
      </p:sp>
      <p:sp>
        <p:nvSpPr>
          <p:cNvPr id="19" name="Text 16"/>
          <p:cNvSpPr txBox="1"/>
          <p:nvPr/>
        </p:nvSpPr>
        <p:spPr>
          <a:xfrm>
            <a:off x="5212080" y="1527048"/>
            <a:ext cx="17373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UNSUPPORTED CLAIM</a:t>
            </a:r>
            <a:endParaRPr lang="en-US" sz="850" dirty="0"/>
          </a:p>
        </p:txBody>
      </p:sp>
      <p:sp>
        <p:nvSpPr>
          <p:cNvPr id="20" name="Text 17"/>
          <p:cNvSpPr txBox="1"/>
          <p:nvPr/>
        </p:nvSpPr>
        <p:spPr>
          <a:xfrm>
            <a:off x="5212080" y="1874520"/>
            <a:ext cx="3200400" cy="548640"/>
          </a:xfrm>
          <a:prstGeom prst="rect">
            <a:avLst/>
          </a:prstGeom>
          <a:noFill/>
          <a:ln/>
        </p:spPr>
        <p:txBody>
          <a:bodyPr wrap="square" lIns="0" tIns="0" rIns="0" bIns="0" rtlCol="0" anchor="t"/>
          <a:lstStyle/>
          <a:p>
            <a:pPr algn="l" indent="0" marL="0">
              <a:buNone/>
            </a:pPr>
            <a:r>
              <a:rPr lang="en-US" sz="1000" dirty="0">
                <a:solidFill>
                  <a:srgbClr val="FFFFFF"/>
                </a:solidFill>
                <a:latin typeface="Arial" pitchFamily="34" charset="0"/>
                <a:ea typeface="Arial" pitchFamily="34" charset="-122"/>
                <a:cs typeface="Arial" pitchFamily="34" charset="-120"/>
              </a:rPr>
              <a:t>Rule C-12. The Claim Ledger has no approved source for “#1 in India” or “50% faster”.</a:t>
            </a:r>
            <a:endParaRPr lang="en-US" sz="1000" dirty="0"/>
          </a:p>
        </p:txBody>
      </p:sp>
      <p:sp>
        <p:nvSpPr>
          <p:cNvPr id="21" name="Text 18"/>
          <p:cNvSpPr txBox="1"/>
          <p:nvPr/>
        </p:nvSpPr>
        <p:spPr>
          <a:xfrm>
            <a:off x="5212080" y="2514600"/>
            <a:ext cx="1828800" cy="182880"/>
          </a:xfrm>
          <a:prstGeom prst="rect">
            <a:avLst/>
          </a:prstGeom>
          <a:noFill/>
          <a:ln/>
        </p:spPr>
        <p:txBody>
          <a:bodyPr wrap="square" lIns="0" tIns="0" rIns="0" bIns="0" rtlCol="0" anchor="t"/>
          <a:lstStyle/>
          <a:p>
            <a:pPr algn="l" indent="0" marL="0">
              <a:buNone/>
            </a:pPr>
            <a:r>
              <a:rPr lang="en-US" sz="850" b="1" dirty="0">
                <a:solidFill>
                  <a:srgbClr val="6EE7B7"/>
                </a:solidFill>
                <a:latin typeface="Courier New" pitchFamily="34" charset="0"/>
                <a:ea typeface="Courier New" pitchFamily="34" charset="-122"/>
                <a:cs typeface="Courier New" pitchFamily="34" charset="-120"/>
              </a:rPr>
              <a:t>SUGGESTED FIX</a:t>
            </a:r>
            <a:endParaRPr lang="en-US" sz="850" dirty="0"/>
          </a:p>
        </p:txBody>
      </p:sp>
      <p:sp>
        <p:nvSpPr>
          <p:cNvPr id="22" name="Text 19"/>
          <p:cNvSpPr txBox="1"/>
          <p:nvPr/>
        </p:nvSpPr>
        <p:spPr>
          <a:xfrm>
            <a:off x="5212080" y="2724912"/>
            <a:ext cx="3200400" cy="411480"/>
          </a:xfrm>
          <a:prstGeom prst="rect">
            <a:avLst/>
          </a:prstGeom>
          <a:noFill/>
          <a:ln/>
        </p:spPr>
        <p:txBody>
          <a:bodyPr wrap="square" lIns="0" tIns="0" rIns="0" bIns="0" rtlCol="0" anchor="t"/>
          <a:lstStyle/>
          <a:p>
            <a:pPr algn="l" indent="0" marL="0">
              <a:buNone/>
            </a:pPr>
            <a:r>
              <a:rPr lang="en-US" sz="1150" b="1" dirty="0">
                <a:solidFill>
                  <a:srgbClr val="6EE7B7"/>
                </a:solidFill>
                <a:latin typeface="Arial" pitchFamily="34" charset="0"/>
                <a:ea typeface="Arial" pitchFamily="34" charset="-122"/>
                <a:cs typeface="Arial" pitchFamily="34" charset="-120"/>
              </a:rPr>
              <a:t>Our new app makes booking quick and easy. Register now!</a:t>
            </a:r>
            <a:endParaRPr lang="en-US" sz="1150" dirty="0"/>
          </a:p>
        </p:txBody>
      </p:sp>
      <p:sp>
        <p:nvSpPr>
          <p:cNvPr id="23" name="Text 20"/>
          <p:cNvSpPr txBox="1"/>
          <p:nvPr/>
        </p:nvSpPr>
        <p:spPr>
          <a:xfrm>
            <a:off x="5212080" y="3154680"/>
            <a:ext cx="3108960" cy="18288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Intent kept: get people to register.</a:t>
            </a:r>
            <a:endParaRPr lang="en-US" sz="900" dirty="0"/>
          </a:p>
        </p:txBody>
      </p:sp>
      <p:sp>
        <p:nvSpPr>
          <p:cNvPr id="24" name="Shape 21"/>
          <p:cNvSpPr/>
          <p:nvPr/>
        </p:nvSpPr>
        <p:spPr>
          <a:xfrm>
            <a:off x="5239512" y="3410712"/>
            <a:ext cx="941832" cy="274320"/>
          </a:xfrm>
          <a:prstGeom prst="rect">
            <a:avLst/>
          </a:prstGeom>
          <a:solidFill>
            <a:srgbClr val="111111"/>
          </a:solidFill>
          <a:ln w="6350">
            <a:solidFill>
              <a:srgbClr val="111111"/>
            </a:solidFill>
            <a:prstDash val="solid"/>
          </a:ln>
        </p:spPr>
      </p:sp>
      <p:sp>
        <p:nvSpPr>
          <p:cNvPr id="25" name="Shape 22"/>
          <p:cNvSpPr/>
          <p:nvPr/>
        </p:nvSpPr>
        <p:spPr>
          <a:xfrm>
            <a:off x="5212080" y="3383280"/>
            <a:ext cx="941832" cy="274320"/>
          </a:xfrm>
          <a:prstGeom prst="rect">
            <a:avLst/>
          </a:prstGeom>
          <a:solidFill>
            <a:srgbClr val="6EE7B7"/>
          </a:solidFill>
          <a:ln w="19050">
            <a:solidFill>
              <a:srgbClr val="111111"/>
            </a:solidFill>
            <a:prstDash val="solid"/>
          </a:ln>
        </p:spPr>
      </p:sp>
      <p:sp>
        <p:nvSpPr>
          <p:cNvPr id="26" name="Text 23"/>
          <p:cNvSpPr txBox="1"/>
          <p:nvPr/>
        </p:nvSpPr>
        <p:spPr>
          <a:xfrm>
            <a:off x="521208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Accept</a:t>
            </a:r>
            <a:endParaRPr lang="en-US" sz="1000" dirty="0"/>
          </a:p>
        </p:txBody>
      </p:sp>
      <p:sp>
        <p:nvSpPr>
          <p:cNvPr id="27" name="Shape 24"/>
          <p:cNvSpPr/>
          <p:nvPr/>
        </p:nvSpPr>
        <p:spPr>
          <a:xfrm>
            <a:off x="6291072" y="3410712"/>
            <a:ext cx="941832" cy="274320"/>
          </a:xfrm>
          <a:prstGeom prst="rect">
            <a:avLst/>
          </a:prstGeom>
          <a:solidFill>
            <a:srgbClr val="111111"/>
          </a:solidFill>
          <a:ln w="6350">
            <a:solidFill>
              <a:srgbClr val="111111"/>
            </a:solidFill>
            <a:prstDash val="solid"/>
          </a:ln>
        </p:spPr>
      </p:sp>
      <p:sp>
        <p:nvSpPr>
          <p:cNvPr id="28" name="Shape 25"/>
          <p:cNvSpPr/>
          <p:nvPr/>
        </p:nvSpPr>
        <p:spPr>
          <a:xfrm>
            <a:off x="6263640" y="3383280"/>
            <a:ext cx="941832" cy="274320"/>
          </a:xfrm>
          <a:prstGeom prst="rect">
            <a:avLst/>
          </a:prstGeom>
          <a:solidFill>
            <a:srgbClr val="FFD93D"/>
          </a:solidFill>
          <a:ln w="19050">
            <a:solidFill>
              <a:srgbClr val="111111"/>
            </a:solidFill>
            <a:prstDash val="solid"/>
          </a:ln>
        </p:spPr>
      </p:sp>
      <p:sp>
        <p:nvSpPr>
          <p:cNvPr id="29" name="Text 26"/>
          <p:cNvSpPr txBox="1"/>
          <p:nvPr/>
        </p:nvSpPr>
        <p:spPr>
          <a:xfrm>
            <a:off x="626364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Edit</a:t>
            </a:r>
            <a:endParaRPr lang="en-US" sz="1000" dirty="0"/>
          </a:p>
        </p:txBody>
      </p:sp>
      <p:sp>
        <p:nvSpPr>
          <p:cNvPr id="30" name="Shape 27"/>
          <p:cNvSpPr/>
          <p:nvPr/>
        </p:nvSpPr>
        <p:spPr>
          <a:xfrm>
            <a:off x="7342632" y="3410712"/>
            <a:ext cx="941832" cy="274320"/>
          </a:xfrm>
          <a:prstGeom prst="rect">
            <a:avLst/>
          </a:prstGeom>
          <a:solidFill>
            <a:srgbClr val="111111"/>
          </a:solidFill>
          <a:ln w="6350">
            <a:solidFill>
              <a:srgbClr val="111111"/>
            </a:solidFill>
            <a:prstDash val="solid"/>
          </a:ln>
        </p:spPr>
      </p:sp>
      <p:sp>
        <p:nvSpPr>
          <p:cNvPr id="31" name="Shape 28"/>
          <p:cNvSpPr/>
          <p:nvPr/>
        </p:nvSpPr>
        <p:spPr>
          <a:xfrm>
            <a:off x="7315200" y="3383280"/>
            <a:ext cx="941832" cy="274320"/>
          </a:xfrm>
          <a:prstGeom prst="rect">
            <a:avLst/>
          </a:prstGeom>
          <a:solidFill>
            <a:srgbClr val="E5484D"/>
          </a:solidFill>
          <a:ln w="19050">
            <a:solidFill>
              <a:srgbClr val="111111"/>
            </a:solidFill>
            <a:prstDash val="solid"/>
          </a:ln>
        </p:spPr>
      </p:sp>
      <p:sp>
        <p:nvSpPr>
          <p:cNvPr id="32" name="Text 29"/>
          <p:cNvSpPr txBox="1"/>
          <p:nvPr/>
        </p:nvSpPr>
        <p:spPr>
          <a:xfrm>
            <a:off x="731520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Reject</a:t>
            </a:r>
            <a:endParaRPr lang="en-US" sz="1000" dirty="0"/>
          </a:p>
        </p:txBody>
      </p:sp>
      <p:sp>
        <p:nvSpPr>
          <p:cNvPr id="33" name="Shape 30"/>
          <p:cNvSpPr/>
          <p:nvPr/>
        </p:nvSpPr>
        <p:spPr>
          <a:xfrm>
            <a:off x="548640" y="4114800"/>
            <a:ext cx="310896" cy="310896"/>
          </a:xfrm>
          <a:prstGeom prst="ellipse">
            <a:avLst/>
          </a:prstGeom>
          <a:solidFill>
            <a:srgbClr val="FFD93D"/>
          </a:solidFill>
          <a:ln w="19050">
            <a:solidFill>
              <a:srgbClr val="111111"/>
            </a:solidFill>
            <a:prstDash val="solid"/>
          </a:ln>
        </p:spPr>
      </p:sp>
      <p:sp>
        <p:nvSpPr>
          <p:cNvPr id="34" name="Text 31"/>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1</a:t>
            </a:r>
            <a:endParaRPr lang="en-US" sz="1200" dirty="0"/>
          </a:p>
        </p:txBody>
      </p:sp>
      <p:sp>
        <p:nvSpPr>
          <p:cNvPr id="35" name="Text 32"/>
          <p:cNvSpPr txBox="1"/>
          <p:nvPr/>
        </p:nvSpPr>
        <p:spPr>
          <a:xfrm>
            <a:off x="9601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The claim is flagged in context with Brand Book citation.</a:t>
            </a:r>
            <a:endParaRPr lang="en-US" sz="1000" dirty="0"/>
          </a:p>
        </p:txBody>
      </p:sp>
      <p:sp>
        <p:nvSpPr>
          <p:cNvPr id="36" name="Shape 33"/>
          <p:cNvSpPr/>
          <p:nvPr/>
        </p:nvSpPr>
        <p:spPr>
          <a:xfrm>
            <a:off x="3291840" y="4114800"/>
            <a:ext cx="310896" cy="310896"/>
          </a:xfrm>
          <a:prstGeom prst="ellipse">
            <a:avLst/>
          </a:prstGeom>
          <a:solidFill>
            <a:srgbClr val="FFD93D"/>
          </a:solidFill>
          <a:ln w="19050">
            <a:solidFill>
              <a:srgbClr val="111111"/>
            </a:solidFill>
            <a:prstDash val="solid"/>
          </a:ln>
        </p:spPr>
      </p:sp>
      <p:sp>
        <p:nvSpPr>
          <p:cNvPr id="37" name="Text 34"/>
          <p:cNvSpPr txBox="1"/>
          <p:nvPr/>
        </p:nvSpPr>
        <p:spPr>
          <a:xfrm>
            <a:off x="32918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2</a:t>
            </a:r>
            <a:endParaRPr lang="en-US" sz="1200" dirty="0"/>
          </a:p>
        </p:txBody>
      </p:sp>
      <p:sp>
        <p:nvSpPr>
          <p:cNvPr id="38" name="Text 35"/>
          <p:cNvSpPr txBox="1"/>
          <p:nvPr/>
        </p:nvSpPr>
        <p:spPr>
          <a:xfrm>
            <a:off x="37033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Rule cited with intent-preserving fix (Intent Lock™).</a:t>
            </a:r>
            <a:endParaRPr lang="en-US" sz="1000" dirty="0"/>
          </a:p>
        </p:txBody>
      </p:sp>
      <p:sp>
        <p:nvSpPr>
          <p:cNvPr id="39" name="Shape 36"/>
          <p:cNvSpPr/>
          <p:nvPr/>
        </p:nvSpPr>
        <p:spPr>
          <a:xfrm>
            <a:off x="6035040" y="4114800"/>
            <a:ext cx="310896" cy="310896"/>
          </a:xfrm>
          <a:prstGeom prst="ellipse">
            <a:avLst/>
          </a:prstGeom>
          <a:solidFill>
            <a:srgbClr val="FFD93D"/>
          </a:solidFill>
          <a:ln w="19050">
            <a:solidFill>
              <a:srgbClr val="111111"/>
            </a:solidFill>
            <a:prstDash val="solid"/>
          </a:ln>
        </p:spPr>
      </p:sp>
      <p:sp>
        <p:nvSpPr>
          <p:cNvPr id="40" name="Text 37"/>
          <p:cNvSpPr txBox="1"/>
          <p:nvPr/>
        </p:nvSpPr>
        <p:spPr>
          <a:xfrm>
            <a:off x="60350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3</a:t>
            </a:r>
            <a:endParaRPr lang="en-US" sz="1200" dirty="0"/>
          </a:p>
        </p:txBody>
      </p:sp>
      <p:sp>
        <p:nvSpPr>
          <p:cNvPr id="41" name="Text 38"/>
          <p:cNvSpPr txBox="1"/>
          <p:nvPr/>
        </p:nvSpPr>
        <p:spPr>
          <a:xfrm>
            <a:off x="64465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Reviewer signs off -&gt; SHA-256 Publish Passport sealed.</a:t>
            </a:r>
            <a:endParaRPr lang="en-US" sz="10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FFFFFF"/>
                </a:solidFill>
                <a:latin typeface="Georgia"/>
              </a:rPr>
              <a:t>System architecture &amp; 100% evaluation uptime</a:t>
            </a:r>
            <a:endParaRPr lang="en-US" sz="2800" dirty="0"/>
          </a:p>
        </p:txBody>
      </p:sp>
      <p:sp>
        <p:nvSpPr>
          <p:cNvPr id="4" name="Shape 1"/>
          <p:cNvSpPr/>
          <p:nvPr/>
        </p:nvSpPr>
        <p:spPr>
          <a:xfrm>
            <a:off x="594360" y="1325880"/>
            <a:ext cx="1417320" cy="777240"/>
          </a:xfrm>
          <a:prstGeom prst="rect">
            <a:avLst/>
          </a:prstGeom>
          <a:solidFill>
            <a:srgbClr val="111111"/>
          </a:solidFill>
          <a:ln w="6350">
            <a:solidFill>
              <a:srgbClr val="111111"/>
            </a:solidFill>
            <a:prstDash val="solid"/>
          </a:ln>
        </p:spPr>
      </p:sp>
      <p:sp>
        <p:nvSpPr>
          <p:cNvPr id="5" name="Shape 2"/>
          <p:cNvSpPr/>
          <p:nvPr/>
        </p:nvSpPr>
        <p:spPr>
          <a:xfrm>
            <a:off x="548640" y="1280160"/>
            <a:ext cx="1417320" cy="777240"/>
          </a:xfrm>
          <a:prstGeom prst="rect">
            <a:avLst/>
          </a:prstGeom>
          <a:solidFill>
            <a:srgbClr val="6EE7B7"/>
          </a:solidFill>
          <a:ln w="22225">
            <a:solidFill>
              <a:srgbClr val="111111"/>
            </a:solidFill>
            <a:prstDash val="solid"/>
          </a:ln>
        </p:spPr>
      </p:sp>
      <p:sp>
        <p:nvSpPr>
          <p:cNvPr id="6" name="Text 3"/>
          <p:cNvSpPr txBox="1"/>
          <p:nvPr/>
        </p:nvSpPr>
        <p:spPr>
          <a:xfrm>
            <a:off x="6583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Web Frontend</a:t>
            </a:r>
            <a:endParaRPr lang="en-US" sz="1150" dirty="0"/>
          </a:p>
        </p:txBody>
      </p:sp>
      <p:sp>
        <p:nvSpPr>
          <p:cNvPr id="7" name="Text 4"/>
          <p:cNvSpPr txBox="1"/>
          <p:nvPr/>
        </p:nvSpPr>
        <p:spPr>
          <a:xfrm>
            <a:off x="6583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Next.js 14 App Router (Prerendered, Neo-Brutalist, 360-412px Android Certified)</a:t>
            </a:r>
            <a:endParaRPr lang="en-US" sz="900" dirty="0"/>
          </a:p>
        </p:txBody>
      </p:sp>
      <p:sp>
        <p:nvSpPr>
          <p:cNvPr id="8" name="Shape 5"/>
          <p:cNvSpPr/>
          <p:nvPr/>
        </p:nvSpPr>
        <p:spPr>
          <a:xfrm>
            <a:off x="2423160" y="1325880"/>
            <a:ext cx="1417320" cy="777240"/>
          </a:xfrm>
          <a:prstGeom prst="rect">
            <a:avLst/>
          </a:prstGeom>
          <a:solidFill>
            <a:srgbClr val="111111"/>
          </a:solidFill>
          <a:ln w="6350">
            <a:solidFill>
              <a:srgbClr val="111111"/>
            </a:solidFill>
            <a:prstDash val="solid"/>
          </a:ln>
        </p:spPr>
      </p:sp>
      <p:sp>
        <p:nvSpPr>
          <p:cNvPr id="9" name="Shape 6"/>
          <p:cNvSpPr/>
          <p:nvPr/>
        </p:nvSpPr>
        <p:spPr>
          <a:xfrm>
            <a:off x="2377440" y="1280160"/>
            <a:ext cx="1417320" cy="777240"/>
          </a:xfrm>
          <a:prstGeom prst="rect">
            <a:avLst/>
          </a:prstGeom>
          <a:solidFill>
            <a:srgbClr val="FFD93D"/>
          </a:solidFill>
          <a:ln w="22225">
            <a:solidFill>
              <a:srgbClr val="111111"/>
            </a:solidFill>
            <a:prstDash val="solid"/>
          </a:ln>
        </p:spPr>
      </p:sp>
      <p:sp>
        <p:nvSpPr>
          <p:cNvPr id="10" name="Text 7"/>
          <p:cNvSpPr txBox="1"/>
          <p:nvPr/>
        </p:nvSpPr>
        <p:spPr>
          <a:xfrm>
            <a:off x="24871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Backend API</a:t>
            </a:r>
            <a:endParaRPr lang="en-US" sz="1150" dirty="0"/>
          </a:p>
        </p:txBody>
      </p:sp>
      <p:sp>
        <p:nvSpPr>
          <p:cNvPr id="11" name="Text 8"/>
          <p:cNvSpPr txBox="1"/>
          <p:nvPr/>
        </p:nvSpPr>
        <p:spPr>
          <a:xfrm>
            <a:off x="24871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FastAPI on Render Docker (24/7 cron keepalive, sub-second latency)</a:t>
            </a:r>
            <a:endParaRPr lang="en-US" sz="900" dirty="0"/>
          </a:p>
        </p:txBody>
      </p:sp>
      <p:sp>
        <p:nvSpPr>
          <p:cNvPr id="12" name="Shape 9"/>
          <p:cNvSpPr/>
          <p:nvPr/>
        </p:nvSpPr>
        <p:spPr>
          <a:xfrm>
            <a:off x="2011680" y="1554480"/>
            <a:ext cx="310896" cy="201168"/>
          </a:xfrm>
          <a:prstGeom prst="rightArrow">
            <a:avLst/>
          </a:prstGeom>
          <a:solidFill>
            <a:srgbClr val="FFFFFF"/>
          </a:solidFill>
          <a:ln w="12700">
            <a:solidFill>
              <a:srgbClr val="FFFFFF"/>
            </a:solidFill>
            <a:prstDash val="solid"/>
          </a:ln>
        </p:spPr>
      </p:sp>
      <p:sp>
        <p:nvSpPr>
          <p:cNvPr id="13" name="Shape 10"/>
          <p:cNvSpPr/>
          <p:nvPr/>
        </p:nvSpPr>
        <p:spPr>
          <a:xfrm>
            <a:off x="3840480" y="1554480"/>
            <a:ext cx="256032" cy="201168"/>
          </a:xfrm>
          <a:prstGeom prst="rightArrow">
            <a:avLst/>
          </a:prstGeom>
          <a:solidFill>
            <a:srgbClr val="FFFFFF"/>
          </a:solidFill>
          <a:ln w="12700">
            <a:solidFill>
              <a:srgbClr val="FFFFFF"/>
            </a:solidFill>
            <a:prstDash val="solid"/>
          </a:ln>
        </p:spPr>
      </p:sp>
      <p:sp>
        <p:nvSpPr>
          <p:cNvPr id="14" name="Shape 11"/>
          <p:cNvSpPr/>
          <p:nvPr/>
        </p:nvSpPr>
        <p:spPr>
          <a:xfrm>
            <a:off x="4206240" y="1325880"/>
            <a:ext cx="1691640" cy="2148840"/>
          </a:xfrm>
          <a:prstGeom prst="rect">
            <a:avLst/>
          </a:prstGeom>
          <a:solidFill>
            <a:srgbClr val="111111"/>
          </a:solidFill>
          <a:ln w="6350">
            <a:solidFill>
              <a:srgbClr val="111111"/>
            </a:solidFill>
            <a:prstDash val="solid"/>
          </a:ln>
        </p:spPr>
      </p:sp>
      <p:sp>
        <p:nvSpPr>
          <p:cNvPr id="15" name="Shape 12"/>
          <p:cNvSpPr/>
          <p:nvPr/>
        </p:nvSpPr>
        <p:spPr>
          <a:xfrm>
            <a:off x="4160520" y="1280160"/>
            <a:ext cx="1691640" cy="2148840"/>
          </a:xfrm>
          <a:prstGeom prst="rect">
            <a:avLst/>
          </a:prstGeom>
          <a:solidFill>
            <a:srgbClr val="FFFFFF"/>
          </a:solidFill>
          <a:ln w="28575">
            <a:solidFill>
              <a:srgbClr val="111111"/>
            </a:solidFill>
            <a:prstDash val="solid"/>
          </a:ln>
        </p:spPr>
      </p:sp>
      <p:sp>
        <p:nvSpPr>
          <p:cNvPr id="16" name="Text 13"/>
          <p:cNvSpPr txBox="1"/>
          <p:nvPr/>
        </p:nvSpPr>
        <p:spPr>
          <a:xfrm>
            <a:off x="4270248" y="1371600"/>
            <a:ext cx="1463040" cy="228600"/>
          </a:xfrm>
          <a:prstGeom prst="rect">
            <a:avLst/>
          </a:prstGeom>
          <a:noFill/>
          <a:ln/>
        </p:spPr>
        <p:txBody>
          <a:bodyPr wrap="square" lIns="0" tIns="0" rIns="0" bIns="0" rtlCol="0" anchor="t"/>
          <a:lstStyle/>
          <a:p>
            <a:pPr algn="l" indent="0" marL="0">
              <a:buNone/>
            </a:pPr>
            <a:r>
              <a:rPr sz="1200" b="1">
                <a:solidFill>
                  <a:srgbClr val="111111"/>
                </a:solidFill>
                <a:latin typeface="Georgia"/>
              </a:rPr>
              <a:t>Pipeline Engine</a:t>
            </a:r>
            <a:endParaRPr lang="en-US" sz="1200" dirty="0"/>
          </a:p>
        </p:txBody>
      </p:sp>
      <p:sp>
        <p:nvSpPr>
          <p:cNvPr id="17" name="Text 14"/>
          <p:cNvSpPr txBox="1"/>
          <p:nvPr/>
        </p:nvSpPr>
        <p:spPr>
          <a:xfrm>
            <a:off x="4270248" y="1691640"/>
            <a:ext cx="1508760" cy="1691640"/>
          </a:xfrm>
          <a:prstGeom prst="rect">
            <a:avLst/>
          </a:prstGeom>
          <a:noFill/>
          <a:ln/>
        </p:spPr>
        <p:txBody>
          <a:bodyPr wrap="square" lIns="0" tIns="0" rIns="0" bIns="0" rtlCol="0" anchor="t"/>
          <a:lstStyle/>
          <a:p>
            <a:pPr algn="l" indent="0" marL="0">
              <a:spcAft>
                <a:spcPts val="100"/>
              </a:spcAft>
              <a:buNone/>
            </a:pPr>
            <a:r>
              <a:rPr sz="850" b="1">
                <a:solidFill>
                  <a:srgbClr val="111111"/>
                </a:solidFill>
                <a:latin typeface="Arial"/>
              </a:rPr>
              <a:t>Deterministic: Regex casing &amp; secret codename guard</a:t>
            </a:r>
            <a:endParaRPr lang="en-US" sz="850" dirty="0"/>
          </a:p>
          <a:p>
            <a:pPr algn="l" indent="0" marL="0">
              <a:spcAft>
                <a:spcPts val="100"/>
              </a:spcAft>
              <a:buNone/>
            </a:pPr>
            <a:r>
              <a:rPr sz="850" b="1">
                <a:solidFill>
                  <a:srgbClr val="111111"/>
                </a:solidFill>
                <a:latin typeface="Arial"/>
              </a:rPr>
              <a:t>Dense Embeddings: BAAI/bge-small-en ONNX cosine vector matcher</a:t>
            </a:r>
            <a:endParaRPr lang="en-US" sz="850" dirty="0"/>
          </a:p>
          <a:p>
            <a:pPr algn="l" indent="0" marL="0">
              <a:spcAft>
                <a:spcPts val="100"/>
              </a:spcAft>
              <a:buNone/>
            </a:pPr>
            <a:r>
              <a:rPr sz="850" b="1">
                <a:solidFill>
                  <a:srgbClr val="111111"/>
                </a:solidFill>
                <a:latin typeface="Arial"/>
              </a:rPr>
              <a:t>Vision Engine: 16-bin quantization &amp; WCAG contrast</a:t>
            </a:r>
            <a:endParaRPr lang="en-US" sz="850" dirty="0"/>
          </a:p>
          <a:p>
            <a:pPr algn="l" indent="0" marL="0">
              <a:spcAft>
                <a:spcPts val="100"/>
              </a:spcAft>
              <a:buNone/>
            </a:pPr>
            <a:r>
              <a:rPr sz="850" b="1">
                <a:solidFill>
                  <a:srgbClr val="111111"/>
                </a:solidFill>
                <a:latin typeface="Arial"/>
              </a:rPr>
              <a:t>Groq AI: Sub-second (&lt;800ms) Llama 3.3 tone review</a:t>
            </a: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p:txBody>
      </p:sp>
      <p:sp>
        <p:nvSpPr>
          <p:cNvPr id="18" name="Shape 15"/>
          <p:cNvSpPr/>
          <p:nvPr/>
        </p:nvSpPr>
        <p:spPr>
          <a:xfrm>
            <a:off x="594360" y="2560320"/>
            <a:ext cx="3246120" cy="914400"/>
          </a:xfrm>
          <a:prstGeom prst="rect">
            <a:avLst/>
          </a:prstGeom>
          <a:solidFill>
            <a:srgbClr val="111111"/>
          </a:solidFill>
          <a:ln w="6350">
            <a:solidFill>
              <a:srgbClr val="111111"/>
            </a:solidFill>
            <a:prstDash val="solid"/>
          </a:ln>
        </p:spPr>
      </p:sp>
      <p:sp>
        <p:nvSpPr>
          <p:cNvPr id="19" name="Shape 16"/>
          <p:cNvSpPr/>
          <p:nvPr/>
        </p:nvSpPr>
        <p:spPr>
          <a:xfrm>
            <a:off x="548640" y="2514600"/>
            <a:ext cx="3246120" cy="914400"/>
          </a:xfrm>
          <a:prstGeom prst="rect">
            <a:avLst/>
          </a:prstGeom>
          <a:solidFill>
            <a:srgbClr val="FF9EDB"/>
          </a:solidFill>
          <a:ln w="22225">
            <a:solidFill>
              <a:srgbClr val="111111"/>
            </a:solidFill>
            <a:prstDash val="solid"/>
          </a:ln>
        </p:spPr>
      </p:sp>
      <p:sp>
        <p:nvSpPr>
          <p:cNvPr id="20" name="Text 17"/>
          <p:cNvSpPr txBox="1"/>
          <p:nvPr/>
        </p:nvSpPr>
        <p:spPr>
          <a:xfrm>
            <a:off x="658368" y="2606040"/>
            <a:ext cx="3026664" cy="228600"/>
          </a:xfrm>
          <a:prstGeom prst="rect">
            <a:avLst/>
          </a:prstGeom>
          <a:noFill/>
          <a:ln/>
        </p:spPr>
        <p:txBody>
          <a:bodyPr wrap="square" lIns="0" tIns="0" rIns="0" bIns="0" rtlCol="0" anchor="t"/>
          <a:lstStyle/>
          <a:p>
            <a:pPr algn="l" indent="0" marL="0">
              <a:buNone/>
            </a:pPr>
            <a:r>
              <a:rPr sz="1150" b="1">
                <a:solidFill>
                  <a:srgbClr val="111111"/>
                </a:solidFill>
                <a:latin typeface="Arial"/>
              </a:rPr>
              <a:t>Evaluation Uptime</a:t>
            </a:r>
            <a:endParaRPr lang="en-US" sz="1150" dirty="0"/>
          </a:p>
        </p:txBody>
      </p:sp>
      <p:sp>
        <p:nvSpPr>
          <p:cNvPr id="21" name="Text 18"/>
          <p:cNvSpPr txBox="1"/>
          <p:nvPr/>
        </p:nvSpPr>
        <p:spPr>
          <a:xfrm>
            <a:off x="658368" y="2898648"/>
            <a:ext cx="3026664" cy="502920"/>
          </a:xfrm>
          <a:prstGeom prst="rect">
            <a:avLst/>
          </a:prstGeom>
          <a:noFill/>
          <a:ln/>
        </p:spPr>
        <p:txBody>
          <a:bodyPr wrap="square" lIns="0" tIns="0" rIns="0" bIns="0" rtlCol="0" anchor="t"/>
          <a:lstStyle/>
          <a:p>
            <a:pPr algn="l" indent="0" marL="0">
              <a:buNone/>
            </a:pPr>
            <a:r>
              <a:rPr sz="900">
                <a:solidFill>
                  <a:srgbClr val="111111"/>
                </a:solidFill>
                <a:latin typeface="Arial"/>
              </a:rPr>
              <a:t>Dual-Link Redundancy: Primary cosmicboom.xyz + Native Vercel mirror (instant fallback)</a:t>
            </a:r>
            <a:endParaRPr lang="en-US" sz="900" dirty="0"/>
          </a:p>
        </p:txBody>
      </p:sp>
      <p:sp>
        <p:nvSpPr>
          <p:cNvPr id="22" name="Shape 19"/>
          <p:cNvSpPr/>
          <p:nvPr/>
        </p:nvSpPr>
        <p:spPr>
          <a:xfrm>
            <a:off x="1143000" y="2103120"/>
            <a:ext cx="219456" cy="365760"/>
          </a:xfrm>
          <a:prstGeom prst="downArrow">
            <a:avLst/>
          </a:prstGeom>
          <a:solidFill>
            <a:srgbClr val="FFFFFF"/>
          </a:solidFill>
          <a:ln w="12700">
            <a:solidFill>
              <a:srgbClr val="FFFFFF"/>
            </a:solidFill>
            <a:prstDash val="solid"/>
          </a:ln>
        </p:spPr>
      </p:sp>
      <p:sp>
        <p:nvSpPr>
          <p:cNvPr id="23" name="Shape 20"/>
          <p:cNvSpPr/>
          <p:nvPr/>
        </p:nvSpPr>
        <p:spPr>
          <a:xfrm>
            <a:off x="2834640" y="2103120"/>
            <a:ext cx="219456" cy="365760"/>
          </a:xfrm>
          <a:prstGeom prst="downArrow">
            <a:avLst/>
          </a:prstGeom>
          <a:solidFill>
            <a:srgbClr val="FFFFFF"/>
          </a:solidFill>
          <a:ln w="12700">
            <a:solidFill>
              <a:srgbClr val="FFFFFF"/>
            </a:solidFill>
            <a:prstDash val="solid"/>
          </a:ln>
        </p:spPr>
      </p:sp>
      <p:sp>
        <p:nvSpPr>
          <p:cNvPr id="24" name="Shape 21"/>
          <p:cNvSpPr/>
          <p:nvPr/>
        </p:nvSpPr>
        <p:spPr>
          <a:xfrm>
            <a:off x="594360" y="3794760"/>
            <a:ext cx="5303520" cy="457200"/>
          </a:xfrm>
          <a:prstGeom prst="rect">
            <a:avLst/>
          </a:prstGeom>
          <a:solidFill>
            <a:srgbClr val="111111"/>
          </a:solidFill>
          <a:ln w="6350">
            <a:solidFill>
              <a:srgbClr val="111111"/>
            </a:solidFill>
            <a:prstDash val="solid"/>
          </a:ln>
        </p:spPr>
      </p:sp>
      <p:sp>
        <p:nvSpPr>
          <p:cNvPr id="25" name="Shape 22"/>
          <p:cNvSpPr/>
          <p:nvPr/>
        </p:nvSpPr>
        <p:spPr>
          <a:xfrm>
            <a:off x="548640" y="3749040"/>
            <a:ext cx="5303520" cy="457200"/>
          </a:xfrm>
          <a:prstGeom prst="rect">
            <a:avLst/>
          </a:prstGeom>
          <a:solidFill>
            <a:srgbClr val="FFD93D"/>
          </a:solidFill>
          <a:ln w="22225">
            <a:solidFill>
              <a:srgbClr val="111111"/>
            </a:solidFill>
            <a:prstDash val="solid"/>
          </a:ln>
        </p:spPr>
      </p:sp>
      <p:sp>
        <p:nvSpPr>
          <p:cNvPr id="26" name="Text 23"/>
          <p:cNvSpPr txBox="1"/>
          <p:nvPr/>
        </p:nvSpPr>
        <p:spPr>
          <a:xfrm>
            <a:off x="685800" y="3749040"/>
            <a:ext cx="5029200" cy="457200"/>
          </a:xfrm>
          <a:prstGeom prst="rect">
            <a:avLst/>
          </a:prstGeom>
          <a:noFill/>
          <a:ln/>
        </p:spPr>
        <p:txBody>
          <a:bodyPr wrap="square" lIns="0" tIns="0" rIns="0" bIns="0" rtlCol="0" anchor="ctr"/>
          <a:lstStyle/>
          <a:p>
            <a:pPr algn="l" indent="0" marL="0">
              <a:buNone/>
            </a:pPr>
            <a:r>
              <a:rPr sz="1000" b="1">
                <a:solidFill>
                  <a:srgbClr val="111111"/>
                </a:solidFill>
                <a:latin typeface="Arial"/>
              </a:rPr>
              <a:t>Session Sandboxing: Multi-tenant org_{session_id} isolates judge workspaces</a:t>
            </a:r>
            <a:endParaRPr lang="en-US" sz="1000" dirty="0"/>
          </a:p>
        </p:txBody>
      </p:sp>
      <p:sp>
        <p:nvSpPr>
          <p:cNvPr id="27" name="Shape 24"/>
          <p:cNvSpPr/>
          <p:nvPr/>
        </p:nvSpPr>
        <p:spPr>
          <a:xfrm>
            <a:off x="2011680" y="3456432"/>
            <a:ext cx="219456" cy="256032"/>
          </a:xfrm>
          <a:prstGeom prst="downArrow">
            <a:avLst/>
          </a:prstGeom>
          <a:solidFill>
            <a:srgbClr val="FFFFFF"/>
          </a:solidFill>
          <a:ln w="12700">
            <a:solidFill>
              <a:srgbClr val="FFFFFF"/>
            </a:solidFill>
            <a:prstDash val="solid"/>
          </a:ln>
        </p:spPr>
      </p:sp>
      <p:sp>
        <p:nvSpPr>
          <p:cNvPr id="28" name="Shape 25"/>
          <p:cNvSpPr/>
          <p:nvPr/>
        </p:nvSpPr>
        <p:spPr>
          <a:xfrm>
            <a:off x="4846320" y="3456432"/>
            <a:ext cx="219456" cy="256032"/>
          </a:xfrm>
          <a:prstGeom prst="downArrow">
            <a:avLst/>
          </a:prstGeom>
          <a:solidFill>
            <a:srgbClr val="FFFFFF"/>
          </a:solidFill>
          <a:ln w="12700">
            <a:solidFill>
              <a:srgbClr val="FFFFFF"/>
            </a:solidFill>
            <a:prstDash val="solid"/>
          </a:ln>
        </p:spPr>
      </p:sp>
      <p:sp>
        <p:nvSpPr>
          <p:cNvPr id="29" name="Text 26"/>
          <p:cNvSpPr txBox="1"/>
          <p:nvPr/>
        </p:nvSpPr>
        <p:spPr>
          <a:xfrm>
            <a:off x="548640" y="4370832"/>
            <a:ext cx="5303520" cy="228600"/>
          </a:xfrm>
          <a:prstGeom prst="rect">
            <a:avLst/>
          </a:prstGeom>
          <a:noFill/>
          <a:ln/>
        </p:spPr>
        <p:txBody>
          <a:bodyPr wrap="square" lIns="0" tIns="0" rIns="0" bIns="0" rtlCol="0" anchor="t"/>
          <a:lstStyle/>
          <a:p>
            <a:pPr algn="l" indent="0" marL="0">
              <a:buNone/>
            </a:pPr>
            <a:r>
              <a:rPr sz="850" b="1">
                <a:solidFill>
                  <a:srgbClr val="D9D4C5"/>
                </a:solidFill>
                <a:latin typeface="Courier New"/>
              </a:rPr>
              <a:t>LIVE VERIFIER: https://www.cosmicboom.xyz/verify/pass_sub_demo_1</a:t>
            </a:r>
            <a:endParaRPr lang="en-US" sz="850" dirty="0"/>
          </a:p>
        </p:txBody>
      </p:sp>
      <p:sp>
        <p:nvSpPr>
          <p:cNvPr id="30" name="Shape 27"/>
          <p:cNvSpPr/>
          <p:nvPr/>
        </p:nvSpPr>
        <p:spPr>
          <a:xfrm>
            <a:off x="6172200" y="1280160"/>
            <a:ext cx="0" cy="3246120"/>
          </a:xfrm>
          <a:prstGeom prst="line">
            <a:avLst/>
          </a:prstGeom>
          <a:noFill/>
          <a:ln w="12700">
            <a:solidFill>
              <a:srgbClr val="FFFFFF"/>
            </a:solidFill>
            <a:prstDash val="solid"/>
          </a:ln>
        </p:spPr>
      </p:sp>
      <p:sp>
        <p:nvSpPr>
          <p:cNvPr id="31" name="Text 28"/>
          <p:cNvSpPr txBox="1"/>
          <p:nvPr/>
        </p:nvSpPr>
        <p:spPr>
          <a:xfrm>
            <a:off x="6400800" y="1280160"/>
            <a:ext cx="2194560" cy="182880"/>
          </a:xfrm>
          <a:prstGeom prst="rect">
            <a:avLst/>
          </a:prstGeom>
          <a:noFill/>
          <a:ln/>
        </p:spPr>
        <p:txBody>
          <a:bodyPr wrap="square" lIns="0" tIns="0" rIns="0" bIns="0" rtlCol="0" anchor="t"/>
          <a:lstStyle/>
          <a:p>
            <a:pPr algn="l" indent="0" marL="0">
              <a:buNone/>
            </a:pPr>
            <a:r>
              <a:rPr lang="en-US" sz="850" b="1" dirty="0">
                <a:solidFill>
                  <a:srgbClr val="FFD93D"/>
                </a:solidFill>
                <a:latin typeface="Courier New" pitchFamily="34" charset="0"/>
                <a:ea typeface="Courier New" pitchFamily="34" charset="-122"/>
                <a:cs typeface="Courier New" pitchFamily="34" charset="-120"/>
              </a:rPr>
              <a:t>SAFEGUARDS</a:t>
            </a:r>
            <a:endParaRPr lang="en-US" sz="850" dirty="0"/>
          </a:p>
        </p:txBody>
      </p:sp>
      <p:sp>
        <p:nvSpPr>
          <p:cNvPr id="32" name="Text 29"/>
          <p:cNvSpPr txBox="1"/>
          <p:nvPr/>
        </p:nvSpPr>
        <p:spPr>
          <a:xfrm>
            <a:off x="6400800" y="157276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People decide</a:t>
            </a:r>
            <a:endParaRPr lang="en-US" sz="1200" dirty="0"/>
          </a:p>
        </p:txBody>
      </p:sp>
      <p:sp>
        <p:nvSpPr>
          <p:cNvPr id="33" name="Text 30"/>
          <p:cNvSpPr txBox="1"/>
          <p:nvPr/>
        </p:nvSpPr>
        <p:spPr>
          <a:xfrm>
            <a:off x="6400800" y="180136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Nothing is published without approval.</a:t>
            </a:r>
            <a:endParaRPr lang="en-US" sz="950" dirty="0"/>
          </a:p>
        </p:txBody>
      </p:sp>
      <p:sp>
        <p:nvSpPr>
          <p:cNvPr id="34" name="Text 31"/>
          <p:cNvSpPr txBox="1"/>
          <p:nvPr/>
        </p:nvSpPr>
        <p:spPr>
          <a:xfrm>
            <a:off x="6400800" y="216712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Zero PII Leakage</a:t>
            </a:r>
            <a:endParaRPr lang="en-US" sz="1200" dirty="0"/>
          </a:p>
        </p:txBody>
      </p:sp>
      <p:sp>
        <p:nvSpPr>
          <p:cNvPr id="35" name="Text 32"/>
          <p:cNvSpPr txBox="1"/>
          <p:nvPr/>
        </p:nvSpPr>
        <p:spPr>
          <a:xfrm>
            <a:off x="6400800" y="239572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Codenames &amp; numbers tokenized before Groq AI.</a:t>
            </a:r>
            <a:endParaRPr lang="en-US" sz="950" dirty="0"/>
          </a:p>
        </p:txBody>
      </p:sp>
      <p:sp>
        <p:nvSpPr>
          <p:cNvPr id="36" name="Text 33"/>
          <p:cNvSpPr txBox="1"/>
          <p:nvPr/>
        </p:nvSpPr>
        <p:spPr>
          <a:xfrm>
            <a:off x="6400800" y="276148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Cold-Start Alert</a:t>
            </a:r>
            <a:endParaRPr lang="en-US" sz="1200" dirty="0"/>
          </a:p>
        </p:txBody>
      </p:sp>
      <p:sp>
        <p:nvSpPr>
          <p:cNvPr id="37" name="Text 34"/>
          <p:cNvSpPr txBox="1"/>
          <p:nvPr/>
        </p:nvSpPr>
        <p:spPr>
          <a:xfrm>
            <a:off x="6400800" y="299008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On-screen banner notifies if cloud container is spinning up.</a:t>
            </a:r>
            <a:endParaRPr lang="en-US" sz="950" dirty="0"/>
          </a:p>
        </p:txBody>
      </p:sp>
      <p:sp>
        <p:nvSpPr>
          <p:cNvPr id="38" name="Text 35"/>
          <p:cNvSpPr txBox="1"/>
          <p:nvPr/>
        </p:nvSpPr>
        <p:spPr>
          <a:xfrm>
            <a:off x="6400800" y="335584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Tamper Detection</a:t>
            </a:r>
            <a:endParaRPr lang="en-US" sz="1200" dirty="0"/>
          </a:p>
        </p:txBody>
      </p:sp>
      <p:sp>
        <p:nvSpPr>
          <p:cNvPr id="39" name="Text 36"/>
          <p:cNvSpPr txBox="1"/>
          <p:nvPr/>
        </p:nvSpPr>
        <p:spPr>
          <a:xfrm>
            <a:off x="6400800" y="358444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SHA-256 seal exposes DB mutations in real time.</a:t>
            </a:r>
            <a:endParaRPr lang="en-US" sz="950" dirty="0"/>
          </a:p>
        </p:txBody>
      </p:sp>
      <p:sp>
        <p:nvSpPr>
          <p:cNvPr id="40" name="Text 37"/>
          <p:cNvSpPr txBox="1"/>
          <p:nvPr/>
        </p:nvSpPr>
        <p:spPr>
          <a:xfrm>
            <a:off x="6400800" y="395020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Disclose AI use</a:t>
            </a:r>
            <a:endParaRPr lang="en-US" sz="1200" dirty="0"/>
          </a:p>
        </p:txBody>
      </p:sp>
      <p:sp>
        <p:nvSpPr>
          <p:cNvPr id="41" name="Text 38"/>
          <p:cNvSpPr txBox="1"/>
          <p:nvPr/>
        </p:nvSpPr>
        <p:spPr>
          <a:xfrm>
            <a:off x="6400800" y="417880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Every review logs which AI was used.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Round 2 Commitments Delivered 100% in Round 3</a:t>
            </a:r>
            <a:endParaRPr lang="en-US" sz="2800" dirty="0"/>
          </a:p>
        </p:txBody>
      </p:sp>
      <p:sp>
        <p:nvSpPr>
          <p:cNvPr id="4" name="Shape 1"/>
          <p:cNvSpPr/>
          <p:nvPr/>
        </p:nvSpPr>
        <p:spPr>
          <a:xfrm>
            <a:off x="548640" y="1280160"/>
            <a:ext cx="1691640" cy="457200"/>
          </a:xfrm>
          <a:prstGeom prst="homePlate">
            <a:avLst/>
          </a:prstGeom>
          <a:solidFill>
            <a:srgbClr val="D9D4C5"/>
          </a:solidFill>
          <a:ln w="22225">
            <a:solidFill>
              <a:srgbClr val="111111"/>
            </a:solidFill>
            <a:prstDash val="solid"/>
          </a:ln>
        </p:spPr>
      </p:sp>
      <p:sp>
        <p:nvSpPr>
          <p:cNvPr id="5" name="Text 2"/>
          <p:cNvSpPr txBox="1"/>
          <p:nvPr/>
        </p:nvSpPr>
        <p:spPr>
          <a:xfrm>
            <a:off x="640080"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1: PLAN (DONE)</a:t>
            </a:r>
            <a:endParaRPr lang="en-US" sz="900" dirty="0"/>
          </a:p>
        </p:txBody>
      </p:sp>
      <p:sp>
        <p:nvSpPr>
          <p:cNvPr id="6" name="Text 3"/>
          <p:cNvSpPr txBox="1"/>
          <p:nvPr/>
        </p:nvSpPr>
        <p:spPr>
          <a:xfrm>
            <a:off x="594360"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Problem research</a:t>
            </a:r>
            <a:endParaRPr lang="en-US" sz="1050" dirty="0"/>
          </a:p>
          <a:p>
            <a:pPr marL="342900" indent="-342900">
              <a:spcAft>
                <a:spcPts val="500"/>
              </a:spcAft>
              <a:buSzPct val="100000"/>
              <a:buChar char="•"/>
            </a:pPr>
            <a:r>
              <a:rPr sz="1050">
                <a:solidFill>
                  <a:srgbClr val="111111"/>
                </a:solidFill>
                <a:latin typeface="Arial"/>
              </a:rPr>
              <a:t>UI wireframes</a:t>
            </a:r>
            <a:endParaRPr lang="en-US" sz="1050" dirty="0"/>
          </a:p>
          <a:p>
            <a:pPr marL="342900" indent="-342900">
              <a:spcAft>
                <a:spcPts val="500"/>
              </a:spcAft>
              <a:buSzPct val="100000"/>
              <a:buChar char="•"/>
            </a:pPr>
            <a:r>
              <a:rPr sz="1050">
                <a:solidFill>
                  <a:srgbClr val="111111"/>
                </a:solidFill>
                <a:latin typeface="Arial"/>
              </a:rPr>
              <a:t>System architecture</a:t>
            </a:r>
            <a:endParaRPr lang="en-US" sz="1050" dirty="0"/>
          </a:p>
        </p:txBody>
      </p:sp>
      <p:sp>
        <p:nvSpPr>
          <p:cNvPr id="7" name="Shape 4"/>
          <p:cNvSpPr/>
          <p:nvPr/>
        </p:nvSpPr>
        <p:spPr>
          <a:xfrm>
            <a:off x="2304288" y="1280160"/>
            <a:ext cx="1691640" cy="457200"/>
          </a:xfrm>
          <a:prstGeom prst="homePlate">
            <a:avLst/>
          </a:prstGeom>
          <a:solidFill>
            <a:srgbClr val="FFD93D"/>
          </a:solidFill>
          <a:ln w="22225">
            <a:solidFill>
              <a:srgbClr val="111111"/>
            </a:solidFill>
            <a:prstDash val="solid"/>
          </a:ln>
        </p:spPr>
      </p:sp>
      <p:sp>
        <p:nvSpPr>
          <p:cNvPr id="8" name="Text 5"/>
          <p:cNvSpPr txBox="1"/>
          <p:nvPr/>
        </p:nvSpPr>
        <p:spPr>
          <a:xfrm>
            <a:off x="2395728"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2: BUILD (DONE)</a:t>
            </a:r>
            <a:endParaRPr lang="en-US" sz="900" dirty="0"/>
          </a:p>
        </p:txBody>
      </p:sp>
      <p:sp>
        <p:nvSpPr>
          <p:cNvPr id="9" name="Text 6"/>
          <p:cNvSpPr txBox="1"/>
          <p:nvPr/>
        </p:nvSpPr>
        <p:spPr>
          <a:xfrm>
            <a:off x="2350008"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Working core workflow</a:t>
            </a:r>
            <a:endParaRPr lang="en-US" sz="1050" dirty="0"/>
          </a:p>
          <a:p>
            <a:pPr marL="342900" indent="-342900">
              <a:spcAft>
                <a:spcPts val="500"/>
              </a:spcAft>
              <a:buSzPct val="100000"/>
              <a:buChar char="•"/>
            </a:pPr>
            <a:r>
              <a:rPr sz="1050">
                <a:solidFill>
                  <a:srgbClr val="111111"/>
                </a:solidFill>
                <a:latin typeface="Arial"/>
              </a:rPr>
              <a:t>Groq AI (&lt;800ms)</a:t>
            </a:r>
            <a:endParaRPr lang="en-US" sz="1050" dirty="0"/>
          </a:p>
          <a:p>
            <a:pPr marL="342900" indent="-342900">
              <a:spcAft>
                <a:spcPts val="500"/>
              </a:spcAft>
              <a:buSzPct val="100000"/>
              <a:buChar char="•"/>
            </a:pPr>
            <a:r>
              <a:rPr sz="1050">
                <a:solidFill>
                  <a:srgbClr val="111111"/>
                </a:solidFill>
                <a:latin typeface="Arial"/>
              </a:rPr>
              <a:t>Claim Ledger &amp; Expiry</a:t>
            </a:r>
            <a:endParaRPr lang="en-US" sz="1050" dirty="0"/>
          </a:p>
          <a:p>
            <a:pPr marL="342900" indent="-342900">
              <a:spcAft>
                <a:spcPts val="500"/>
              </a:spcAft>
              <a:buSzPct val="100000"/>
              <a:buChar char="•"/>
            </a:pPr>
            <a:r>
              <a:rPr sz="1050">
                <a:solidFill>
                  <a:srgbClr val="111111"/>
                </a:solidFill>
                <a:latin typeface="Arial"/>
              </a:rPr>
              <a:t>Publish Passport</a:t>
            </a:r>
            <a:endParaRPr lang="en-US" sz="1050" dirty="0"/>
          </a:p>
          <a:p>
            <a:pPr marL="342900" indent="-342900">
              <a:spcAft>
                <a:spcPts val="500"/>
              </a:spcAft>
              <a:buSzPct val="100000"/>
              <a:buChar char="•"/>
            </a:pPr>
            <a:r>
              <a:rPr sz="1050">
                <a:solidFill>
                  <a:srgbClr val="111111"/>
                </a:solidFill>
                <a:latin typeface="Arial"/>
              </a:rPr>
              <a:t>Self-Guided Tour</a:t>
            </a:r>
            <a:endParaRPr lang="en-US" sz="1050" dirty="0"/>
          </a:p>
        </p:txBody>
      </p:sp>
      <p:sp>
        <p:nvSpPr>
          <p:cNvPr id="10" name="Shape 7"/>
          <p:cNvSpPr/>
          <p:nvPr/>
        </p:nvSpPr>
        <p:spPr>
          <a:xfrm>
            <a:off x="4059936" y="1280160"/>
            <a:ext cx="1691640" cy="457200"/>
          </a:xfrm>
          <a:prstGeom prst="homePlate">
            <a:avLst/>
          </a:prstGeom>
          <a:solidFill>
            <a:srgbClr val="6EE7B7"/>
          </a:solidFill>
          <a:ln w="22225">
            <a:solidFill>
              <a:srgbClr val="111111"/>
            </a:solidFill>
            <a:prstDash val="solid"/>
          </a:ln>
        </p:spPr>
      </p:sp>
      <p:sp>
        <p:nvSpPr>
          <p:cNvPr id="11" name="Text 8"/>
          <p:cNvSpPr txBox="1"/>
          <p:nvPr/>
        </p:nvSpPr>
        <p:spPr>
          <a:xfrm>
            <a:off x="4151376"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3: DELIVERED (100%)</a:t>
            </a:r>
            <a:endParaRPr lang="en-US" sz="900" dirty="0"/>
          </a:p>
        </p:txBody>
      </p:sp>
      <p:sp>
        <p:nvSpPr>
          <p:cNvPr id="12" name="Text 9"/>
          <p:cNvSpPr txBox="1"/>
          <p:nvPr/>
        </p:nvSpPr>
        <p:spPr>
          <a:xfrm>
            <a:off x="4105656"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1. Dense Vector Embeddings (fastembed BAAI/bge-small-en ONNX)</a:t>
            </a:r>
            <a:endParaRPr lang="en-US" sz="1050" dirty="0"/>
          </a:p>
          <a:p>
            <a:pPr marL="342900" indent="-342900">
              <a:spcAft>
                <a:spcPts val="500"/>
              </a:spcAft>
              <a:buSzPct val="100000"/>
              <a:buChar char="•"/>
            </a:pPr>
            <a:r>
              <a:rPr sz="1050">
                <a:solidFill>
                  <a:srgbClr val="111111"/>
                </a:solidFill>
                <a:latin typeface="Arial"/>
              </a:rPr>
              <a:t>2. Multimodal Vision (palette, WCAG 2.1 contrast, safe-zones)</a:t>
            </a:r>
            <a:endParaRPr lang="en-US" sz="1050" dirty="0"/>
          </a:p>
          <a:p>
            <a:pPr marL="342900" indent="-342900">
              <a:spcAft>
                <a:spcPts val="500"/>
              </a:spcAft>
              <a:buSzPct val="100000"/>
              <a:buChar char="•"/>
            </a:pPr>
            <a:r>
              <a:rPr sz="1050">
                <a:solidFill>
                  <a:srgbClr val="111111"/>
                </a:solidFill>
                <a:latin typeface="Arial"/>
              </a:rPr>
              <a:t>3. Chromium Extension &amp; Native Figma Plugin (+ Web Sandbox)</a:t>
            </a:r>
            <a:endParaRPr lang="en-US" sz="1050" dirty="0"/>
          </a:p>
          <a:p>
            <a:pPr marL="342900" indent="-342900">
              <a:spcAft>
                <a:spcPts val="500"/>
              </a:spcAft>
              <a:buSzPct val="100000"/>
              <a:buChar char="•"/>
            </a:pPr>
            <a:endParaRPr lang="en-US" sz="1050" dirty="0"/>
          </a:p>
          <a:p>
            <a:pPr marL="342900" indent="-342900">
              <a:spcAft>
                <a:spcPts val="500"/>
              </a:spcAft>
              <a:buSzPct val="100000"/>
              <a:buChar char="•"/>
            </a:pPr>
            <a:endParaRPr lang="en-US" sz="1050" dirty="0"/>
          </a:p>
        </p:txBody>
      </p:sp>
      <p:sp>
        <p:nvSpPr>
          <p:cNvPr id="13" name="Shape 10"/>
          <p:cNvSpPr/>
          <p:nvPr/>
        </p:nvSpPr>
        <p:spPr>
          <a:xfrm>
            <a:off x="5989320" y="1280160"/>
            <a:ext cx="0" cy="2194560"/>
          </a:xfrm>
          <a:prstGeom prst="line">
            <a:avLst/>
          </a:prstGeom>
          <a:noFill/>
          <a:ln w="12700">
            <a:solidFill>
              <a:srgbClr val="111111"/>
            </a:solidFill>
            <a:prstDash val="solid"/>
          </a:ln>
        </p:spPr>
      </p:sp>
      <p:sp>
        <p:nvSpPr>
          <p:cNvPr id="14" name="Text 11"/>
          <p:cNvSpPr txBox="1"/>
          <p:nvPr/>
        </p:nvSpPr>
        <p:spPr>
          <a:xfrm>
            <a:off x="6217920" y="1280160"/>
            <a:ext cx="237744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BENCHMARK RESULTS</a:t>
            </a:r>
            <a:endParaRPr lang="en-US" sz="850" dirty="0"/>
          </a:p>
        </p:txBody>
      </p:sp>
      <p:sp>
        <p:nvSpPr>
          <p:cNvPr id="15" name="Shape 12"/>
          <p:cNvSpPr/>
          <p:nvPr/>
        </p:nvSpPr>
        <p:spPr>
          <a:xfrm>
            <a:off x="6254496" y="1609344"/>
            <a:ext cx="2377440" cy="530352"/>
          </a:xfrm>
          <a:prstGeom prst="rect">
            <a:avLst/>
          </a:prstGeom>
          <a:solidFill>
            <a:srgbClr val="111111"/>
          </a:solidFill>
          <a:ln w="6350">
            <a:solidFill>
              <a:srgbClr val="111111"/>
            </a:solidFill>
            <a:prstDash val="solid"/>
          </a:ln>
        </p:spPr>
      </p:sp>
      <p:sp>
        <p:nvSpPr>
          <p:cNvPr id="16" name="Shape 13"/>
          <p:cNvSpPr/>
          <p:nvPr/>
        </p:nvSpPr>
        <p:spPr>
          <a:xfrm>
            <a:off x="6217920" y="1572768"/>
            <a:ext cx="2377440" cy="530352"/>
          </a:xfrm>
          <a:prstGeom prst="rect">
            <a:avLst/>
          </a:prstGeom>
          <a:solidFill>
            <a:srgbClr val="FFD93D"/>
          </a:solidFill>
          <a:ln w="19050">
            <a:solidFill>
              <a:srgbClr val="111111"/>
            </a:solidFill>
            <a:prstDash val="solid"/>
          </a:ln>
        </p:spPr>
      </p:sp>
      <p:sp>
        <p:nvSpPr>
          <p:cNvPr id="17" name="Text 14"/>
          <p:cNvSpPr txBox="1"/>
          <p:nvPr/>
        </p:nvSpPr>
        <p:spPr>
          <a:xfrm>
            <a:off x="6327648" y="1572768"/>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100%</a:t>
            </a:r>
            <a:endParaRPr lang="en-US" sz="2000" dirty="0"/>
          </a:p>
        </p:txBody>
      </p:sp>
      <p:sp>
        <p:nvSpPr>
          <p:cNvPr id="18" name="Text 15"/>
          <p:cNvSpPr txBox="1"/>
          <p:nvPr/>
        </p:nvSpPr>
        <p:spPr>
          <a:xfrm>
            <a:off x="7360920" y="1572768"/>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Core Recall (24/24 caught)</a:t>
            </a:r>
            <a:endParaRPr lang="en-US" sz="950" dirty="0"/>
          </a:p>
        </p:txBody>
      </p:sp>
      <p:sp>
        <p:nvSpPr>
          <p:cNvPr id="19" name="Shape 16"/>
          <p:cNvSpPr/>
          <p:nvPr/>
        </p:nvSpPr>
        <p:spPr>
          <a:xfrm>
            <a:off x="6254496" y="2231136"/>
            <a:ext cx="2377440" cy="530352"/>
          </a:xfrm>
          <a:prstGeom prst="rect">
            <a:avLst/>
          </a:prstGeom>
          <a:solidFill>
            <a:srgbClr val="111111"/>
          </a:solidFill>
          <a:ln w="6350">
            <a:solidFill>
              <a:srgbClr val="111111"/>
            </a:solidFill>
            <a:prstDash val="solid"/>
          </a:ln>
        </p:spPr>
      </p:sp>
      <p:sp>
        <p:nvSpPr>
          <p:cNvPr id="20" name="Shape 17"/>
          <p:cNvSpPr/>
          <p:nvPr/>
        </p:nvSpPr>
        <p:spPr>
          <a:xfrm>
            <a:off x="6217920" y="2194560"/>
            <a:ext cx="2377440" cy="530352"/>
          </a:xfrm>
          <a:prstGeom prst="rect">
            <a:avLst/>
          </a:prstGeom>
          <a:solidFill>
            <a:srgbClr val="6EE7B7"/>
          </a:solidFill>
          <a:ln w="19050">
            <a:solidFill>
              <a:srgbClr val="111111"/>
            </a:solidFill>
            <a:prstDash val="solid"/>
          </a:ln>
        </p:spPr>
      </p:sp>
      <p:sp>
        <p:nvSpPr>
          <p:cNvPr id="21" name="Text 18"/>
          <p:cNvSpPr txBox="1"/>
          <p:nvPr/>
        </p:nvSpPr>
        <p:spPr>
          <a:xfrm>
            <a:off x="6327648" y="2194560"/>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0</a:t>
            </a:r>
            <a:endParaRPr lang="en-US" sz="2000" dirty="0"/>
          </a:p>
        </p:txBody>
      </p:sp>
      <p:sp>
        <p:nvSpPr>
          <p:cNvPr id="22" name="Text 19"/>
          <p:cNvSpPr txBox="1"/>
          <p:nvPr/>
        </p:nvSpPr>
        <p:spPr>
          <a:xfrm>
            <a:off x="7360920" y="2194560"/>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False alarms (100% precision)</a:t>
            </a:r>
            <a:endParaRPr lang="en-US" sz="950" dirty="0"/>
          </a:p>
        </p:txBody>
      </p:sp>
      <p:sp>
        <p:nvSpPr>
          <p:cNvPr id="23" name="Shape 20"/>
          <p:cNvSpPr/>
          <p:nvPr/>
        </p:nvSpPr>
        <p:spPr>
          <a:xfrm>
            <a:off x="6254496" y="2852928"/>
            <a:ext cx="2377440" cy="530352"/>
          </a:xfrm>
          <a:prstGeom prst="rect">
            <a:avLst/>
          </a:prstGeom>
          <a:solidFill>
            <a:srgbClr val="111111"/>
          </a:solidFill>
          <a:ln w="6350">
            <a:solidFill>
              <a:srgbClr val="111111"/>
            </a:solidFill>
            <a:prstDash val="solid"/>
          </a:ln>
        </p:spPr>
      </p:sp>
      <p:sp>
        <p:nvSpPr>
          <p:cNvPr id="24" name="Shape 21"/>
          <p:cNvSpPr/>
          <p:nvPr/>
        </p:nvSpPr>
        <p:spPr>
          <a:xfrm>
            <a:off x="6217920" y="2816352"/>
            <a:ext cx="2377440" cy="530352"/>
          </a:xfrm>
          <a:prstGeom prst="rect">
            <a:avLst/>
          </a:prstGeom>
          <a:solidFill>
            <a:srgbClr val="FF9EDB"/>
          </a:solidFill>
          <a:ln w="19050">
            <a:solidFill>
              <a:srgbClr val="111111"/>
            </a:solidFill>
            <a:prstDash val="solid"/>
          </a:ln>
        </p:spPr>
      </p:sp>
      <p:sp>
        <p:nvSpPr>
          <p:cNvPr id="25" name="Text 22"/>
          <p:cNvSpPr txBox="1"/>
          <p:nvPr/>
        </p:nvSpPr>
        <p:spPr>
          <a:xfrm>
            <a:off x="6327648" y="2816352"/>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16/16</a:t>
            </a:r>
            <a:endParaRPr lang="en-US" sz="2000" dirty="0"/>
          </a:p>
        </p:txBody>
      </p:sp>
      <p:sp>
        <p:nvSpPr>
          <p:cNvPr id="26" name="Text 23"/>
          <p:cNvSpPr txBox="1"/>
          <p:nvPr/>
        </p:nvSpPr>
        <p:spPr>
          <a:xfrm>
            <a:off x="7360920" y="2816352"/>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Passing Pytest unit tests</a:t>
            </a:r>
            <a:endParaRPr lang="en-US" sz="950" dirty="0"/>
          </a:p>
        </p:txBody>
      </p:sp>
      <p:sp>
        <p:nvSpPr>
          <p:cNvPr id="27" name="Text 24"/>
          <p:cNvSpPr txBox="1"/>
          <p:nvPr/>
        </p:nvSpPr>
        <p:spPr>
          <a:xfrm>
            <a:off x="548640" y="3547872"/>
            <a:ext cx="54864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TEAM BRAKET, LED BY ISHAN NARAYAN SHUKLA</a:t>
            </a:r>
            <a:endParaRPr lang="en-US" sz="850" dirty="0"/>
          </a:p>
        </p:txBody>
      </p:sp>
      <p:sp>
        <p:nvSpPr>
          <p:cNvPr id="28" name="Shape 25"/>
          <p:cNvSpPr/>
          <p:nvPr/>
        </p:nvSpPr>
        <p:spPr>
          <a:xfrm>
            <a:off x="585216" y="3785616"/>
            <a:ext cx="1920240" cy="365760"/>
          </a:xfrm>
          <a:prstGeom prst="rect">
            <a:avLst/>
          </a:prstGeom>
          <a:solidFill>
            <a:srgbClr val="111111"/>
          </a:solidFill>
          <a:ln w="6350">
            <a:solidFill>
              <a:srgbClr val="111111"/>
            </a:solidFill>
            <a:prstDash val="solid"/>
          </a:ln>
        </p:spPr>
      </p:sp>
      <p:sp>
        <p:nvSpPr>
          <p:cNvPr id="29" name="Shape 26"/>
          <p:cNvSpPr/>
          <p:nvPr/>
        </p:nvSpPr>
        <p:spPr>
          <a:xfrm>
            <a:off x="548640" y="3749040"/>
            <a:ext cx="1920240" cy="365760"/>
          </a:xfrm>
          <a:prstGeom prst="rect">
            <a:avLst/>
          </a:prstGeom>
          <a:solidFill>
            <a:srgbClr val="FFD93D"/>
          </a:solidFill>
          <a:ln w="19050">
            <a:solidFill>
              <a:srgbClr val="111111"/>
            </a:solidFill>
            <a:prstDash val="solid"/>
          </a:ln>
        </p:spPr>
      </p:sp>
      <p:sp>
        <p:nvSpPr>
          <p:cNvPr id="30" name="Text 27"/>
          <p:cNvSpPr txBox="1"/>
          <p:nvPr/>
        </p:nvSpPr>
        <p:spPr>
          <a:xfrm>
            <a:off x="548640"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Frontend and UX</a:t>
            </a:r>
            <a:endParaRPr lang="en-US" sz="1050" dirty="0"/>
          </a:p>
        </p:txBody>
      </p:sp>
      <p:sp>
        <p:nvSpPr>
          <p:cNvPr id="31" name="Shape 28"/>
          <p:cNvSpPr/>
          <p:nvPr/>
        </p:nvSpPr>
        <p:spPr>
          <a:xfrm>
            <a:off x="2624328" y="3785616"/>
            <a:ext cx="1920240" cy="365760"/>
          </a:xfrm>
          <a:prstGeom prst="rect">
            <a:avLst/>
          </a:prstGeom>
          <a:solidFill>
            <a:srgbClr val="111111"/>
          </a:solidFill>
          <a:ln w="6350">
            <a:solidFill>
              <a:srgbClr val="111111"/>
            </a:solidFill>
            <a:prstDash val="solid"/>
          </a:ln>
        </p:spPr>
      </p:sp>
      <p:sp>
        <p:nvSpPr>
          <p:cNvPr id="32" name="Shape 29"/>
          <p:cNvSpPr/>
          <p:nvPr/>
        </p:nvSpPr>
        <p:spPr>
          <a:xfrm>
            <a:off x="2587752" y="3749040"/>
            <a:ext cx="1920240" cy="365760"/>
          </a:xfrm>
          <a:prstGeom prst="rect">
            <a:avLst/>
          </a:prstGeom>
          <a:solidFill>
            <a:srgbClr val="9DB0FF"/>
          </a:solidFill>
          <a:ln w="19050">
            <a:solidFill>
              <a:srgbClr val="111111"/>
            </a:solidFill>
            <a:prstDash val="solid"/>
          </a:ln>
        </p:spPr>
      </p:sp>
      <p:sp>
        <p:nvSpPr>
          <p:cNvPr id="33" name="Text 30"/>
          <p:cNvSpPr txBox="1"/>
          <p:nvPr/>
        </p:nvSpPr>
        <p:spPr>
          <a:xfrm>
            <a:off x="2587752"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Backend and workflow</a:t>
            </a:r>
            <a:endParaRPr lang="en-US" sz="1050" dirty="0"/>
          </a:p>
        </p:txBody>
      </p:sp>
      <p:sp>
        <p:nvSpPr>
          <p:cNvPr id="34" name="Shape 31"/>
          <p:cNvSpPr/>
          <p:nvPr/>
        </p:nvSpPr>
        <p:spPr>
          <a:xfrm>
            <a:off x="4663440" y="3785616"/>
            <a:ext cx="1920240" cy="365760"/>
          </a:xfrm>
          <a:prstGeom prst="rect">
            <a:avLst/>
          </a:prstGeom>
          <a:solidFill>
            <a:srgbClr val="111111"/>
          </a:solidFill>
          <a:ln w="6350">
            <a:solidFill>
              <a:srgbClr val="111111"/>
            </a:solidFill>
            <a:prstDash val="solid"/>
          </a:ln>
        </p:spPr>
      </p:sp>
      <p:sp>
        <p:nvSpPr>
          <p:cNvPr id="35" name="Shape 32"/>
          <p:cNvSpPr/>
          <p:nvPr/>
        </p:nvSpPr>
        <p:spPr>
          <a:xfrm>
            <a:off x="4626864" y="3749040"/>
            <a:ext cx="1920240" cy="365760"/>
          </a:xfrm>
          <a:prstGeom prst="rect">
            <a:avLst/>
          </a:prstGeom>
          <a:solidFill>
            <a:srgbClr val="FF9EDB"/>
          </a:solidFill>
          <a:ln w="19050">
            <a:solidFill>
              <a:srgbClr val="111111"/>
            </a:solidFill>
            <a:prstDash val="solid"/>
          </a:ln>
        </p:spPr>
      </p:sp>
      <p:sp>
        <p:nvSpPr>
          <p:cNvPr id="36" name="Text 33"/>
          <p:cNvSpPr txBox="1"/>
          <p:nvPr/>
        </p:nvSpPr>
        <p:spPr>
          <a:xfrm>
            <a:off x="4626864"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AI and rules engine</a:t>
            </a:r>
            <a:endParaRPr lang="en-US" sz="1050" dirty="0"/>
          </a:p>
        </p:txBody>
      </p:sp>
      <p:sp>
        <p:nvSpPr>
          <p:cNvPr id="37" name="Shape 34"/>
          <p:cNvSpPr/>
          <p:nvPr/>
        </p:nvSpPr>
        <p:spPr>
          <a:xfrm>
            <a:off x="6702552" y="3785616"/>
            <a:ext cx="1920240" cy="365760"/>
          </a:xfrm>
          <a:prstGeom prst="rect">
            <a:avLst/>
          </a:prstGeom>
          <a:solidFill>
            <a:srgbClr val="111111"/>
          </a:solidFill>
          <a:ln w="6350">
            <a:solidFill>
              <a:srgbClr val="111111"/>
            </a:solidFill>
            <a:prstDash val="solid"/>
          </a:ln>
        </p:spPr>
      </p:sp>
      <p:sp>
        <p:nvSpPr>
          <p:cNvPr id="38" name="Shape 35"/>
          <p:cNvSpPr/>
          <p:nvPr/>
        </p:nvSpPr>
        <p:spPr>
          <a:xfrm>
            <a:off x="6665976" y="3749040"/>
            <a:ext cx="1920240" cy="365760"/>
          </a:xfrm>
          <a:prstGeom prst="rect">
            <a:avLst/>
          </a:prstGeom>
          <a:solidFill>
            <a:srgbClr val="6EE7B7"/>
          </a:solidFill>
          <a:ln w="19050">
            <a:solidFill>
              <a:srgbClr val="111111"/>
            </a:solidFill>
            <a:prstDash val="solid"/>
          </a:ln>
        </p:spPr>
      </p:sp>
      <p:sp>
        <p:nvSpPr>
          <p:cNvPr id="39" name="Text 36"/>
          <p:cNvSpPr txBox="1"/>
          <p:nvPr/>
        </p:nvSpPr>
        <p:spPr>
          <a:xfrm>
            <a:off x="6665976"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Research and testing</a:t>
            </a:r>
            <a:endParaRPr lang="en-US" sz="1050" dirty="0"/>
          </a:p>
        </p:txBody>
      </p:sp>
      <p:sp>
        <p:nvSpPr>
          <p:cNvPr id="40" name="Text 37"/>
          <p:cNvSpPr txBox="1"/>
          <p:nvPr/>
        </p:nvSpPr>
        <p:spPr>
          <a:xfrm>
            <a:off x="548640" y="4206240"/>
            <a:ext cx="8046720" cy="228600"/>
          </a:xfrm>
          <a:prstGeom prst="rect">
            <a:avLst/>
          </a:prstGeom>
          <a:noFill/>
          <a:ln/>
        </p:spPr>
        <p:txBody>
          <a:bodyPr wrap="square" lIns="0" tIns="0" rIns="0" bIns="0" rtlCol="0" anchor="t"/>
          <a:lstStyle/>
          <a:p>
            <a:pPr algn="l" indent="0" marL="0">
              <a:buNone/>
            </a:pPr>
            <a:r>
              <a:rPr sz="950" i="1">
                <a:solidFill>
                  <a:srgbClr val="111111"/>
                </a:solidFill>
                <a:latin typeface="Arial"/>
              </a:rPr>
              <a:t>Dual-Set Benchmark: Seeded set (12/12) + Fresh unseen set (12/12), tested via scripts/run_accuracy_check.py.</a:t>
            </a:r>
            <a:endParaRPr lang="en-US" sz="950" dirty="0"/>
          </a:p>
        </p:txBody>
      </p:sp>
      <p:sp>
        <p:nvSpPr>
          <p:cNvPr id="41" name="Text 38"/>
          <p:cNvSpPr txBox="1"/>
          <p:nvPr/>
        </p:nvSpPr>
        <p:spPr>
          <a:xfrm>
            <a:off x="548640" y="4462272"/>
            <a:ext cx="8046720" cy="228600"/>
          </a:xfrm>
          <a:prstGeom prst="rect">
            <a:avLst/>
          </a:prstGeom>
          <a:noFill/>
          <a:ln/>
        </p:spPr>
        <p:txBody>
          <a:bodyPr wrap="square" lIns="0" tIns="0" rIns="0" bIns="0" rtlCol="0" anchor="t"/>
          <a:lstStyle/>
          <a:p>
            <a:pPr algn="l" indent="0" marL="0">
              <a:buNone/>
            </a:pPr>
            <a:pPr algn="l" indent="0" marL="0">
              <a:buNone/>
            </a:pPr>
            <a:r>
              <a:rPr sz="950" b="1">
                <a:solidFill>
                  <a:srgbClr val="111111"/>
                </a:solidFill>
                <a:latin typeface="Arial"/>
              </a:rPr>
              <a:t>Round 3 Commitments: All 3 major technical expansions completed and verified.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6949440" y="228600"/>
            <a:ext cx="1600200" cy="1600200"/>
          </a:xfrm>
          <a:prstGeom prst="star8">
            <a:avLst/>
          </a:prstGeom>
          <a:solidFill>
            <a:srgbClr val="FFD93D"/>
          </a:solidFill>
          <a:ln w="31750">
            <a:solidFill>
              <a:srgbClr val="111111"/>
            </a:solidFill>
            <a:prstDash val="solid"/>
          </a:ln>
        </p:spPr>
      </p:sp>
      <p:sp>
        <p:nvSpPr>
          <p:cNvPr id="4" name="Text 1"/>
          <p:cNvSpPr txBox="1"/>
          <p:nvPr/>
        </p:nvSpPr>
        <p:spPr>
          <a:xfrm>
            <a:off x="6949440" y="228600"/>
            <a:ext cx="1600200" cy="1600200"/>
          </a:xfrm>
          <a:prstGeom prst="rect">
            <a:avLst/>
          </a:prstGeom>
          <a:noFill/>
          <a:ln/>
        </p:spPr>
        <p:txBody>
          <a:bodyPr wrap="square" lIns="0" tIns="0" rIns="0" bIns="0" rtlCol="0" anchor="ctr"/>
          <a:lstStyle/>
          <a:p>
            <a:pPr algn="ctr" indent="0" marL="0">
              <a:buNone/>
            </a:pPr>
            <a:r>
              <a:rPr sz="1300" b="1">
                <a:solidFill>
                  <a:srgbClr val="111111"/>
                </a:solidFill>
                <a:latin typeface="Georgia"/>
              </a:rPr>
              <a:t>Submission Links</a:t>
            </a:r>
            <a:endParaRPr lang="en-US" sz="1300" dirty="0"/>
          </a:p>
        </p:txBody>
      </p:sp>
      <p:sp>
        <p:nvSpPr>
          <p:cNvPr id="5" name="Text 2"/>
          <p:cNvSpPr txBox="1"/>
          <p:nvPr/>
        </p:nvSpPr>
        <p:spPr>
          <a:xfrm>
            <a:off x="548640" y="502920"/>
            <a:ext cx="5943600" cy="1188720"/>
          </a:xfrm>
          <a:prstGeom prst="rect">
            <a:avLst/>
          </a:prstGeom>
          <a:noFill/>
          <a:ln/>
        </p:spPr>
        <p:txBody>
          <a:bodyPr wrap="square" lIns="0" tIns="0" rIns="0" bIns="0" rtlCol="0" anchor="t"/>
          <a:lstStyle/>
          <a:p>
            <a:pPr algn="l" indent="0" marL="0">
              <a:buNone/>
            </a:pPr>
            <a:r>
              <a:rPr lang="en-US" sz="6600" b="1" dirty="0">
                <a:solidFill>
                  <a:srgbClr val="111111"/>
                </a:solidFill>
                <a:latin typeface="Georgia" pitchFamily="34" charset="0"/>
                <a:ea typeface="Georgia" pitchFamily="34" charset="-122"/>
                <a:cs typeface="Georgia" pitchFamily="34" charset="-120"/>
              </a:rPr>
              <a:t>Thank you</a:t>
            </a:r>
            <a:endParaRPr lang="en-US" sz="6600" dirty="0"/>
          </a:p>
        </p:txBody>
      </p:sp>
      <p:sp>
        <p:nvSpPr>
          <p:cNvPr id="6" name="Text 3"/>
          <p:cNvSpPr txBox="1"/>
          <p:nvPr/>
        </p:nvSpPr>
        <p:spPr>
          <a:xfrm>
            <a:off x="594360" y="1828800"/>
            <a:ext cx="365760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VERITY DELIVERABLES</a:t>
            </a:r>
            <a:endParaRPr lang="en-US" sz="850" dirty="0"/>
          </a:p>
        </p:txBody>
      </p:sp>
      <p:sp>
        <p:nvSpPr>
          <p:cNvPr id="7" name="Shape 4"/>
          <p:cNvSpPr/>
          <p:nvPr/>
        </p:nvSpPr>
        <p:spPr>
          <a:xfrm>
            <a:off x="658368" y="2167128"/>
            <a:ext cx="2468880" cy="731520"/>
          </a:xfrm>
          <a:prstGeom prst="rect">
            <a:avLst/>
          </a:prstGeom>
          <a:solidFill>
            <a:srgbClr val="111111"/>
          </a:solidFill>
          <a:ln w="6350">
            <a:solidFill>
              <a:srgbClr val="111111"/>
            </a:solidFill>
            <a:prstDash val="solid"/>
          </a:ln>
        </p:spPr>
      </p:sp>
      <p:sp>
        <p:nvSpPr>
          <p:cNvPr id="8" name="Shape 5"/>
          <p:cNvSpPr/>
          <p:nvPr/>
        </p:nvSpPr>
        <p:spPr>
          <a:xfrm>
            <a:off x="594360" y="2103120"/>
            <a:ext cx="2468880" cy="731520"/>
          </a:xfrm>
          <a:prstGeom prst="rect">
            <a:avLst/>
          </a:prstGeom>
          <a:solidFill>
            <a:srgbClr val="FFD93D"/>
          </a:solidFill>
          <a:ln w="25400">
            <a:solidFill>
              <a:srgbClr val="111111"/>
            </a:solidFill>
            <a:prstDash val="solid"/>
          </a:ln>
        </p:spPr>
      </p:sp>
      <p:sp>
        <p:nvSpPr>
          <p:cNvPr id="9" name="Shape 6"/>
          <p:cNvSpPr/>
          <p:nvPr/>
        </p:nvSpPr>
        <p:spPr>
          <a:xfrm>
            <a:off x="731520" y="2240280"/>
            <a:ext cx="457200" cy="457200"/>
          </a:xfrm>
          <a:prstGeom prst="ellipse">
            <a:avLst/>
          </a:prstGeom>
          <a:solidFill>
            <a:srgbClr val="FFFFFF"/>
          </a:solidFill>
          <a:ln w="22225">
            <a:solidFill>
              <a:srgbClr val="111111"/>
            </a:solidFill>
            <a:prstDash val="solid"/>
          </a:ln>
        </p:spPr>
      </p:sp>
      <p:pic>
        <p:nvPicPr>
          <p:cNvPr id="10" name="Image 0" descr="preencoded.png">    </p:cNvPr>
          <p:cNvPicPr>
            <a:picLocks noChangeAspect="1"/>
          </p:cNvPicPr>
          <p:nvPr/>
        </p:nvPicPr>
        <p:blipFill>
          <a:blip r:embed="rId1"/>
          <a:stretch>
            <a:fillRect/>
          </a:stretch>
        </p:blipFill>
        <p:spPr>
          <a:xfrm>
            <a:off x="841248" y="2350008"/>
            <a:ext cx="237744" cy="237744"/>
          </a:xfrm>
          <a:prstGeom prst="rect">
            <a:avLst/>
          </a:prstGeom>
        </p:spPr>
      </p:pic>
      <p:sp>
        <p:nvSpPr>
          <p:cNvPr id="11" name="Text 7"/>
          <p:cNvSpPr txBox="1"/>
          <p:nvPr/>
        </p:nvSpPr>
        <p:spPr>
          <a:xfrm>
            <a:off x="132588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Primary: cosmicboom.xyz</a:t>
            </a:r>
            <a:endParaRPr lang="en-US" sz="1300" dirty="0"/>
          </a:p>
          <a:p>
            <a:r>
              <a:rPr sz="1300" b="1">
                <a:solidFill>
                  <a:srgbClr val="111111"/>
                </a:solidFill>
                <a:latin typeface="Georgia"/>
              </a:rPr>
              <a:t>Mirror: verity-brand-governance.vercel.app</a:t>
            </a:r>
          </a:p>
        </p:txBody>
      </p:sp>
      <p:sp>
        <p:nvSpPr>
          <p:cNvPr id="12" name="Shape 8"/>
          <p:cNvSpPr/>
          <p:nvPr/>
        </p:nvSpPr>
        <p:spPr>
          <a:xfrm>
            <a:off x="3310128" y="2167128"/>
            <a:ext cx="2468880" cy="731520"/>
          </a:xfrm>
          <a:prstGeom prst="rect">
            <a:avLst/>
          </a:prstGeom>
          <a:solidFill>
            <a:srgbClr val="111111"/>
          </a:solidFill>
          <a:ln w="6350">
            <a:solidFill>
              <a:srgbClr val="111111"/>
            </a:solidFill>
            <a:prstDash val="solid"/>
          </a:ln>
        </p:spPr>
      </p:sp>
      <p:sp>
        <p:nvSpPr>
          <p:cNvPr id="13" name="Shape 9"/>
          <p:cNvSpPr/>
          <p:nvPr/>
        </p:nvSpPr>
        <p:spPr>
          <a:xfrm>
            <a:off x="3246120" y="2103120"/>
            <a:ext cx="2468880" cy="731520"/>
          </a:xfrm>
          <a:prstGeom prst="rect">
            <a:avLst/>
          </a:prstGeom>
          <a:solidFill>
            <a:srgbClr val="6EE7B7"/>
          </a:solidFill>
          <a:ln w="25400">
            <a:solidFill>
              <a:srgbClr val="111111"/>
            </a:solidFill>
            <a:prstDash val="solid"/>
          </a:ln>
        </p:spPr>
      </p:sp>
      <p:sp>
        <p:nvSpPr>
          <p:cNvPr id="14" name="Shape 10"/>
          <p:cNvSpPr/>
          <p:nvPr/>
        </p:nvSpPr>
        <p:spPr>
          <a:xfrm>
            <a:off x="3383280" y="2240280"/>
            <a:ext cx="457200" cy="457200"/>
          </a:xfrm>
          <a:prstGeom prst="ellipse">
            <a:avLst/>
          </a:prstGeom>
          <a:solidFill>
            <a:srgbClr val="FFFFFF"/>
          </a:solidFill>
          <a:ln w="22225">
            <a:solidFill>
              <a:srgbClr val="111111"/>
            </a:solidFill>
            <a:prstDash val="solid"/>
          </a:ln>
        </p:spPr>
      </p:sp>
      <p:pic>
        <p:nvPicPr>
          <p:cNvPr id="15" name="Image 1" descr="preencoded.png">    </p:cNvPr>
          <p:cNvPicPr>
            <a:picLocks noChangeAspect="1"/>
          </p:cNvPicPr>
          <p:nvPr/>
        </p:nvPicPr>
        <p:blipFill>
          <a:blip r:embed="rId2"/>
          <a:stretch>
            <a:fillRect/>
          </a:stretch>
        </p:blipFill>
        <p:spPr>
          <a:xfrm>
            <a:off x="3493008" y="2350008"/>
            <a:ext cx="237744" cy="237744"/>
          </a:xfrm>
          <a:prstGeom prst="rect">
            <a:avLst/>
          </a:prstGeom>
        </p:spPr>
      </p:pic>
      <p:sp>
        <p:nvSpPr>
          <p:cNvPr id="16" name="Text 11"/>
          <p:cNvSpPr txBox="1"/>
          <p:nvPr/>
        </p:nvSpPr>
        <p:spPr>
          <a:xfrm>
            <a:off x="397764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Backend: verity-api.onrender.com</a:t>
            </a:r>
            <a:endParaRPr lang="en-US" sz="1300" dirty="0"/>
          </a:p>
          <a:p>
            <a:r>
              <a:rPr sz="1300" b="1">
                <a:solidFill>
                  <a:srgbClr val="111111"/>
                </a:solidFill>
                <a:latin typeface="Georgia"/>
              </a:rPr>
              <a:t>Repo: github.com/IshanShukla-1/VERITY</a:t>
            </a:r>
          </a:p>
        </p:txBody>
      </p:sp>
      <p:sp>
        <p:nvSpPr>
          <p:cNvPr id="17" name="Shape 12"/>
          <p:cNvSpPr/>
          <p:nvPr/>
        </p:nvSpPr>
        <p:spPr>
          <a:xfrm>
            <a:off x="5961888" y="2167128"/>
            <a:ext cx="2468880" cy="731520"/>
          </a:xfrm>
          <a:prstGeom prst="rect">
            <a:avLst/>
          </a:prstGeom>
          <a:solidFill>
            <a:srgbClr val="111111"/>
          </a:solidFill>
          <a:ln w="6350">
            <a:solidFill>
              <a:srgbClr val="111111"/>
            </a:solidFill>
            <a:prstDash val="solid"/>
          </a:ln>
        </p:spPr>
      </p:sp>
      <p:sp>
        <p:nvSpPr>
          <p:cNvPr id="18" name="Shape 13"/>
          <p:cNvSpPr/>
          <p:nvPr/>
        </p:nvSpPr>
        <p:spPr>
          <a:xfrm>
            <a:off x="5897880" y="2103120"/>
            <a:ext cx="2468880" cy="731520"/>
          </a:xfrm>
          <a:prstGeom prst="rect">
            <a:avLst/>
          </a:prstGeom>
          <a:solidFill>
            <a:srgbClr val="9DB0FF"/>
          </a:solidFill>
          <a:ln w="25400">
            <a:solidFill>
              <a:srgbClr val="111111"/>
            </a:solidFill>
            <a:prstDash val="solid"/>
          </a:ln>
        </p:spPr>
      </p:sp>
      <p:sp>
        <p:nvSpPr>
          <p:cNvPr id="19" name="Shape 14"/>
          <p:cNvSpPr/>
          <p:nvPr/>
        </p:nvSpPr>
        <p:spPr>
          <a:xfrm>
            <a:off x="6035040" y="2240280"/>
            <a:ext cx="457200" cy="457200"/>
          </a:xfrm>
          <a:prstGeom prst="ellipse">
            <a:avLst/>
          </a:prstGeom>
          <a:solidFill>
            <a:srgbClr val="FFFFFF"/>
          </a:solidFill>
          <a:ln w="22225">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144768" y="2350008"/>
            <a:ext cx="237744" cy="237744"/>
          </a:xfrm>
          <a:prstGeom prst="rect">
            <a:avLst/>
          </a:prstGeom>
        </p:spPr>
      </p:pic>
      <p:sp>
        <p:nvSpPr>
          <p:cNvPr id="21" name="Text 15"/>
          <p:cNvSpPr txBox="1"/>
          <p:nvPr/>
        </p:nvSpPr>
        <p:spPr>
          <a:xfrm>
            <a:off x="662940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Deliverables: Round 3 PDF Report,</a:t>
            </a:r>
            <a:endParaRPr lang="en-US" sz="1300" dirty="0"/>
          </a:p>
          <a:p>
            <a:r>
              <a:rPr sz="1300" b="1">
                <a:solidFill>
                  <a:srgbClr val="111111"/>
                </a:solidFill>
                <a:latin typeface="Georgia"/>
              </a:rPr>
              <a:t>Interactive Verifier, Extension &amp; Figma Plugin</a:t>
            </a:r>
          </a:p>
        </p:txBody>
      </p:sp>
      <p:sp>
        <p:nvSpPr>
          <p:cNvPr id="22" name="Shape 16"/>
          <p:cNvSpPr/>
          <p:nvPr/>
        </p:nvSpPr>
        <p:spPr>
          <a:xfrm>
            <a:off x="676656" y="3282696"/>
            <a:ext cx="3840480" cy="822960"/>
          </a:xfrm>
          <a:prstGeom prst="rect">
            <a:avLst/>
          </a:prstGeom>
          <a:solidFill>
            <a:srgbClr val="111111"/>
          </a:solidFill>
          <a:ln w="6350">
            <a:solidFill>
              <a:srgbClr val="111111"/>
            </a:solidFill>
            <a:prstDash val="solid"/>
          </a:ln>
        </p:spPr>
      </p:sp>
      <p:sp>
        <p:nvSpPr>
          <p:cNvPr id="23" name="Shape 17"/>
          <p:cNvSpPr/>
          <p:nvPr/>
        </p:nvSpPr>
        <p:spPr>
          <a:xfrm>
            <a:off x="594360" y="3200400"/>
            <a:ext cx="3840480" cy="822960"/>
          </a:xfrm>
          <a:prstGeom prst="rect">
            <a:avLst/>
          </a:prstGeom>
          <a:solidFill>
            <a:srgbClr val="FFFFFF"/>
          </a:solidFill>
          <a:ln w="28575">
            <a:solidFill>
              <a:srgbClr val="111111"/>
            </a:solidFill>
            <a:prstDash val="solid"/>
          </a:ln>
        </p:spPr>
      </p:sp>
      <p:sp>
        <p:nvSpPr>
          <p:cNvPr id="24" name="Text 18"/>
          <p:cNvSpPr txBox="1"/>
          <p:nvPr/>
        </p:nvSpPr>
        <p:spPr>
          <a:xfrm>
            <a:off x="777240" y="3273552"/>
            <a:ext cx="347472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25" name="Text 19"/>
          <p:cNvSpPr txBox="1"/>
          <p:nvPr/>
        </p:nvSpPr>
        <p:spPr>
          <a:xfrm>
            <a:off x="777240" y="3611880"/>
            <a:ext cx="3474720" cy="274320"/>
          </a:xfrm>
          <a:prstGeom prst="rect">
            <a:avLst/>
          </a:prstGeom>
          <a:noFill/>
          <a:ln/>
        </p:spPr>
        <p:txBody>
          <a:bodyPr wrap="square" lIns="0" tIns="0" rIns="0" bIns="0" rtlCol="0" anchor="t"/>
          <a:lstStyle/>
          <a:p>
            <a:pPr algn="l" indent="0" marL="0">
              <a:buNone/>
            </a:pPr>
            <a:r>
              <a:rPr lang="en-US" sz="1250" dirty="0">
                <a:solidFill>
                  <a:srgbClr val="111111"/>
                </a:solidFill>
                <a:latin typeface="Arial" pitchFamily="34" charset="0"/>
                <a:ea typeface="Arial" pitchFamily="34" charset="-122"/>
                <a:cs typeface="Arial" pitchFamily="34" charset="-120"/>
              </a:rPr>
              <a:t>Leader: Ishan Narayan Shukla</a:t>
            </a:r>
            <a:endParaRPr lang="en-US" sz="1250" dirty="0"/>
          </a:p>
        </p:txBody>
      </p:sp>
      <p:sp>
        <p:nvSpPr>
          <p:cNvPr id="26" name="Shape 20"/>
          <p:cNvSpPr/>
          <p:nvPr/>
        </p:nvSpPr>
        <p:spPr>
          <a:xfrm rot="-180000">
            <a:off x="5120640" y="3291840"/>
            <a:ext cx="2926080" cy="594360"/>
          </a:xfrm>
          <a:prstGeom prst="rect">
            <a:avLst/>
          </a:prstGeom>
          <a:solidFill>
            <a:srgbClr val="111111"/>
          </a:solidFill>
          <a:ln w="25400">
            <a:solidFill>
              <a:srgbClr val="111111"/>
            </a:solidFill>
            <a:prstDash val="solid"/>
          </a:ln>
        </p:spPr>
      </p:sp>
      <p:sp>
        <p:nvSpPr>
          <p:cNvPr id="27" name="Text 21"/>
          <p:cNvSpPr txBox="1"/>
          <p:nvPr/>
        </p:nvSpPr>
        <p:spPr>
          <a:xfrm rot="-180000">
            <a:off x="5120640" y="3291840"/>
            <a:ext cx="2926080" cy="594360"/>
          </a:xfrm>
          <a:prstGeom prst="rect">
            <a:avLst/>
          </a:prstGeom>
          <a:noFill/>
          <a:ln/>
        </p:spPr>
        <p:txBody>
          <a:bodyPr wrap="square" lIns="0" tIns="0" rIns="0" bIns="0" rtlCol="0" anchor="ctr"/>
          <a:lstStyle/>
          <a:p>
            <a:pPr algn="ctr" indent="0" marL="0">
              <a:buNone/>
            </a:pPr>
            <a:r>
              <a:rPr lang="en-US" sz="1250" b="1" dirty="0">
                <a:solidFill>
                  <a:srgbClr val="FFD93D"/>
                </a:solidFill>
                <a:latin typeface="Arial" pitchFamily="34" charset="0"/>
                <a:ea typeface="Arial" pitchFamily="34" charset="-122"/>
                <a:cs typeface="Arial" pitchFamily="34" charset="-120"/>
              </a:rPr>
              <a:t>AI suggests. Humans decide.</a:t>
            </a:r>
            <a:endParaRPr lang="en-US" sz="1250" dirty="0"/>
          </a:p>
        </p:txBody>
      </p:sp>
      <p:sp>
        <p:nvSpPr>
          <p:cNvPr id="28" name="Text 22"/>
          <p:cNvSpPr txBox="1"/>
          <p:nvPr/>
        </p:nvSpPr>
        <p:spPr>
          <a:xfrm>
            <a:off x="594360" y="4434840"/>
            <a:ext cx="7315200" cy="274320"/>
          </a:xfrm>
          <a:prstGeom prst="rect">
            <a:avLst/>
          </a:prstGeom>
          <a:noFill/>
          <a:ln/>
        </p:spPr>
        <p:txBody>
          <a:bodyPr wrap="square" lIns="0" tIns="0" rIns="0" bIns="0" rtlCol="0" anchor="t"/>
          <a:lstStyle/>
          <a:p>
            <a:pPr algn="l" indent="0" marL="0">
              <a:buNone/>
            </a:pPr>
            <a:r>
              <a:rPr sz="1000">
                <a:solidFill>
                  <a:srgbClr val="111111"/>
                </a:solidFill>
                <a:latin typeface="Arial"/>
              </a:rPr>
              <a:t>Team BraKet | CodeAxis Round 3: Product Completion | Top 50 Finalist</a:t>
            </a:r>
            <a:endParaRPr lang="en-US" sz="1000" dirty="0"/>
          </a:p>
        </p:txBody>
      </p:sp>
    </p:spTree>
  </p:cSld>
  <p:clrMapOvr>
    <a:masterClrMapping/>
  </p:clrMapOvr>
</p:sld>
</file>

<file path=ppt/theme/theme1.xml><?xml version="1.0" encoding="utf-8"?>
<a:theme xmlns:a="http://schemas.openxmlformats.org/drawingml/2006/main" name="Verity">
  <a:themeElements>
    <a:clrScheme name="Verity">
      <a:dk1>
        <a:srgbClr val="111111"/>
      </a:dk1>
      <a:lt1>
        <a:srgbClr val="FFFFFF"/>
      </a:lt1>
      <a:dk2>
        <a:srgbClr val="111111"/>
      </a:dk2>
      <a:lt2>
        <a:srgbClr val="FFFBEF"/>
      </a:lt2>
      <a:accent1>
        <a:srgbClr val="FFD93D"/>
      </a:accent1>
      <a:accent2>
        <a:srgbClr val="6EE7B7"/>
      </a:accent2>
      <a:accent3>
        <a:srgbClr val="FF9EDB"/>
      </a:accent3>
      <a:accent4>
        <a:srgbClr val="D9D4C5"/>
      </a:accent4>
      <a:accent5>
        <a:srgbClr val="E5484D"/>
      </a:accent5>
      <a:accent6>
        <a:srgbClr val="555555"/>
      </a:accent6>
      <a:hlink>
        <a:srgbClr val="0000EE"/>
      </a:hlink>
      <a:folHlink>
        <a:srgbClr val="551A8B"/>
      </a:folHlink>
    </a:clrScheme>
    <a:fontScheme name="Verit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 brand governance that cites before it flags</dc:title>
  <dc:subject>PptxGenJS Presentation</dc:subject>
  <dc:creator>Team BraKet</dc:creator>
  <cp:lastModifiedBy>Team BraKet</cp:lastModifiedBy>
  <cp:revision>1</cp:revision>
  <dcterms:created xsi:type="dcterms:W3CDTF">2026-10-20T11:30:07Z</dcterms:created>
  <dcterms:modified xsi:type="dcterms:W3CDTF">2026-10-20T11:30:07Z</dcterms:modified>
</cp:coreProperties>
</file>